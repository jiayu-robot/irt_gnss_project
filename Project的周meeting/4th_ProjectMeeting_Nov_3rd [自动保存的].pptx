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5D3_9A3E1C86.xml" ContentType="application/vnd.ms-powerpoint.comments+xml"/>
  <Override PartName="/ppt/comments/modernComment_5D4_69A6FFE9.xml" ContentType="application/vnd.ms-powerpoint.comments+xml"/>
  <Override PartName="/ppt/comments/modernComment_5DA_6D592D41.xml" ContentType="application/vnd.ms-powerpoint.comments+xml"/>
  <Override PartName="/ppt/notesSlides/notesSlide1.xml" ContentType="application/vnd.openxmlformats-officedocument.presentationml.notesSlide+xml"/>
  <Override PartName="/ppt/comments/modernComment_5D8_3F002680.xml" ContentType="application/vnd.ms-powerpoint.comments+xml"/>
  <Override PartName="/ppt/comments/modernComment_5D9_11D1019F.xml" ContentType="application/vnd.ms-powerpoint.comments+xml"/>
  <Override PartName="/ppt/comments/modernComment_5D5_2D29FAA8.xml" ContentType="application/vnd.ms-powerpoint.comments+xml"/>
  <Override PartName="/ppt/comments/modernComment_5D6_800809F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8" r:id="rId1"/>
  </p:sldMasterIdLst>
  <p:notesMasterIdLst>
    <p:notesMasterId r:id="rId10"/>
  </p:notesMasterIdLst>
  <p:handoutMasterIdLst>
    <p:handoutMasterId r:id="rId11"/>
  </p:handoutMasterIdLst>
  <p:sldIdLst>
    <p:sldId id="1491" r:id="rId2"/>
    <p:sldId id="1492" r:id="rId3"/>
    <p:sldId id="1498" r:id="rId4"/>
    <p:sldId id="1496" r:id="rId5"/>
    <p:sldId id="1497" r:id="rId6"/>
    <p:sldId id="1495" r:id="rId7"/>
    <p:sldId id="1493" r:id="rId8"/>
    <p:sldId id="1494" r:id="rId9"/>
  </p:sldIdLst>
  <p:sldSz cx="12192000" cy="6858000"/>
  <p:notesSz cx="6797675" cy="9926638"/>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7D497B-7AD7-723A-043A-6745C347B782}" name="jiayu yang" initials="jy" userId="8067bb61bfadfd7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BAE5"/>
    <a:srgbClr val="00549F"/>
    <a:srgbClr val="E9F1FA"/>
    <a:srgbClr val="272727"/>
    <a:srgbClr val="962F2F"/>
    <a:srgbClr val="57AB27"/>
    <a:srgbClr val="438CD4"/>
    <a:srgbClr val="A6A6A6"/>
    <a:srgbClr val="D5DDE6"/>
    <a:srgbClr val="2980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6265" autoAdjust="0"/>
  </p:normalViewPr>
  <p:slideViewPr>
    <p:cSldViewPr snapToGrid="0" showGuides="1">
      <p:cViewPr varScale="1">
        <p:scale>
          <a:sx n="61" d="100"/>
          <a:sy n="61" d="100"/>
        </p:scale>
        <p:origin x="720" y="72"/>
      </p:cViewPr>
      <p:guideLst>
        <p:guide orient="horz" pos="2160"/>
        <p:guide pos="3840"/>
      </p:guideLst>
    </p:cSldViewPr>
  </p:slideViewPr>
  <p:outlineViewPr>
    <p:cViewPr>
      <p:scale>
        <a:sx n="33" d="100"/>
        <a:sy n="33" d="100"/>
      </p:scale>
      <p:origin x="0" y="-5844"/>
    </p:cViewPr>
  </p:outlineViewPr>
  <p:notesTextViewPr>
    <p:cViewPr>
      <p:scale>
        <a:sx n="100" d="100"/>
        <a:sy n="100" d="100"/>
      </p:scale>
      <p:origin x="0" y="0"/>
    </p:cViewPr>
  </p:notesTextViewPr>
  <p:notesViewPr>
    <p:cSldViewPr snapToGrid="0" showGuides="1">
      <p:cViewPr varScale="1">
        <p:scale>
          <a:sx n="61" d="100"/>
          <a:sy n="61" d="100"/>
        </p:scale>
        <p:origin x="2691"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5D3_9A3E1C86.xml><?xml version="1.0" encoding="utf-8"?>
<p188:cmLst xmlns:a="http://schemas.openxmlformats.org/drawingml/2006/main" xmlns:r="http://schemas.openxmlformats.org/officeDocument/2006/relationships" xmlns:p188="http://schemas.microsoft.com/office/powerpoint/2018/8/main">
  <p188:cm id="{A5371CBC-7ABD-4994-A10C-BE3C8476038E}" authorId="{DC7D497B-7AD7-723A-043A-6745C347B782}" created="2025-10-14T07:41:27.242">
    <pc:sldMkLst xmlns:pc="http://schemas.microsoft.com/office/powerpoint/2013/main/command">
      <pc:docMk/>
      <pc:sldMk cId="2587761798" sldId="1491"/>
    </pc:sldMkLst>
    <p188:txBody>
      <a:bodyPr/>
      <a:lstStyle/>
      <a:p>
        <a:r>
          <a:rPr lang="zh-CN" altLang="en-US"/>
          <a:t>这个 主要是记录上一次meeting 遗留的一些问题任务 是否解决 或还存在的问题</a:t>
        </a:r>
      </a:p>
    </p188:txBody>
  </p188:cm>
</p188:cmLst>
</file>

<file path=ppt/comments/modernComment_5D4_69A6FFE9.xml><?xml version="1.0" encoding="utf-8"?>
<p188:cmLst xmlns:a="http://schemas.openxmlformats.org/drawingml/2006/main" xmlns:r="http://schemas.openxmlformats.org/officeDocument/2006/relationships" xmlns:p188="http://schemas.microsoft.com/office/powerpoint/2018/8/main">
  <p188:cm id="{1695E649-A45E-454C-B06F-0127E9B0A459}" authorId="{DC7D497B-7AD7-723A-043A-6745C347B782}" created="2025-10-14T07:40:35.649">
    <pc:sldMkLst xmlns:pc="http://schemas.microsoft.com/office/powerpoint/2013/main/command">
      <pc:docMk/>
      <pc:sldMk cId="1772552169" sldId="1492"/>
    </pc:sldMkLst>
    <p188:txBody>
      <a:bodyPr/>
      <a:lstStyle/>
      <a:p>
        <a:r>
          <a:rPr lang="zh-CN" altLang="en-US"/>
          <a:t>一般来写一下 上周都做了些什么 完成了些什么 ？</a:t>
        </a:r>
      </a:p>
    </p188:txBody>
  </p188:cm>
</p188:cmLst>
</file>

<file path=ppt/comments/modernComment_5D5_2D29FAA8.xml><?xml version="1.0" encoding="utf-8"?>
<p188:cmLst xmlns:a="http://schemas.openxmlformats.org/drawingml/2006/main" xmlns:r="http://schemas.openxmlformats.org/officeDocument/2006/relationships" xmlns:p188="http://schemas.microsoft.com/office/powerpoint/2018/8/main">
  <p188:cm id="{B7D1A12F-609A-460D-B722-D37CBAB442E3}" authorId="{DC7D497B-7AD7-723A-043A-6745C347B782}" created="2025-10-14T07:42:17.012">
    <pc:sldMkLst xmlns:pc="http://schemas.microsoft.com/office/powerpoint/2013/main/command">
      <pc:docMk/>
      <pc:sldMk cId="757725864" sldId="1493"/>
    </pc:sldMkLst>
    <p188:txBody>
      <a:bodyPr/>
      <a:lstStyle/>
      <a:p>
        <a:r>
          <a:rPr lang="zh-CN" altLang="en-US"/>
          <a:t>主要记录所存在的问题</a:t>
        </a:r>
      </a:p>
    </p188:txBody>
  </p188:cm>
</p188:cmLst>
</file>

<file path=ppt/comments/modernComment_5D6_800809FF.xml><?xml version="1.0" encoding="utf-8"?>
<p188:cmLst xmlns:a="http://schemas.openxmlformats.org/drawingml/2006/main" xmlns:r="http://schemas.openxmlformats.org/officeDocument/2006/relationships" xmlns:p188="http://schemas.microsoft.com/office/powerpoint/2018/8/main">
  <p188:cm id="{DAA3AF4D-00DF-4525-B0E1-C123AE132E22}" authorId="{DC7D497B-7AD7-723A-043A-6745C347B782}" created="2025-10-14T07:42:54.872">
    <ac:deMkLst xmlns:ac="http://schemas.microsoft.com/office/drawing/2013/main/command">
      <pc:docMk xmlns:pc="http://schemas.microsoft.com/office/powerpoint/2013/main/command"/>
      <pc:sldMk xmlns:pc="http://schemas.microsoft.com/office/powerpoint/2013/main/command" cId="2148010495" sldId="1494"/>
      <ac:spMk id="2" creationId="{7E2AB971-AD86-413C-F120-B9511FB43C1F}"/>
    </ac:deMkLst>
    <p188:txBody>
      <a:bodyPr/>
      <a:lstStyle/>
      <a:p>
        <a:r>
          <a:rPr lang="zh-CN" altLang="en-US"/>
          <a:t>明确下周目标
时间规划（例如每日任务）</a:t>
        </a:r>
      </a:p>
    </p188:txBody>
  </p188:cm>
</p188:cmLst>
</file>

<file path=ppt/comments/modernComment_5D8_3F002680.xml><?xml version="1.0" encoding="utf-8"?>
<p188:cmLst xmlns:a="http://schemas.openxmlformats.org/drawingml/2006/main" xmlns:r="http://schemas.openxmlformats.org/officeDocument/2006/relationships" xmlns:p188="http://schemas.microsoft.com/office/powerpoint/2018/8/main">
  <p188:cm id="{4E57C25F-33F5-44CD-9AB9-8B110EF14598}" authorId="{DC7D497B-7AD7-723A-043A-6745C347B782}" created="2025-10-14T07:40:35.649">
    <pc:sldMkLst xmlns:pc="http://schemas.microsoft.com/office/powerpoint/2013/main/command">
      <pc:docMk/>
      <pc:sldMk cId="1772552169" sldId="1492"/>
    </pc:sldMkLst>
    <p188:txBody>
      <a:bodyPr/>
      <a:lstStyle/>
      <a:p>
        <a:r>
          <a:rPr lang="zh-CN" altLang="en-US"/>
          <a:t>一般来写一下 上周都做了些什么 完成了些什么 ？</a:t>
        </a:r>
      </a:p>
    </p188:txBody>
  </p188:cm>
  <p188:cm id="{90F4FF6E-B366-432E-A6C7-712074265B34}" authorId="{DC7D497B-7AD7-723A-043A-6745C347B782}" created="2025-11-03T00:25:08.229">
    <pc:sldMkLst xmlns:pc="http://schemas.microsoft.com/office/powerpoint/2013/main/command">
      <pc:docMk/>
      <pc:sldMk cId="1056974464" sldId="1496"/>
    </pc:sldMkLst>
    <p188:txBody>
      <a:bodyPr/>
      <a:lstStyle/>
      <a:p>
        <a:r>
          <a:rPr lang="zh-CN" altLang="en-US"/>
          <a:t>目前是训练完了特征提取器，但是调整了 dropout，隐藏层数量，学习率，还有lama，这个损失概率一直卡在这，差不多就是 平均域损失是0.7，平均分类损失是0.36</a:t>
        </a:r>
      </a:p>
    </p188:txBody>
  </p188:cm>
</p188:cmLst>
</file>

<file path=ppt/comments/modernComment_5D9_11D1019F.xml><?xml version="1.0" encoding="utf-8"?>
<p188:cmLst xmlns:a="http://schemas.openxmlformats.org/drawingml/2006/main" xmlns:r="http://schemas.openxmlformats.org/officeDocument/2006/relationships" xmlns:p188="http://schemas.microsoft.com/office/powerpoint/2018/8/main">
  <p188:cm id="{32ACDEDF-4269-45E3-96AA-4D3B06F66994}" authorId="{DC7D497B-7AD7-723A-043A-6745C347B782}" created="2025-10-14T07:40:35.649">
    <pc:sldMkLst xmlns:pc="http://schemas.microsoft.com/office/powerpoint/2013/main/command">
      <pc:docMk/>
      <pc:sldMk cId="1772552169" sldId="1492"/>
    </pc:sldMkLst>
    <p188:txBody>
      <a:bodyPr/>
      <a:lstStyle/>
      <a:p>
        <a:r>
          <a:rPr lang="zh-CN" altLang="en-US"/>
          <a:t>一般来写一下 上周都做了些什么 完成了些什么 ？</a:t>
        </a:r>
      </a:p>
    </p188:txBody>
  </p188:cm>
</p188:cmLst>
</file>

<file path=ppt/comments/modernComment_5DA_6D592D41.xml><?xml version="1.0" encoding="utf-8"?>
<p188:cmLst xmlns:a="http://schemas.openxmlformats.org/drawingml/2006/main" xmlns:r="http://schemas.openxmlformats.org/officeDocument/2006/relationships" xmlns:p188="http://schemas.microsoft.com/office/powerpoint/2018/8/main">
  <p188:cm id="{8B6DCBE3-B09F-4A56-807E-AFDB8CDF28DA}" authorId="{DC7D497B-7AD7-723A-043A-6745C347B782}" created="2025-10-14T07:40:35.649">
    <pc:sldMkLst xmlns:pc="http://schemas.microsoft.com/office/powerpoint/2013/main/command">
      <pc:docMk/>
      <pc:sldMk cId="1772552169" sldId="1492"/>
    </pc:sldMkLst>
    <p188:txBody>
      <a:bodyPr/>
      <a:lstStyle/>
      <a:p>
        <a:r>
          <a:rPr lang="zh-CN" altLang="en-US"/>
          <a:t>一般来写一下 上周都做了些什么 完成了些什么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3"/>
            <a:ext cx="2945862" cy="497333"/>
          </a:xfrm>
          <a:prstGeom prst="rect">
            <a:avLst/>
          </a:prstGeom>
        </p:spPr>
        <p:txBody>
          <a:bodyPr vert="horz" lIns="88212" tIns="44107" rIns="88212" bIns="44107" rtlCol="0"/>
          <a:lstStyle>
            <a:lvl1pPr algn="l" eaLnBrk="1" fontAlgn="auto" hangingPunct="1">
              <a:spcBef>
                <a:spcPts val="0"/>
              </a:spcBef>
              <a:spcAft>
                <a:spcPts val="0"/>
              </a:spcAft>
              <a:defRPr sz="1200">
                <a:latin typeface="+mn-lt"/>
                <a:ea typeface="+mn-ea"/>
                <a:cs typeface="+mn-cs"/>
              </a:defRPr>
            </a:lvl1pPr>
          </a:lstStyle>
          <a:p>
            <a:pPr>
              <a:defRPr/>
            </a:pPr>
            <a:endParaRPr lang="de-DE"/>
          </a:p>
        </p:txBody>
      </p:sp>
      <p:sp>
        <p:nvSpPr>
          <p:cNvPr id="3" name="Datumsplatzhalter 2"/>
          <p:cNvSpPr>
            <a:spLocks noGrp="1"/>
          </p:cNvSpPr>
          <p:nvPr>
            <p:ph type="dt" sz="quarter" idx="1"/>
          </p:nvPr>
        </p:nvSpPr>
        <p:spPr>
          <a:xfrm>
            <a:off x="3850295" y="3"/>
            <a:ext cx="2945862" cy="497333"/>
          </a:xfrm>
          <a:prstGeom prst="rect">
            <a:avLst/>
          </a:prstGeom>
        </p:spPr>
        <p:txBody>
          <a:bodyPr vert="horz" wrap="square" lIns="88212" tIns="44107" rIns="88212" bIns="44107" numCol="1" anchor="t" anchorCtr="0" compatLnSpc="1">
            <a:prstTxWarp prst="textNoShape">
              <a:avLst/>
            </a:prstTxWarp>
          </a:bodyPr>
          <a:lstStyle>
            <a:lvl1pPr algn="r" eaLnBrk="1" hangingPunct="1">
              <a:defRPr sz="1000" smtClean="0"/>
            </a:lvl1pPr>
          </a:lstStyle>
          <a:p>
            <a:pPr>
              <a:defRPr/>
            </a:pPr>
            <a:fld id="{517FCCCD-D206-47CF-B944-0B3BF2D9079C}" type="datetimeFigureOut">
              <a:rPr lang="de-DE" altLang="de-DE"/>
              <a:pPr>
                <a:defRPr/>
              </a:pPr>
              <a:t>09.11.2025</a:t>
            </a:fld>
            <a:endParaRPr lang="de-DE" altLang="de-DE"/>
          </a:p>
        </p:txBody>
      </p:sp>
      <p:sp>
        <p:nvSpPr>
          <p:cNvPr id="4" name="Fußzeilenplatzhalter 3"/>
          <p:cNvSpPr>
            <a:spLocks noGrp="1"/>
          </p:cNvSpPr>
          <p:nvPr>
            <p:ph type="ftr" sz="quarter" idx="2"/>
          </p:nvPr>
        </p:nvSpPr>
        <p:spPr>
          <a:xfrm>
            <a:off x="0" y="9429307"/>
            <a:ext cx="2945862" cy="497333"/>
          </a:xfrm>
          <a:prstGeom prst="rect">
            <a:avLst/>
          </a:prstGeom>
        </p:spPr>
        <p:txBody>
          <a:bodyPr vert="horz" lIns="88212" tIns="44107" rIns="88212" bIns="44107"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5" name="Foliennummernplatzhalter 4"/>
          <p:cNvSpPr>
            <a:spLocks noGrp="1"/>
          </p:cNvSpPr>
          <p:nvPr>
            <p:ph type="sldNum" sz="quarter" idx="3"/>
          </p:nvPr>
        </p:nvSpPr>
        <p:spPr>
          <a:xfrm>
            <a:off x="3850295" y="9429307"/>
            <a:ext cx="2945862" cy="497333"/>
          </a:xfrm>
          <a:prstGeom prst="rect">
            <a:avLst/>
          </a:prstGeom>
        </p:spPr>
        <p:txBody>
          <a:bodyPr vert="horz" wrap="square" lIns="88212" tIns="44107" rIns="88212" bIns="44107" numCol="1" anchor="b" anchorCtr="0" compatLnSpc="1">
            <a:prstTxWarp prst="textNoShape">
              <a:avLst/>
            </a:prstTxWarp>
          </a:bodyPr>
          <a:lstStyle>
            <a:lvl1pPr algn="r" eaLnBrk="1" hangingPunct="1">
              <a:defRPr sz="1000"/>
            </a:lvl1pPr>
          </a:lstStyle>
          <a:p>
            <a:fld id="{D59670E0-7F84-4741-B550-65997F2A51FF}" type="slidenum">
              <a:rPr lang="de-DE" altLang="de-DE"/>
              <a:pPr/>
              <a:t>‹#›</a:t>
            </a:fld>
            <a:endParaRPr lang="de-DE" altLang="de-DE"/>
          </a:p>
        </p:txBody>
      </p:sp>
    </p:spTree>
    <p:extLst>
      <p:ext uri="{BB962C8B-B14F-4D97-AF65-F5344CB8AC3E}">
        <p14:creationId xmlns:p14="http://schemas.microsoft.com/office/powerpoint/2010/main" val="17553552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3"/>
            <a:ext cx="2945862" cy="497333"/>
          </a:xfrm>
          <a:prstGeom prst="rect">
            <a:avLst/>
          </a:prstGeom>
        </p:spPr>
        <p:txBody>
          <a:bodyPr vert="horz" lIns="88212" tIns="44107" rIns="88212" bIns="44107" rtlCol="0"/>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3" name="Datumsplatzhalter 2"/>
          <p:cNvSpPr>
            <a:spLocks noGrp="1"/>
          </p:cNvSpPr>
          <p:nvPr>
            <p:ph type="dt" idx="1"/>
          </p:nvPr>
        </p:nvSpPr>
        <p:spPr>
          <a:xfrm>
            <a:off x="3850295" y="3"/>
            <a:ext cx="2945862" cy="497333"/>
          </a:xfrm>
          <a:prstGeom prst="rect">
            <a:avLst/>
          </a:prstGeom>
        </p:spPr>
        <p:txBody>
          <a:bodyPr vert="horz" wrap="square" lIns="88212" tIns="44107" rIns="88212" bIns="44107" numCol="1" anchor="t" anchorCtr="0" compatLnSpc="1">
            <a:prstTxWarp prst="textNoShape">
              <a:avLst/>
            </a:prstTxWarp>
          </a:bodyPr>
          <a:lstStyle>
            <a:lvl1pPr algn="r" eaLnBrk="1" hangingPunct="1">
              <a:defRPr sz="1000" smtClean="0"/>
            </a:lvl1pPr>
          </a:lstStyle>
          <a:p>
            <a:pPr>
              <a:defRPr/>
            </a:pPr>
            <a:fld id="{8F27E609-FD42-4B8F-BE3E-F1EA95C6459B}" type="datetimeFigureOut">
              <a:rPr lang="de-DE" altLang="de-DE"/>
              <a:pPr>
                <a:defRPr/>
              </a:pPr>
              <a:t>09.11.2025</a:t>
            </a:fld>
            <a:endParaRPr lang="de-DE" altLang="de-DE"/>
          </a:p>
        </p:txBody>
      </p:sp>
      <p:sp>
        <p:nvSpPr>
          <p:cNvPr id="4" name="Folienbildplatzhalter 3"/>
          <p:cNvSpPr>
            <a:spLocks noGrp="1" noRot="1" noChangeAspect="1"/>
          </p:cNvSpPr>
          <p:nvPr>
            <p:ph type="sldImg" idx="2"/>
          </p:nvPr>
        </p:nvSpPr>
        <p:spPr>
          <a:xfrm>
            <a:off x="425450" y="1243013"/>
            <a:ext cx="5946775" cy="3346450"/>
          </a:xfrm>
          <a:prstGeom prst="rect">
            <a:avLst/>
          </a:prstGeom>
          <a:noFill/>
          <a:ln w="12700">
            <a:solidFill>
              <a:prstClr val="black"/>
            </a:solidFill>
          </a:ln>
        </p:spPr>
        <p:txBody>
          <a:bodyPr vert="horz" lIns="88212" tIns="44107" rIns="88212" bIns="44107" rtlCol="0" anchor="ctr"/>
          <a:lstStyle/>
          <a:p>
            <a:pPr lvl="0"/>
            <a:endParaRPr lang="de-DE" noProof="0"/>
          </a:p>
        </p:txBody>
      </p:sp>
      <p:sp>
        <p:nvSpPr>
          <p:cNvPr id="5" name="Notizenplatzhalter 4"/>
          <p:cNvSpPr>
            <a:spLocks noGrp="1"/>
          </p:cNvSpPr>
          <p:nvPr>
            <p:ph type="body" sz="quarter" idx="3"/>
          </p:nvPr>
        </p:nvSpPr>
        <p:spPr>
          <a:xfrm>
            <a:off x="679464" y="4777783"/>
            <a:ext cx="5438748" cy="3907835"/>
          </a:xfrm>
          <a:prstGeom prst="rect">
            <a:avLst/>
          </a:prstGeom>
        </p:spPr>
        <p:txBody>
          <a:bodyPr vert="horz" wrap="square" lIns="88212" tIns="44107" rIns="88212" bIns="44107" numCol="1" anchor="t" anchorCtr="0" compatLnSpc="1">
            <a:prstTxWarp prst="textNoShape">
              <a:avLst/>
            </a:prstTxWarp>
          </a:bodyPr>
          <a:lstStyle/>
          <a:p>
            <a:pPr lvl="0"/>
            <a:r>
              <a:rPr lang="de-DE" altLang="de-DE" noProof="0"/>
              <a:t>Textmasterformat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6" name="Fußzeilenplatzhalter 5"/>
          <p:cNvSpPr>
            <a:spLocks noGrp="1"/>
          </p:cNvSpPr>
          <p:nvPr>
            <p:ph type="ftr" sz="quarter" idx="4"/>
          </p:nvPr>
        </p:nvSpPr>
        <p:spPr>
          <a:xfrm>
            <a:off x="0" y="9429307"/>
            <a:ext cx="2945862" cy="497333"/>
          </a:xfrm>
          <a:prstGeom prst="rect">
            <a:avLst/>
          </a:prstGeom>
        </p:spPr>
        <p:txBody>
          <a:bodyPr vert="horz" lIns="88212" tIns="44107" rIns="88212" bIns="44107"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850295" y="9429307"/>
            <a:ext cx="2945862" cy="497333"/>
          </a:xfrm>
          <a:prstGeom prst="rect">
            <a:avLst/>
          </a:prstGeom>
        </p:spPr>
        <p:txBody>
          <a:bodyPr vert="horz" wrap="square" lIns="88212" tIns="44107" rIns="88212" bIns="44107" numCol="1" anchor="b" anchorCtr="0" compatLnSpc="1">
            <a:prstTxWarp prst="textNoShape">
              <a:avLst/>
            </a:prstTxWarp>
          </a:bodyPr>
          <a:lstStyle>
            <a:lvl1pPr algn="r" eaLnBrk="1" hangingPunct="1">
              <a:defRPr sz="1000"/>
            </a:lvl1pPr>
          </a:lstStyle>
          <a:p>
            <a:fld id="{26920C50-29F7-474C-BAE4-5B8F6564B22A}" type="slidenum">
              <a:rPr lang="de-DE" altLang="de-DE"/>
              <a:pPr/>
              <a:t>‹#›</a:t>
            </a:fld>
            <a:endParaRPr lang="de-DE" altLang="de-DE"/>
          </a:p>
        </p:txBody>
      </p:sp>
    </p:spTree>
    <p:extLst>
      <p:ext uri="{BB962C8B-B14F-4D97-AF65-F5344CB8AC3E}">
        <p14:creationId xmlns:p14="http://schemas.microsoft.com/office/powerpoint/2010/main" val="83903457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itchFamily="34" charset="0"/>
        <a:ea typeface="ＭＳ Ｐゴシック" charset="0"/>
        <a:cs typeface="Arial" pitchFamily="34" charset="0"/>
      </a:defRPr>
    </a:lvl1pPr>
    <a:lvl2pPr marL="4572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2pPr>
    <a:lvl3pPr marL="9144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3pPr>
    <a:lvl4pPr marL="13716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4pPr>
    <a:lvl5pPr marL="18288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目前在跑参数，但是 </a:t>
            </a:r>
          </a:p>
        </p:txBody>
      </p:sp>
    </p:spTree>
    <p:extLst>
      <p:ext uri="{BB962C8B-B14F-4D97-AF65-F5344CB8AC3E}">
        <p14:creationId xmlns:p14="http://schemas.microsoft.com/office/powerpoint/2010/main" val="6991960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1/3 Farbe">
    <p:spTree>
      <p:nvGrpSpPr>
        <p:cNvPr id="1" name=""/>
        <p:cNvGrpSpPr/>
        <p:nvPr/>
      </p:nvGrpSpPr>
      <p:grpSpPr>
        <a:xfrm>
          <a:off x="0" y="0"/>
          <a:ext cx="0" cy="0"/>
          <a:chOff x="0" y="0"/>
          <a:chExt cx="0" cy="0"/>
        </a:xfrm>
      </p:grpSpPr>
      <p:sp>
        <p:nvSpPr>
          <p:cNvPr id="4" name="Rechteck 3"/>
          <p:cNvSpPr/>
          <p:nvPr/>
        </p:nvSpPr>
        <p:spPr>
          <a:xfrm>
            <a:off x="0" y="0"/>
            <a:ext cx="12192000" cy="23129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endParaRPr>
          </a:p>
        </p:txBody>
      </p:sp>
      <p:sp>
        <p:nvSpPr>
          <p:cNvPr id="7" name="Textfeld 6"/>
          <p:cNvSpPr txBox="1"/>
          <p:nvPr/>
        </p:nvSpPr>
        <p:spPr>
          <a:xfrm>
            <a:off x="-1776413" y="479425"/>
            <a:ext cx="1576388" cy="1323975"/>
          </a:xfrm>
          <a:prstGeom prst="rect">
            <a:avLst/>
          </a:prstGeom>
          <a:noFill/>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Institutslogo:</a:t>
            </a:r>
          </a:p>
          <a:p>
            <a:pPr eaLnBrk="1" hangingPunct="1">
              <a:buFontTx/>
              <a:buChar char="-"/>
              <a:defRPr/>
            </a:pPr>
            <a:r>
              <a:rPr lang="de-DE" altLang="de-DE" sz="1000"/>
              <a:t>Dateiformat: PNG in RGB</a:t>
            </a:r>
          </a:p>
          <a:p>
            <a:pPr eaLnBrk="1" hangingPunct="1">
              <a:buFontTx/>
              <a:buChar char="-"/>
              <a:defRPr/>
            </a:pPr>
            <a:r>
              <a:rPr lang="de-DE" altLang="de-DE" sz="1000"/>
              <a:t>Skalieren auf</a:t>
            </a:r>
          </a:p>
          <a:p>
            <a:pPr eaLnBrk="1" hangingPunct="1">
              <a:defRPr/>
            </a:pPr>
            <a:r>
              <a:rPr lang="de-DE" altLang="de-DE" sz="1000"/>
              <a:t>     Höhe: 2,26 cm</a:t>
            </a:r>
          </a:p>
          <a:p>
            <a:pPr eaLnBrk="1" hangingPunct="1">
              <a:defRPr/>
            </a:pPr>
            <a:r>
              <a:rPr lang="de-DE" altLang="de-DE" sz="1000"/>
              <a:t>     (Breite variiert je nach   </a:t>
            </a:r>
          </a:p>
          <a:p>
            <a:pPr eaLnBrk="1" hangingPunct="1">
              <a:defRPr/>
            </a:pPr>
            <a:r>
              <a:rPr lang="de-DE" altLang="de-DE" sz="1000"/>
              <a:t>     Schutzraum)</a:t>
            </a:r>
          </a:p>
        </p:txBody>
      </p:sp>
      <p:sp>
        <p:nvSpPr>
          <p:cNvPr id="5" name="Title 1"/>
          <p:cNvSpPr>
            <a:spLocks noGrp="1"/>
          </p:cNvSpPr>
          <p:nvPr>
            <p:ph type="ctrTitle"/>
          </p:nvPr>
        </p:nvSpPr>
        <p:spPr>
          <a:xfrm>
            <a:off x="3852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3324076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1/3 Foto">
    <p:spTree>
      <p:nvGrpSpPr>
        <p:cNvPr id="1" name=""/>
        <p:cNvGrpSpPr/>
        <p:nvPr/>
      </p:nvGrpSpPr>
      <p:grpSpPr>
        <a:xfrm>
          <a:off x="0" y="0"/>
          <a:ext cx="0" cy="0"/>
          <a:chOff x="0" y="0"/>
          <a:chExt cx="0" cy="0"/>
        </a:xfrm>
      </p:grpSpPr>
      <p:pic>
        <p:nvPicPr>
          <p:cNvPr id="4"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121920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feld 7"/>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sp>
        <p:nvSpPr>
          <p:cNvPr id="5"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228842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_2/3 Foto">
    <p:spTree>
      <p:nvGrpSpPr>
        <p:cNvPr id="1" name=""/>
        <p:cNvGrpSpPr/>
        <p:nvPr/>
      </p:nvGrpSpPr>
      <p:grpSpPr>
        <a:xfrm>
          <a:off x="0" y="0"/>
          <a:ext cx="0" cy="0"/>
          <a:chOff x="0" y="0"/>
          <a:chExt cx="0" cy="0"/>
        </a:xfrm>
      </p:grpSpPr>
      <p:sp>
        <p:nvSpPr>
          <p:cNvPr id="4" name="Textfeld 3"/>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pic>
        <p:nvPicPr>
          <p:cNvPr id="5" name="Grafik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1999" cy="453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ctrTitle"/>
          </p:nvPr>
        </p:nvSpPr>
        <p:spPr>
          <a:xfrm>
            <a:off x="384000" y="473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11" name="Subtitle 2"/>
          <p:cNvSpPr>
            <a:spLocks noGrp="1"/>
          </p:cNvSpPr>
          <p:nvPr>
            <p:ph type="subTitle" idx="1"/>
          </p:nvPr>
        </p:nvSpPr>
        <p:spPr>
          <a:xfrm>
            <a:off x="384000" y="5230801"/>
            <a:ext cx="11484000" cy="812813"/>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1582552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_Text">
    <p:spTree>
      <p:nvGrpSpPr>
        <p:cNvPr id="1" name=""/>
        <p:cNvGrpSpPr/>
        <p:nvPr/>
      </p:nvGrpSpPr>
      <p:grpSpPr>
        <a:xfrm>
          <a:off x="0" y="0"/>
          <a:ext cx="0" cy="0"/>
          <a:chOff x="0" y="0"/>
          <a:chExt cx="0" cy="0"/>
        </a:xfrm>
      </p:grpSpPr>
      <p:cxnSp>
        <p:nvCxnSpPr>
          <p:cNvPr id="4" name="Gerader Verbinder 3"/>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12"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391962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_mittig, horizontale Linie">
    <p:spTree>
      <p:nvGrpSpPr>
        <p:cNvPr id="1" name=""/>
        <p:cNvGrpSpPr/>
        <p:nvPr/>
      </p:nvGrpSpPr>
      <p:grpSpPr>
        <a:xfrm>
          <a:off x="0" y="0"/>
          <a:ext cx="0" cy="0"/>
          <a:chOff x="0" y="0"/>
          <a:chExt cx="0" cy="0"/>
        </a:xfrm>
      </p:grpSpPr>
      <p:cxnSp>
        <p:nvCxnSpPr>
          <p:cNvPr id="5" name="Gerader Verbinder 7"/>
          <p:cNvCxnSpPr/>
          <p:nvPr/>
        </p:nvCxnSpPr>
        <p:spPr>
          <a:xfrm>
            <a:off x="392113" y="30368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9" name="Subtitle 2"/>
          <p:cNvSpPr>
            <a:spLocks noGrp="1"/>
          </p:cNvSpPr>
          <p:nvPr>
            <p:ph type="subTitle" idx="1"/>
          </p:nvPr>
        </p:nvSpPr>
        <p:spPr>
          <a:xfrm>
            <a:off x="384000" y="3196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3611841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8" y="1684800"/>
            <a:ext cx="11484000" cy="3193200"/>
          </a:xfrm>
          <a:prstGeom prst="rect">
            <a:avLst/>
          </a:prstGeo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6"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297579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Text">
    <p:spTree>
      <p:nvGrpSpPr>
        <p:cNvPr id="1" name=""/>
        <p:cNvGrpSpPr/>
        <p:nvPr/>
      </p:nvGrpSpPr>
      <p:grpSpPr>
        <a:xfrm>
          <a:off x="0" y="0"/>
          <a:ext cx="0" cy="0"/>
          <a:chOff x="0" y="0"/>
          <a:chExt cx="0" cy="0"/>
        </a:xfrm>
      </p:grpSpPr>
      <p:sp>
        <p:nvSpPr>
          <p:cNvPr id="2"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3"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7" name="Textplatzhalter 6"/>
          <p:cNvSpPr>
            <a:spLocks noGrp="1"/>
          </p:cNvSpPr>
          <p:nvPr>
            <p:ph type="body" sz="quarter" idx="12"/>
          </p:nvPr>
        </p:nvSpPr>
        <p:spPr>
          <a:xfrm>
            <a:off x="383117" y="1684801"/>
            <a:ext cx="11484000" cy="3751263"/>
          </a:xfrm>
          <a:prstGeom prst="rect">
            <a:avLst/>
          </a:prstGeom>
        </p:spPr>
        <p:txBody>
          <a:bodyPr lIns="0" tIns="0" rIns="0" bIns="0"/>
          <a:lstStyle>
            <a:lvl1pPr marL="0" indent="0">
              <a:buFontTx/>
              <a:buNone/>
              <a:defRPr/>
            </a:lvl1pPr>
          </a:lstStyle>
          <a:p>
            <a:pPr lvl="0"/>
            <a:r>
              <a:rPr lang="de-DE"/>
              <a:t>Mastertextformat bearbeiten</a:t>
            </a:r>
          </a:p>
        </p:txBody>
      </p:sp>
    </p:spTree>
    <p:extLst>
      <p:ext uri="{BB962C8B-B14F-4D97-AF65-F5344CB8AC3E}">
        <p14:creationId xmlns:p14="http://schemas.microsoft.com/office/powerpoint/2010/main" val="3767593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_2/3_1/3">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00" y="1152000"/>
            <a:ext cx="74412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8" name="Inhaltsplatzhalter 7"/>
          <p:cNvSpPr>
            <a:spLocks noGrp="1"/>
          </p:cNvSpPr>
          <p:nvPr>
            <p:ph sz="quarter" idx="14"/>
          </p:nvPr>
        </p:nvSpPr>
        <p:spPr>
          <a:xfrm>
            <a:off x="384000" y="1684801"/>
            <a:ext cx="74412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Inhaltsplatzhalter 7"/>
          <p:cNvSpPr>
            <a:spLocks noGrp="1"/>
          </p:cNvSpPr>
          <p:nvPr>
            <p:ph sz="quarter" idx="15"/>
          </p:nvPr>
        </p:nvSpPr>
        <p:spPr>
          <a:xfrm>
            <a:off x="8149199" y="1684801"/>
            <a:ext cx="37188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0"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11" name="Content Placeholder 2"/>
          <p:cNvSpPr>
            <a:spLocks noGrp="1"/>
          </p:cNvSpPr>
          <p:nvPr>
            <p:ph idx="16"/>
          </p:nvPr>
        </p:nvSpPr>
        <p:spPr>
          <a:xfrm>
            <a:off x="8149199" y="1152000"/>
            <a:ext cx="37188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2813598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nhalt_1/3_2/3">
    <p:spTree>
      <p:nvGrpSpPr>
        <p:cNvPr id="1" name=""/>
        <p:cNvGrpSpPr/>
        <p:nvPr/>
      </p:nvGrpSpPr>
      <p:grpSpPr>
        <a:xfrm>
          <a:off x="0" y="0"/>
          <a:ext cx="0" cy="0"/>
          <a:chOff x="0" y="0"/>
          <a:chExt cx="0" cy="0"/>
        </a:xfrm>
      </p:grpSpPr>
      <p:sp>
        <p:nvSpPr>
          <p:cNvPr id="8" name="Inhaltsplatzhalter 7"/>
          <p:cNvSpPr>
            <a:spLocks noGrp="1"/>
          </p:cNvSpPr>
          <p:nvPr>
            <p:ph sz="quarter" idx="14"/>
          </p:nvPr>
        </p:nvSpPr>
        <p:spPr>
          <a:xfrm>
            <a:off x="4426800" y="1684801"/>
            <a:ext cx="74412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9" name="Inhaltsplatzhalter 7"/>
          <p:cNvSpPr>
            <a:spLocks noGrp="1"/>
          </p:cNvSpPr>
          <p:nvPr>
            <p:ph sz="quarter" idx="15"/>
          </p:nvPr>
        </p:nvSpPr>
        <p:spPr>
          <a:xfrm>
            <a:off x="384000" y="1684801"/>
            <a:ext cx="3718800" cy="3751263"/>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7" name="Content Placeholder 2"/>
          <p:cNvSpPr>
            <a:spLocks noGrp="1"/>
          </p:cNvSpPr>
          <p:nvPr>
            <p:ph idx="1"/>
          </p:nvPr>
        </p:nvSpPr>
        <p:spPr>
          <a:xfrm>
            <a:off x="4426800" y="1152000"/>
            <a:ext cx="74412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10" name="Content Placeholder 2"/>
          <p:cNvSpPr>
            <a:spLocks noGrp="1"/>
          </p:cNvSpPr>
          <p:nvPr>
            <p:ph idx="16"/>
          </p:nvPr>
        </p:nvSpPr>
        <p:spPr>
          <a:xfrm>
            <a:off x="384000" y="1152000"/>
            <a:ext cx="37188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4043270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_Text_Bild">
    <p:spTree>
      <p:nvGrpSpPr>
        <p:cNvPr id="1" name=""/>
        <p:cNvGrpSpPr/>
        <p:nvPr/>
      </p:nvGrpSpPr>
      <p:grpSpPr>
        <a:xfrm>
          <a:off x="0" y="0"/>
          <a:ext cx="0" cy="0"/>
          <a:chOff x="0" y="0"/>
          <a:chExt cx="0" cy="0"/>
        </a:xfrm>
      </p:grpSpPr>
      <p:pic>
        <p:nvPicPr>
          <p:cNvPr id="5"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07375" y="1684338"/>
            <a:ext cx="3635375" cy="39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11"/>
          <p:cNvSpPr>
            <a:spLocks noGrp="1"/>
          </p:cNvSpPr>
          <p:nvPr>
            <p:ph type="body" sz="quarter" idx="14"/>
          </p:nvPr>
        </p:nvSpPr>
        <p:spPr>
          <a:xfrm>
            <a:off x="383117" y="1684800"/>
            <a:ext cx="7560000" cy="3985955"/>
          </a:xfrm>
          <a:prstGeom prst="rect">
            <a:avLst/>
          </a:prstGeo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p:txBody>
      </p:sp>
      <p:sp>
        <p:nvSpPr>
          <p:cNvPr id="6"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7"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382045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_Bild">
    <p:spTree>
      <p:nvGrpSpPr>
        <p:cNvPr id="1" name=""/>
        <p:cNvGrpSpPr/>
        <p:nvPr/>
      </p:nvGrpSpPr>
      <p:grpSpPr>
        <a:xfrm>
          <a:off x="0" y="0"/>
          <a:ext cx="0" cy="0"/>
          <a:chOff x="0" y="0"/>
          <a:chExt cx="0" cy="0"/>
        </a:xfrm>
      </p:grpSpPr>
      <p:pic>
        <p:nvPicPr>
          <p:cNvPr id="4" name="Grafik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763" y="1152525"/>
            <a:ext cx="11480800"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platzhalter 9"/>
          <p:cNvSpPr>
            <a:spLocks noGrp="1"/>
          </p:cNvSpPr>
          <p:nvPr>
            <p:ph type="body" sz="quarter" idx="13"/>
          </p:nvPr>
        </p:nvSpPr>
        <p:spPr>
          <a:xfrm>
            <a:off x="383117" y="5359401"/>
            <a:ext cx="11484000" cy="499533"/>
          </a:xfrm>
          <a:prstGeom prst="rect">
            <a:avLst/>
          </a:prstGeom>
        </p:spPr>
        <p:txBody>
          <a:bodyPr>
            <a:normAutofit/>
          </a:bodyPr>
          <a:lstStyle>
            <a:lvl1pPr marL="0" indent="0" algn="r">
              <a:buNone/>
              <a:defRPr sz="900" baseline="0"/>
            </a:lvl1pPr>
          </a:lstStyle>
          <a:p>
            <a:pPr lvl="0"/>
            <a:r>
              <a:rPr lang="de-DE"/>
              <a:t>Mastertextformat bearbeiten</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Tree>
    <p:extLst>
      <p:ext uri="{BB962C8B-B14F-4D97-AF65-F5344CB8AC3E}">
        <p14:creationId xmlns:p14="http://schemas.microsoft.com/office/powerpoint/2010/main" val="592596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_Diagramm">
    <p:spTree>
      <p:nvGrpSpPr>
        <p:cNvPr id="1" name=""/>
        <p:cNvGrpSpPr/>
        <p:nvPr/>
      </p:nvGrpSpPr>
      <p:grpSpPr>
        <a:xfrm>
          <a:off x="0" y="0"/>
          <a:ext cx="0" cy="0"/>
          <a:chOff x="0" y="0"/>
          <a:chExt cx="0" cy="0"/>
        </a:xfrm>
      </p:grpSpPr>
      <p:sp>
        <p:nvSpPr>
          <p:cNvPr id="12" name="Textplatzhalter 24"/>
          <p:cNvSpPr>
            <a:spLocks noGrp="1"/>
          </p:cNvSpPr>
          <p:nvPr>
            <p:ph type="body" sz="quarter" idx="11"/>
          </p:nvPr>
        </p:nvSpPr>
        <p:spPr>
          <a:xfrm>
            <a:off x="384000" y="1152000"/>
            <a:ext cx="11484000" cy="252000"/>
          </a:xfrm>
          <a:prstGeom prst="rect">
            <a:avLst/>
          </a:prstGeom>
        </p:spPr>
        <p:txBody>
          <a:bodyPr lIns="0" tIns="0" rIns="0" bIns="0"/>
          <a:lstStyle>
            <a:lvl1pPr marL="0" indent="0">
              <a:lnSpc>
                <a:spcPct val="100000"/>
              </a:lnSpc>
              <a:buFontTx/>
              <a:buNone/>
              <a:defRPr sz="2000" b="1"/>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sp>
        <p:nvSpPr>
          <p:cNvPr id="9" name="Diagrammplatzhalter 8"/>
          <p:cNvSpPr>
            <a:spLocks noGrp="1"/>
          </p:cNvSpPr>
          <p:nvPr>
            <p:ph type="chart" sz="quarter" idx="13"/>
          </p:nvPr>
        </p:nvSpPr>
        <p:spPr>
          <a:xfrm>
            <a:off x="383117" y="1684800"/>
            <a:ext cx="11484000" cy="3632200"/>
          </a:xfrm>
          <a:prstGeom prst="rect">
            <a:avLst/>
          </a:prstGeom>
        </p:spPr>
        <p:txBody>
          <a:bodyPr lIns="0" tIns="0" rIns="0" bIns="0"/>
          <a:lstStyle/>
          <a:p>
            <a:pPr lvl="0"/>
            <a:r>
              <a:rPr lang="de-DE" noProof="0"/>
              <a:t>Diagramm durch Klicken auf Symbol hinzufügen</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Tree>
    <p:extLst>
      <p:ext uri="{BB962C8B-B14F-4D97-AF65-F5344CB8AC3E}">
        <p14:creationId xmlns:p14="http://schemas.microsoft.com/office/powerpoint/2010/main" val="113879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bschlussfolie">
    <p:spTree>
      <p:nvGrpSpPr>
        <p:cNvPr id="1" name=""/>
        <p:cNvGrpSpPr/>
        <p:nvPr/>
      </p:nvGrpSpPr>
      <p:grpSpPr>
        <a:xfrm>
          <a:off x="0" y="0"/>
          <a:ext cx="0" cy="0"/>
          <a:chOff x="0" y="0"/>
          <a:chExt cx="0" cy="0"/>
        </a:xfrm>
      </p:grpSpPr>
      <p:sp>
        <p:nvSpPr>
          <p:cNvPr id="3" name="Title 1"/>
          <p:cNvSpPr txBox="1">
            <a:spLocks/>
          </p:cNvSpPr>
          <p:nvPr/>
        </p:nvSpPr>
        <p:spPr>
          <a:xfrm>
            <a:off x="382588" y="2487613"/>
            <a:ext cx="11483975" cy="1079500"/>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90000"/>
              </a:lnSpc>
              <a:defRPr/>
            </a:pPr>
            <a:r>
              <a:rPr lang="de-DE" altLang="de-DE" sz="3200" b="1">
                <a:solidFill>
                  <a:schemeClr val="tx2"/>
                </a:solidFill>
              </a:rPr>
              <a:t>Vielen Dank</a:t>
            </a:r>
            <a:br>
              <a:rPr lang="de-DE" altLang="de-DE" sz="3200" b="1">
                <a:solidFill>
                  <a:schemeClr val="tx2"/>
                </a:solidFill>
              </a:rPr>
            </a:br>
            <a:r>
              <a:rPr lang="de-DE" altLang="de-DE" sz="3200" b="1">
                <a:solidFill>
                  <a:schemeClr val="tx2"/>
                </a:solidFill>
              </a:rPr>
              <a:t>für Ihre Aufmerksamkeit</a:t>
            </a:r>
            <a:endParaRPr lang="en-US" altLang="de-DE" sz="3200" b="1">
              <a:solidFill>
                <a:schemeClr val="tx2"/>
              </a:solidFill>
            </a:endParaRPr>
          </a:p>
        </p:txBody>
      </p:sp>
      <p:cxnSp>
        <p:nvCxnSpPr>
          <p:cNvPr id="5" name="Gerader Verbinder 11"/>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platzhalter 24"/>
          <p:cNvSpPr>
            <a:spLocks noGrp="1"/>
          </p:cNvSpPr>
          <p:nvPr>
            <p:ph type="body" sz="quarter" idx="11"/>
          </p:nvPr>
        </p:nvSpPr>
        <p:spPr>
          <a:xfrm>
            <a:off x="384000" y="3988800"/>
            <a:ext cx="11484000" cy="1656000"/>
          </a:xfrm>
          <a:prstGeom prst="rect">
            <a:avLst/>
          </a:prstGeom>
        </p:spPr>
        <p:txBody>
          <a:bodyPr lIns="0" tIns="0" rIns="0" bIns="0"/>
          <a:lstStyle>
            <a:lvl1pPr marL="0" indent="0">
              <a:lnSpc>
                <a:spcPct val="100000"/>
              </a:lnSpc>
              <a:spcBef>
                <a:spcPts val="0"/>
              </a:spcBef>
              <a:buFontTx/>
              <a:buNone/>
              <a:defRPr sz="1600" b="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pic>
        <p:nvPicPr>
          <p:cNvPr id="6" name="Grafik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extLst>
      <p:ext uri="{BB962C8B-B14F-4D97-AF65-F5344CB8AC3E}">
        <p14:creationId xmlns:p14="http://schemas.microsoft.com/office/powerpoint/2010/main" val="2297876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Slide Number Placeholder 5"/>
          <p:cNvSpPr txBox="1">
            <a:spLocks/>
          </p:cNvSpPr>
          <p:nvPr/>
        </p:nvSpPr>
        <p:spPr>
          <a:xfrm>
            <a:off x="1195388" y="6227764"/>
            <a:ext cx="7002462" cy="395286"/>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sz="1050" kern="1200" baseline="0" dirty="0">
                <a:solidFill>
                  <a:schemeClr val="tx2"/>
                </a:solidFill>
                <a:latin typeface="Arial" pitchFamily="34" charset="0"/>
                <a:ea typeface="ＭＳ Ｐゴシック" pitchFamily="34" charset="-128"/>
                <a:cs typeface="+mn-cs"/>
              </a:rPr>
              <a:t>Teaser-Folie I Projekt/Bachelor/Masterarbeit von Vorname Name</a:t>
            </a:r>
          </a:p>
          <a:p>
            <a:pPr marL="0" marR="0" lvl="0" indent="0" algn="l" defTabSz="914400" rtl="0" eaLnBrk="1" fontAlgn="base" latinLnBrk="0" hangingPunct="1">
              <a:lnSpc>
                <a:spcPct val="100000"/>
              </a:lnSpc>
              <a:spcBef>
                <a:spcPct val="0"/>
              </a:spcBef>
              <a:spcAft>
                <a:spcPct val="0"/>
              </a:spcAft>
              <a:buClrTx/>
              <a:buSzTx/>
              <a:buFontTx/>
              <a:buNone/>
              <a:tabLst/>
              <a:defRPr/>
            </a:pPr>
            <a:r>
              <a:rPr lang="de-DE" sz="1050" kern="1200" baseline="0" dirty="0">
                <a:solidFill>
                  <a:schemeClr val="tx2"/>
                </a:solidFill>
                <a:latin typeface="Arial" pitchFamily="34" charset="0"/>
                <a:ea typeface="ＭＳ Ｐゴシック" pitchFamily="34" charset="-128"/>
                <a:cs typeface="+mn-cs"/>
              </a:rPr>
              <a:t> Titel der Arbeit I Datum</a:t>
            </a:r>
            <a:endParaRPr lang="de-DE" altLang="de-DE" sz="1050" kern="1200" baseline="0" dirty="0">
              <a:solidFill>
                <a:schemeClr val="tx2"/>
              </a:solidFill>
              <a:latin typeface="Arial" pitchFamily="34" charset="0"/>
              <a:ea typeface="ＭＳ Ｐゴシック" pitchFamily="34" charset="-128"/>
              <a:cs typeface="+mn-cs"/>
            </a:endParaRPr>
          </a:p>
        </p:txBody>
      </p:sp>
      <p:cxnSp>
        <p:nvCxnSpPr>
          <p:cNvPr id="11" name="Gerader Verbinder 10"/>
          <p:cNvCxnSpPr/>
          <p:nvPr/>
        </p:nvCxnSpPr>
        <p:spPr>
          <a:xfrm>
            <a:off x="360363" y="8143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0" name="Textfeld 6"/>
          <p:cNvSpPr txBox="1">
            <a:spLocks noChangeArrowheads="1"/>
          </p:cNvSpPr>
          <p:nvPr/>
        </p:nvSpPr>
        <p:spPr bwMode="auto">
          <a:xfrm>
            <a:off x="-1784350" y="5073650"/>
            <a:ext cx="1668462"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Fußzeile anpassen:</a:t>
            </a:r>
            <a:endParaRPr lang="de-DE" altLang="de-DE" sz="1000"/>
          </a:p>
          <a:p>
            <a:pPr eaLnBrk="1" hangingPunct="1">
              <a:defRPr/>
            </a:pPr>
            <a:r>
              <a:rPr lang="de-DE" altLang="de-DE" sz="1000"/>
              <a:t>Zum Anpassen der Fußzeile unter Karteireiter Ansicht &gt; auf Folienmaster klicken. Links in der Übersicht auf die oberste Folie scrollen und dort in die Fußzeile klicken. So wird der Text automatisch auf allen Seiten angepasst.</a:t>
            </a:r>
            <a:endParaRPr lang="de-DE" altLang="de-DE" sz="1000" b="1"/>
          </a:p>
        </p:txBody>
      </p:sp>
      <p:sp>
        <p:nvSpPr>
          <p:cNvPr id="1031" name="Textfeld 13"/>
          <p:cNvSpPr txBox="1">
            <a:spLocks noChangeArrowheads="1"/>
          </p:cNvSpPr>
          <p:nvPr/>
        </p:nvSpPr>
        <p:spPr bwMode="auto">
          <a:xfrm>
            <a:off x="360363" y="6227763"/>
            <a:ext cx="7302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2220154-828B-4C84-BC39-BAE48C2A1705}" type="slidenum">
              <a:rPr lang="de-DE" altLang="de-DE" sz="1050">
                <a:solidFill>
                  <a:schemeClr val="tx2"/>
                </a:solidFill>
              </a:rPr>
              <a:pPr eaLnBrk="1" hangingPunct="1"/>
              <a:t>‹#›</a:t>
            </a:fld>
            <a:endParaRPr lang="de-DE" altLang="de-DE" sz="1050" dirty="0">
              <a:solidFill>
                <a:schemeClr val="tx2"/>
              </a:solidFill>
            </a:endParaRPr>
          </a:p>
        </p:txBody>
      </p:sp>
      <p:pic>
        <p:nvPicPr>
          <p:cNvPr id="10" name="Grafik 9"/>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609777" y="6044400"/>
            <a:ext cx="3366324" cy="813600"/>
          </a:xfrm>
          <a:prstGeom prst="rect">
            <a:avLst/>
          </a:prstGeom>
        </p:spPr>
      </p:pic>
    </p:spTree>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57" r:id="rId6"/>
    <p:sldLayoutId id="2147483858" r:id="rId7"/>
    <p:sldLayoutId id="2147483868" r:id="rId8"/>
    <p:sldLayoutId id="2147483869" r:id="rId9"/>
    <p:sldLayoutId id="2147483865" r:id="rId10"/>
    <p:sldLayoutId id="2147483866" r:id="rId11"/>
    <p:sldLayoutId id="2147483859" r:id="rId12"/>
    <p:sldLayoutId id="2147483867" r:id="rId13"/>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panose="020B0604020202020204" pitchFamily="34"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anose="05050102010706020507"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anose="05000000000000000000"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panose="020B0604020202020204" pitchFamily="34"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5D3_9A3E1C86.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5D4_69A6FFE9.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5DA_6D592D4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18/10/relationships/comments" Target="../comments/modernComment_5D8_3F002680.xml"/><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microsoft.com/office/2018/10/relationships/comments" Target="../comments/modernComment_5D9_11D1019F.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microsoft.com/office/2018/10/relationships/comments" Target="../comments/modernComment_5D5_2D29FAA8.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microsoft.com/office/2018/10/relationships/comments" Target="../comments/modernComment_5D6_800809FF.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15A0200-94A9-1893-FE11-5F49FC2C390C}"/>
              </a:ext>
            </a:extLst>
          </p:cNvPr>
          <p:cNvSpPr>
            <a:spLocks noGrp="1"/>
          </p:cNvSpPr>
          <p:nvPr>
            <p:ph type="body" sz="quarter" idx="13"/>
          </p:nvPr>
        </p:nvSpPr>
        <p:spPr/>
        <p:txBody>
          <a:bodyPr/>
          <a:lstStyle/>
          <a:p>
            <a:r>
              <a:rPr lang="en-US" altLang="zh-CN" dirty="0"/>
              <a:t>1.</a:t>
            </a:r>
            <a:r>
              <a:rPr lang="zh-CN" altLang="en-US" dirty="0"/>
              <a:t>理论学习</a:t>
            </a:r>
            <a:r>
              <a:rPr lang="en-US" altLang="zh-CN" dirty="0"/>
              <a:t>+</a:t>
            </a:r>
            <a:r>
              <a:rPr lang="zh-CN" altLang="en-US" dirty="0"/>
              <a:t>代码功能实现        </a:t>
            </a:r>
            <a:r>
              <a:rPr lang="en-US" altLang="zh-CN" dirty="0"/>
              <a:t>UAD</a:t>
            </a:r>
            <a:r>
              <a:rPr lang="zh-CN" altLang="en-US" dirty="0"/>
              <a:t>中的</a:t>
            </a:r>
            <a:r>
              <a:rPr lang="en-US" altLang="zh-CN" dirty="0"/>
              <a:t>DANN</a:t>
            </a:r>
            <a:r>
              <a:rPr lang="zh-CN" altLang="en-US" dirty="0"/>
              <a:t>（没有完全完成）</a:t>
            </a:r>
            <a:endParaRPr lang="en-US" altLang="zh-CN" dirty="0"/>
          </a:p>
          <a:p>
            <a:r>
              <a:rPr lang="en-US" altLang="zh-CN" dirty="0"/>
              <a:t>2.Tool for model evaluation code</a:t>
            </a:r>
          </a:p>
          <a:p>
            <a:r>
              <a:rPr lang="en-US" altLang="zh-CN" dirty="0"/>
              <a:t>3.</a:t>
            </a:r>
            <a:r>
              <a:rPr lang="zh-CN" altLang="en-US" dirty="0"/>
              <a:t>小论文的时间是</a:t>
            </a:r>
            <a:r>
              <a:rPr lang="en-US" altLang="zh-CN" dirty="0"/>
              <a:t>300</a:t>
            </a:r>
            <a:r>
              <a:rPr lang="zh-CN" altLang="en-US" dirty="0"/>
              <a:t>小时，来源是之前也做过小论文的学长。</a:t>
            </a:r>
            <a:endParaRPr lang="en-US" altLang="zh-CN" dirty="0"/>
          </a:p>
          <a:p>
            <a:r>
              <a:rPr lang="en-US" altLang="zh-CN" dirty="0"/>
              <a:t>4.</a:t>
            </a:r>
            <a:r>
              <a:rPr lang="zh-CN" altLang="en-US" dirty="0"/>
              <a:t>注册的表格（发送）</a:t>
            </a:r>
            <a:endParaRPr lang="en-US" altLang="zh-CN" dirty="0"/>
          </a:p>
          <a:p>
            <a:r>
              <a:rPr lang="en-US" altLang="zh-CN" dirty="0"/>
              <a:t>5.abstract </a:t>
            </a:r>
            <a:r>
              <a:rPr lang="zh-CN" altLang="en-US" dirty="0"/>
              <a:t>修改</a:t>
            </a:r>
          </a:p>
        </p:txBody>
      </p:sp>
      <p:sp>
        <p:nvSpPr>
          <p:cNvPr id="3" name="标题 2">
            <a:extLst>
              <a:ext uri="{FF2B5EF4-FFF2-40B4-BE49-F238E27FC236}">
                <a16:creationId xmlns:a16="http://schemas.microsoft.com/office/drawing/2014/main" id="{BBDA6A6A-207E-5BDB-4347-74665AC35B72}"/>
              </a:ext>
            </a:extLst>
          </p:cNvPr>
          <p:cNvSpPr>
            <a:spLocks noGrp="1"/>
          </p:cNvSpPr>
          <p:nvPr>
            <p:ph type="title"/>
          </p:nvPr>
        </p:nvSpPr>
        <p:spPr/>
        <p:txBody>
          <a:bodyPr/>
          <a:lstStyle/>
          <a:p>
            <a:r>
              <a:rPr lang="en-US" altLang="zh-CN" dirty="0"/>
              <a:t>1.Last Week’s Tasks</a:t>
            </a:r>
            <a:endParaRPr lang="zh-CN" altLang="en-US" dirty="0"/>
          </a:p>
        </p:txBody>
      </p:sp>
      <p:sp>
        <p:nvSpPr>
          <p:cNvPr id="4" name="内容占位符 3">
            <a:extLst>
              <a:ext uri="{FF2B5EF4-FFF2-40B4-BE49-F238E27FC236}">
                <a16:creationId xmlns:a16="http://schemas.microsoft.com/office/drawing/2014/main" id="{1A6CC0F6-26FF-8C88-2E83-0DAD81C1D6F6}"/>
              </a:ext>
            </a:extLst>
          </p:cNvPr>
          <p:cNvSpPr>
            <a:spLocks noGrp="1"/>
          </p:cNvSpPr>
          <p:nvPr>
            <p:ph idx="1"/>
          </p:nvPr>
        </p:nvSpPr>
        <p:spPr/>
        <p:txBody>
          <a:bodyPr/>
          <a:lstStyle/>
          <a:p>
            <a:r>
              <a:rPr lang="zh-CN" altLang="en-US" dirty="0"/>
              <a:t>上周做的内容</a:t>
            </a:r>
          </a:p>
        </p:txBody>
      </p:sp>
    </p:spTree>
    <p:extLst>
      <p:ext uri="{BB962C8B-B14F-4D97-AF65-F5344CB8AC3E}">
        <p14:creationId xmlns:p14="http://schemas.microsoft.com/office/powerpoint/2010/main" val="2587761798"/>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71E05A6-7AD4-D044-4BFE-8C7C650328CC}"/>
              </a:ext>
            </a:extLst>
          </p:cNvPr>
          <p:cNvSpPr>
            <a:spLocks noGrp="1"/>
          </p:cNvSpPr>
          <p:nvPr>
            <p:ph type="body" sz="quarter" idx="13"/>
          </p:nvPr>
        </p:nvSpPr>
        <p:spPr/>
        <p:txBody>
          <a:bodyPr/>
          <a:lstStyle/>
          <a:p>
            <a:r>
              <a:rPr lang="en-US" altLang="zh-CN" dirty="0"/>
              <a:t>1.UAD</a:t>
            </a:r>
            <a:r>
              <a:rPr lang="zh-CN" altLang="en-US" dirty="0"/>
              <a:t>，</a:t>
            </a:r>
            <a:r>
              <a:rPr lang="en-US" altLang="zh-CN" dirty="0"/>
              <a:t>DANN</a:t>
            </a:r>
            <a:r>
              <a:rPr lang="zh-CN" altLang="en-US" dirty="0"/>
              <a:t>还没有完成</a:t>
            </a:r>
            <a:endParaRPr lang="en-US" altLang="zh-CN" dirty="0"/>
          </a:p>
          <a:p>
            <a:r>
              <a:rPr lang="zh-CN" altLang="en-US" dirty="0"/>
              <a:t>它的理论</a:t>
            </a:r>
            <a:r>
              <a:rPr lang="en-US" altLang="zh-CN" dirty="0"/>
              <a:t>+</a:t>
            </a:r>
            <a:r>
              <a:rPr lang="zh-CN" altLang="en-US" dirty="0"/>
              <a:t>为什么使用的原理要讲明白。</a:t>
            </a:r>
            <a:endParaRPr lang="en-US" altLang="zh-CN" dirty="0"/>
          </a:p>
          <a:p>
            <a:r>
              <a:rPr lang="zh-CN" altLang="en-US" dirty="0"/>
              <a:t>平均分类损失和域损失的概念和意义。</a:t>
            </a:r>
            <a:endParaRPr lang="en-US" altLang="zh-CN" dirty="0"/>
          </a:p>
          <a:p>
            <a:r>
              <a:rPr lang="zh-CN" altLang="en-US" dirty="0"/>
              <a:t>基于无监督领域自适应 </a:t>
            </a:r>
            <a:r>
              <a:rPr lang="en-US" altLang="zh-CN" dirty="0"/>
              <a:t>(UDA)</a:t>
            </a:r>
          </a:p>
          <a:p>
            <a:endParaRPr lang="en-US" altLang="zh-CN" dirty="0"/>
          </a:p>
          <a:p>
            <a:r>
              <a:rPr lang="zh-CN" altLang="en-US" dirty="0"/>
              <a:t>主要做了</a:t>
            </a:r>
            <a:r>
              <a:rPr lang="en-US" altLang="zh-CN" dirty="0"/>
              <a:t>5</a:t>
            </a:r>
            <a:r>
              <a:rPr lang="zh-CN" altLang="en-US" dirty="0"/>
              <a:t>个核心文件</a:t>
            </a:r>
            <a:endParaRPr lang="en-US" altLang="zh-CN" dirty="0"/>
          </a:p>
          <a:p>
            <a:r>
              <a:rPr lang="en-US" altLang="zh-CN" dirty="0"/>
              <a:t>config.py</a:t>
            </a:r>
            <a:r>
              <a:rPr lang="zh-CN" altLang="en-US" dirty="0"/>
              <a:t>管理所有的超参数。</a:t>
            </a:r>
            <a:endParaRPr lang="en-US" altLang="zh-CN" dirty="0"/>
          </a:p>
          <a:p>
            <a:r>
              <a:rPr lang="en-US" altLang="zh-CN" dirty="0"/>
              <a:t>data_processing.py</a:t>
            </a:r>
            <a:r>
              <a:rPr lang="zh-CN" altLang="en-US" dirty="0"/>
              <a:t>：制作了</a:t>
            </a:r>
            <a:r>
              <a:rPr lang="en-US" altLang="zh-CN" dirty="0" err="1"/>
              <a:t>make_sequences</a:t>
            </a:r>
            <a:r>
              <a:rPr lang="zh-CN" altLang="en-US" dirty="0"/>
              <a:t>函数</a:t>
            </a:r>
            <a:r>
              <a:rPr lang="en-US" altLang="zh-CN" dirty="0"/>
              <a:t>,</a:t>
            </a:r>
            <a:r>
              <a:rPr lang="zh-CN" altLang="en-US" dirty="0"/>
              <a:t>将数据组成序列数据</a:t>
            </a:r>
            <a:r>
              <a:rPr lang="en-US" altLang="zh-CN" dirty="0"/>
              <a:t>.</a:t>
            </a:r>
          </a:p>
          <a:p>
            <a:r>
              <a:rPr lang="en-US" altLang="zh-CN" dirty="0"/>
              <a:t>dataloader.py:</a:t>
            </a:r>
            <a:r>
              <a:rPr lang="zh-CN" altLang="en-US" dirty="0"/>
              <a:t>为</a:t>
            </a:r>
            <a:r>
              <a:rPr lang="en-US" altLang="zh-CN" dirty="0"/>
              <a:t>LSTM</a:t>
            </a:r>
            <a:r>
              <a:rPr lang="zh-CN" altLang="en-US" dirty="0"/>
              <a:t>特征提取器模型制作输入数据</a:t>
            </a:r>
            <a:r>
              <a:rPr lang="en-US" altLang="zh-CN" dirty="0"/>
              <a:t>.</a:t>
            </a:r>
          </a:p>
          <a:p>
            <a:r>
              <a:rPr lang="en-US" altLang="zh-CN" dirty="0"/>
              <a:t>Models.py:</a:t>
            </a:r>
            <a:r>
              <a:rPr lang="zh-CN" altLang="en-US" dirty="0"/>
              <a:t>用来制作模型框架和模型需要的所有材料。</a:t>
            </a:r>
            <a:endParaRPr lang="en-US" altLang="zh-CN" dirty="0"/>
          </a:p>
          <a:p>
            <a:r>
              <a:rPr lang="en-US" altLang="zh-CN" dirty="0"/>
              <a:t>Main3.ipynb</a:t>
            </a:r>
            <a:r>
              <a:rPr lang="zh-CN" altLang="en-US" dirty="0"/>
              <a:t>：用来加载数据，模型训练，主要功能实现的地方。</a:t>
            </a:r>
            <a:endParaRPr lang="en-US" altLang="zh-CN" dirty="0"/>
          </a:p>
          <a:p>
            <a:endParaRPr lang="zh-CN" altLang="en-US" dirty="0"/>
          </a:p>
        </p:txBody>
      </p:sp>
      <p:sp>
        <p:nvSpPr>
          <p:cNvPr id="3" name="标题 2">
            <a:extLst>
              <a:ext uri="{FF2B5EF4-FFF2-40B4-BE49-F238E27FC236}">
                <a16:creationId xmlns:a16="http://schemas.microsoft.com/office/drawing/2014/main" id="{67CC2BCC-8415-D0FE-0866-FA2B1B54F726}"/>
              </a:ext>
            </a:extLst>
          </p:cNvPr>
          <p:cNvSpPr>
            <a:spLocks noGrp="1"/>
          </p:cNvSpPr>
          <p:nvPr>
            <p:ph type="title"/>
          </p:nvPr>
        </p:nvSpPr>
        <p:spPr/>
        <p:txBody>
          <a:bodyPr/>
          <a:lstStyle/>
          <a:p>
            <a:r>
              <a:rPr lang="en-US" altLang="zh-CN" dirty="0"/>
              <a:t>2.Progress Overview</a:t>
            </a:r>
            <a:endParaRPr lang="zh-CN" altLang="en-US" dirty="0"/>
          </a:p>
        </p:txBody>
      </p:sp>
      <p:sp>
        <p:nvSpPr>
          <p:cNvPr id="4" name="内容占位符 3">
            <a:extLst>
              <a:ext uri="{FF2B5EF4-FFF2-40B4-BE49-F238E27FC236}">
                <a16:creationId xmlns:a16="http://schemas.microsoft.com/office/drawing/2014/main" id="{8AF14CB5-223F-2993-005C-2EFAEE1E7FAC}"/>
              </a:ext>
            </a:extLst>
          </p:cNvPr>
          <p:cNvSpPr>
            <a:spLocks noGrp="1"/>
          </p:cNvSpPr>
          <p:nvPr>
            <p:ph idx="1"/>
          </p:nvPr>
        </p:nvSpPr>
        <p:spPr/>
        <p:txBody>
          <a:bodyPr/>
          <a:lstStyle/>
          <a:p>
            <a:r>
              <a:rPr lang="zh-CN" altLang="en-US" dirty="0"/>
              <a:t>基于无监督领域自适应 </a:t>
            </a:r>
            <a:r>
              <a:rPr lang="en-US" altLang="zh-CN" dirty="0"/>
              <a:t>(UDA)</a:t>
            </a:r>
          </a:p>
          <a:p>
            <a:endParaRPr lang="zh-CN" altLang="en-US" dirty="0"/>
          </a:p>
        </p:txBody>
      </p:sp>
      <p:pic>
        <p:nvPicPr>
          <p:cNvPr id="6" name="图片 5">
            <a:extLst>
              <a:ext uri="{FF2B5EF4-FFF2-40B4-BE49-F238E27FC236}">
                <a16:creationId xmlns:a16="http://schemas.microsoft.com/office/drawing/2014/main" id="{537FAC72-A30E-7B9C-1095-0DCF3B312E17}"/>
              </a:ext>
            </a:extLst>
          </p:cNvPr>
          <p:cNvPicPr>
            <a:picLocks noChangeAspect="1"/>
          </p:cNvPicPr>
          <p:nvPr/>
        </p:nvPicPr>
        <p:blipFill>
          <a:blip r:embed="rId3"/>
          <a:stretch>
            <a:fillRect/>
          </a:stretch>
        </p:blipFill>
        <p:spPr>
          <a:xfrm>
            <a:off x="7422975" y="1404000"/>
            <a:ext cx="2942857" cy="1038095"/>
          </a:xfrm>
          <a:prstGeom prst="rect">
            <a:avLst/>
          </a:prstGeom>
        </p:spPr>
      </p:pic>
    </p:spTree>
    <p:extLst>
      <p:ext uri="{BB962C8B-B14F-4D97-AF65-F5344CB8AC3E}">
        <p14:creationId xmlns:p14="http://schemas.microsoft.com/office/powerpoint/2010/main" val="177255216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726EF-2AA4-D261-9447-6CBEEDD526A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9E95AA1-E1D8-561C-8461-FBC659BFC459}"/>
              </a:ext>
            </a:extLst>
          </p:cNvPr>
          <p:cNvSpPr>
            <a:spLocks noGrp="1"/>
          </p:cNvSpPr>
          <p:nvPr>
            <p:ph type="body" sz="quarter" idx="13"/>
          </p:nvPr>
        </p:nvSpPr>
        <p:spPr>
          <a:xfrm>
            <a:off x="384000" y="2818275"/>
            <a:ext cx="11484000" cy="3193200"/>
          </a:xfrm>
        </p:spPr>
        <p:txBody>
          <a:bodyPr/>
          <a:lstStyle/>
          <a:p>
            <a:r>
              <a:rPr lang="zh-CN" altLang="en-US" dirty="0"/>
              <a:t>平均域损失 </a:t>
            </a:r>
            <a:r>
              <a:rPr lang="en-US" altLang="zh-CN" dirty="0"/>
              <a:t>0.7</a:t>
            </a:r>
            <a:r>
              <a:rPr lang="zh-CN" altLang="en-US" dirty="0"/>
              <a:t>是很好的，因为二分类加交叉熵损失函数。代表着分不清。（合格）</a:t>
            </a:r>
            <a:endParaRPr lang="en-US" altLang="zh-CN" dirty="0"/>
          </a:p>
          <a:p>
            <a:r>
              <a:rPr lang="zh-CN" altLang="en-US" dirty="0"/>
              <a:t>平均分类损失过高，可能还需要继续调参，或者后续与模型共同部署查看预测结果。（有疑问，待检验）</a:t>
            </a:r>
            <a:br>
              <a:rPr lang="en-US" altLang="zh-CN" dirty="0"/>
            </a:br>
            <a:endParaRPr lang="zh-CN" altLang="en-US" dirty="0"/>
          </a:p>
        </p:txBody>
      </p:sp>
      <p:sp>
        <p:nvSpPr>
          <p:cNvPr id="3" name="标题 2">
            <a:extLst>
              <a:ext uri="{FF2B5EF4-FFF2-40B4-BE49-F238E27FC236}">
                <a16:creationId xmlns:a16="http://schemas.microsoft.com/office/drawing/2014/main" id="{CCA26CAA-B6F9-F7A7-7FBD-28C14307ABD8}"/>
              </a:ext>
            </a:extLst>
          </p:cNvPr>
          <p:cNvSpPr>
            <a:spLocks noGrp="1"/>
          </p:cNvSpPr>
          <p:nvPr>
            <p:ph type="title"/>
          </p:nvPr>
        </p:nvSpPr>
        <p:spPr/>
        <p:txBody>
          <a:bodyPr/>
          <a:lstStyle/>
          <a:p>
            <a:r>
              <a:rPr lang="en-US" altLang="zh-CN" dirty="0"/>
              <a:t>2.Progress Overview</a:t>
            </a:r>
            <a:endParaRPr lang="zh-CN" altLang="en-US" dirty="0"/>
          </a:p>
        </p:txBody>
      </p:sp>
      <p:sp>
        <p:nvSpPr>
          <p:cNvPr id="4" name="内容占位符 3">
            <a:extLst>
              <a:ext uri="{FF2B5EF4-FFF2-40B4-BE49-F238E27FC236}">
                <a16:creationId xmlns:a16="http://schemas.microsoft.com/office/drawing/2014/main" id="{EFD375AD-AA8A-D4FE-651F-700727BF807B}"/>
              </a:ext>
            </a:extLst>
          </p:cNvPr>
          <p:cNvSpPr>
            <a:spLocks noGrp="1"/>
          </p:cNvSpPr>
          <p:nvPr>
            <p:ph idx="1"/>
          </p:nvPr>
        </p:nvSpPr>
        <p:spPr/>
        <p:txBody>
          <a:bodyPr/>
          <a:lstStyle/>
          <a:p>
            <a:r>
              <a:rPr lang="zh-CN" altLang="en-US" dirty="0"/>
              <a:t>基于无监督领域自适应 </a:t>
            </a:r>
            <a:r>
              <a:rPr lang="en-US" altLang="zh-CN" dirty="0"/>
              <a:t>(UDA)</a:t>
            </a:r>
          </a:p>
          <a:p>
            <a:endParaRPr lang="zh-CN" altLang="en-US" dirty="0"/>
          </a:p>
        </p:txBody>
      </p:sp>
      <p:pic>
        <p:nvPicPr>
          <p:cNvPr id="6" name="图片 5">
            <a:extLst>
              <a:ext uri="{FF2B5EF4-FFF2-40B4-BE49-F238E27FC236}">
                <a16:creationId xmlns:a16="http://schemas.microsoft.com/office/drawing/2014/main" id="{F4571B20-2C35-9357-B20F-65E57EF834F9}"/>
              </a:ext>
            </a:extLst>
          </p:cNvPr>
          <p:cNvPicPr>
            <a:picLocks noChangeAspect="1"/>
          </p:cNvPicPr>
          <p:nvPr/>
        </p:nvPicPr>
        <p:blipFill>
          <a:blip r:embed="rId3"/>
          <a:stretch>
            <a:fillRect/>
          </a:stretch>
        </p:blipFill>
        <p:spPr>
          <a:xfrm>
            <a:off x="574500" y="1684800"/>
            <a:ext cx="2942857" cy="1038095"/>
          </a:xfrm>
          <a:prstGeom prst="rect">
            <a:avLst/>
          </a:prstGeom>
        </p:spPr>
      </p:pic>
    </p:spTree>
    <p:extLst>
      <p:ext uri="{BB962C8B-B14F-4D97-AF65-F5344CB8AC3E}">
        <p14:creationId xmlns:p14="http://schemas.microsoft.com/office/powerpoint/2010/main" val="1834560833"/>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DD2E7-88D1-D881-3A1D-2E845F604090}"/>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32B849D5-6796-E636-1D7C-167DF942A0BC}"/>
              </a:ext>
            </a:extLst>
          </p:cNvPr>
          <p:cNvPicPr>
            <a:picLocks noChangeAspect="1"/>
          </p:cNvPicPr>
          <p:nvPr/>
        </p:nvPicPr>
        <p:blipFill>
          <a:blip r:embed="rId4"/>
          <a:srcRect t="-2314" b="49481"/>
          <a:stretch>
            <a:fillRect/>
          </a:stretch>
        </p:blipFill>
        <p:spPr>
          <a:xfrm>
            <a:off x="0" y="1535990"/>
            <a:ext cx="7275383" cy="4040870"/>
          </a:xfrm>
          <a:prstGeom prst="rect">
            <a:avLst/>
          </a:prstGeom>
        </p:spPr>
      </p:pic>
      <p:sp>
        <p:nvSpPr>
          <p:cNvPr id="2" name="文本占位符 1">
            <a:extLst>
              <a:ext uri="{FF2B5EF4-FFF2-40B4-BE49-F238E27FC236}">
                <a16:creationId xmlns:a16="http://schemas.microsoft.com/office/drawing/2014/main" id="{3135273C-5954-9957-3CE5-6018EC813BE1}"/>
              </a:ext>
            </a:extLst>
          </p:cNvPr>
          <p:cNvSpPr>
            <a:spLocks noGrp="1"/>
          </p:cNvSpPr>
          <p:nvPr>
            <p:ph type="body" sz="quarter" idx="13"/>
          </p:nvPr>
        </p:nvSpPr>
        <p:spPr>
          <a:xfrm>
            <a:off x="384000" y="1281140"/>
            <a:ext cx="11484000" cy="3193200"/>
          </a:xfrm>
        </p:spPr>
        <p:txBody>
          <a:bodyPr/>
          <a:lstStyle/>
          <a:p>
            <a:endParaRPr lang="zh-CN" altLang="en-US" dirty="0"/>
          </a:p>
        </p:txBody>
      </p:sp>
      <p:sp>
        <p:nvSpPr>
          <p:cNvPr id="3" name="标题 2">
            <a:extLst>
              <a:ext uri="{FF2B5EF4-FFF2-40B4-BE49-F238E27FC236}">
                <a16:creationId xmlns:a16="http://schemas.microsoft.com/office/drawing/2014/main" id="{13211BCB-4FFC-3755-B316-B9F58639A0F7}"/>
              </a:ext>
            </a:extLst>
          </p:cNvPr>
          <p:cNvSpPr>
            <a:spLocks noGrp="1"/>
          </p:cNvSpPr>
          <p:nvPr>
            <p:ph type="title"/>
          </p:nvPr>
        </p:nvSpPr>
        <p:spPr/>
        <p:txBody>
          <a:bodyPr/>
          <a:lstStyle/>
          <a:p>
            <a:r>
              <a:rPr lang="en-US" altLang="zh-CN" dirty="0"/>
              <a:t>2.Progress Overview</a:t>
            </a:r>
            <a:endParaRPr lang="zh-CN" altLang="en-US" dirty="0"/>
          </a:p>
        </p:txBody>
      </p:sp>
      <p:sp>
        <p:nvSpPr>
          <p:cNvPr id="4" name="内容占位符 3">
            <a:extLst>
              <a:ext uri="{FF2B5EF4-FFF2-40B4-BE49-F238E27FC236}">
                <a16:creationId xmlns:a16="http://schemas.microsoft.com/office/drawing/2014/main" id="{A01FED9A-5056-091E-5146-27502EBE1C39}"/>
              </a:ext>
            </a:extLst>
          </p:cNvPr>
          <p:cNvSpPr>
            <a:spLocks noGrp="1"/>
          </p:cNvSpPr>
          <p:nvPr>
            <p:ph idx="1"/>
          </p:nvPr>
        </p:nvSpPr>
        <p:spPr>
          <a:xfrm>
            <a:off x="384000" y="867158"/>
            <a:ext cx="11484000" cy="252000"/>
          </a:xfrm>
        </p:spPr>
        <p:txBody>
          <a:bodyPr/>
          <a:lstStyle/>
          <a:p>
            <a:r>
              <a:rPr lang="zh-CN" altLang="en-US" dirty="0"/>
              <a:t>基于无监督领域自适应 </a:t>
            </a:r>
            <a:r>
              <a:rPr lang="en-US" altLang="zh-CN" dirty="0"/>
              <a:t>(UDA)</a:t>
            </a:r>
          </a:p>
          <a:p>
            <a:endParaRPr lang="zh-CN" altLang="en-US" dirty="0"/>
          </a:p>
        </p:txBody>
      </p:sp>
      <p:pic>
        <p:nvPicPr>
          <p:cNvPr id="6" name="图片 5">
            <a:extLst>
              <a:ext uri="{FF2B5EF4-FFF2-40B4-BE49-F238E27FC236}">
                <a16:creationId xmlns:a16="http://schemas.microsoft.com/office/drawing/2014/main" id="{D721AAF6-E35A-9848-B469-37D11CBD6745}"/>
              </a:ext>
            </a:extLst>
          </p:cNvPr>
          <p:cNvPicPr>
            <a:picLocks noChangeAspect="1"/>
          </p:cNvPicPr>
          <p:nvPr/>
        </p:nvPicPr>
        <p:blipFill>
          <a:blip r:embed="rId5"/>
          <a:stretch>
            <a:fillRect/>
          </a:stretch>
        </p:blipFill>
        <p:spPr>
          <a:xfrm>
            <a:off x="7275383" y="4636322"/>
            <a:ext cx="2942857" cy="1038095"/>
          </a:xfrm>
          <a:prstGeom prst="rect">
            <a:avLst/>
          </a:prstGeom>
        </p:spPr>
      </p:pic>
      <p:pic>
        <p:nvPicPr>
          <p:cNvPr id="8" name="图片 7">
            <a:extLst>
              <a:ext uri="{FF2B5EF4-FFF2-40B4-BE49-F238E27FC236}">
                <a16:creationId xmlns:a16="http://schemas.microsoft.com/office/drawing/2014/main" id="{A2F12B38-2C84-284E-02B1-D1ED474D5B0D}"/>
              </a:ext>
            </a:extLst>
          </p:cNvPr>
          <p:cNvPicPr>
            <a:picLocks noChangeAspect="1"/>
          </p:cNvPicPr>
          <p:nvPr/>
        </p:nvPicPr>
        <p:blipFill>
          <a:blip r:embed="rId4"/>
          <a:srcRect t="50315"/>
          <a:stretch>
            <a:fillRect/>
          </a:stretch>
        </p:blipFill>
        <p:spPr>
          <a:xfrm>
            <a:off x="5248948" y="907182"/>
            <a:ext cx="6739127" cy="3519900"/>
          </a:xfrm>
          <a:prstGeom prst="rect">
            <a:avLst/>
          </a:prstGeom>
        </p:spPr>
      </p:pic>
    </p:spTree>
    <p:extLst>
      <p:ext uri="{BB962C8B-B14F-4D97-AF65-F5344CB8AC3E}">
        <p14:creationId xmlns:p14="http://schemas.microsoft.com/office/powerpoint/2010/main" val="105697446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7D3F4-752D-F8F0-BBF4-1A47C5D871F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5F78EC17-AB45-3AE4-3FC8-5C0ECCCD95AD}"/>
              </a:ext>
            </a:extLst>
          </p:cNvPr>
          <p:cNvSpPr>
            <a:spLocks noGrp="1"/>
          </p:cNvSpPr>
          <p:nvPr>
            <p:ph type="body" sz="quarter" idx="13"/>
          </p:nvPr>
        </p:nvSpPr>
        <p:spPr/>
        <p:txBody>
          <a:bodyPr/>
          <a:lstStyle/>
          <a:p>
            <a:r>
              <a:rPr lang="zh-CN" altLang="en-US" dirty="0"/>
              <a:t>对</a:t>
            </a:r>
            <a:r>
              <a:rPr lang="en-US" altLang="zh-CN" dirty="0"/>
              <a:t>UDA</a:t>
            </a:r>
            <a:r>
              <a:rPr lang="zh-CN" altLang="en-US" dirty="0"/>
              <a:t>的理解：</a:t>
            </a:r>
            <a:endParaRPr lang="en-US" altLang="zh-CN" dirty="0"/>
          </a:p>
          <a:p>
            <a:pPr lvl="1"/>
            <a:r>
              <a:rPr lang="zh-CN" altLang="en-US" dirty="0"/>
              <a:t>符合我们的项目问题（仿真数据带标签，真实数据不带标签）</a:t>
            </a:r>
            <a:endParaRPr lang="en-US" altLang="zh-CN" dirty="0"/>
          </a:p>
          <a:p>
            <a:pPr lvl="1"/>
            <a:r>
              <a:rPr lang="zh-CN" altLang="en-US" dirty="0"/>
              <a:t>方法是让仿真数据和真实数据对齐，学习一个他们通用的特征表示。主要功能就是通过特征提取器来对仿真和真实数据在高维特征空间中映射，在高维度空间中，让两个不同的数据源分布变得无法区分。</a:t>
            </a:r>
            <a:endParaRPr lang="en-US" altLang="zh-CN" dirty="0"/>
          </a:p>
          <a:p>
            <a:endParaRPr lang="en-US" altLang="zh-CN" dirty="0"/>
          </a:p>
          <a:p>
            <a:r>
              <a:rPr lang="zh-CN" altLang="en-US" dirty="0"/>
              <a:t>方法讨论</a:t>
            </a:r>
            <a:endParaRPr lang="en-US" altLang="zh-CN" dirty="0"/>
          </a:p>
          <a:p>
            <a:r>
              <a:rPr lang="en-US" altLang="zh-CN" dirty="0"/>
              <a:t>1. </a:t>
            </a:r>
            <a:r>
              <a:rPr lang="zh-CN" altLang="en-US" dirty="0"/>
              <a:t>最小化 </a:t>
            </a:r>
            <a:r>
              <a:rPr lang="en-US" altLang="zh-CN" dirty="0"/>
              <a:t>MMD/CORAL </a:t>
            </a:r>
            <a:r>
              <a:rPr lang="zh-CN" altLang="en-US" dirty="0"/>
              <a:t>等统计</a:t>
            </a:r>
            <a:r>
              <a:rPr lang="zh-CN" altLang="en-US" b="1" dirty="0"/>
              <a:t>差异</a:t>
            </a:r>
            <a:r>
              <a:rPr lang="zh-CN" altLang="en-US" dirty="0"/>
              <a:t>；（两个分布的距离定义）</a:t>
            </a:r>
            <a:br>
              <a:rPr lang="en-US" altLang="zh-CN" dirty="0"/>
            </a:br>
            <a:r>
              <a:rPr lang="en-US" altLang="zh-CN" dirty="0"/>
              <a:t>2. </a:t>
            </a:r>
            <a:r>
              <a:rPr lang="zh-CN" altLang="en-US" dirty="0"/>
              <a:t>使用 </a:t>
            </a:r>
            <a:r>
              <a:rPr lang="en-US" altLang="zh-CN" dirty="0"/>
              <a:t>DANN </a:t>
            </a:r>
            <a:r>
              <a:rPr lang="zh-CN" altLang="en-US" dirty="0"/>
              <a:t>等</a:t>
            </a:r>
            <a:r>
              <a:rPr lang="zh-CN" altLang="en-US" b="1" dirty="0"/>
              <a:t>对抗</a:t>
            </a:r>
            <a:r>
              <a:rPr lang="zh-CN" altLang="en-US" dirty="0"/>
              <a:t>网络进行域混淆；（让判别器区分不了数据从哪个分布来的）</a:t>
            </a:r>
            <a:br>
              <a:rPr lang="en-US" altLang="zh-CN" dirty="0"/>
            </a:br>
            <a:endParaRPr lang="zh-CN" altLang="en-US" dirty="0"/>
          </a:p>
        </p:txBody>
      </p:sp>
      <p:sp>
        <p:nvSpPr>
          <p:cNvPr id="3" name="标题 2">
            <a:extLst>
              <a:ext uri="{FF2B5EF4-FFF2-40B4-BE49-F238E27FC236}">
                <a16:creationId xmlns:a16="http://schemas.microsoft.com/office/drawing/2014/main" id="{98B2B475-2278-C2AB-C6CD-3D90A51FA2FC}"/>
              </a:ext>
            </a:extLst>
          </p:cNvPr>
          <p:cNvSpPr>
            <a:spLocks noGrp="1"/>
          </p:cNvSpPr>
          <p:nvPr>
            <p:ph type="title"/>
          </p:nvPr>
        </p:nvSpPr>
        <p:spPr/>
        <p:txBody>
          <a:bodyPr/>
          <a:lstStyle/>
          <a:p>
            <a:r>
              <a:rPr lang="en-US" altLang="zh-CN" dirty="0"/>
              <a:t>2.Progress Overview</a:t>
            </a:r>
            <a:endParaRPr lang="zh-CN" altLang="en-US" dirty="0"/>
          </a:p>
        </p:txBody>
      </p:sp>
      <p:sp>
        <p:nvSpPr>
          <p:cNvPr id="4" name="内容占位符 3">
            <a:extLst>
              <a:ext uri="{FF2B5EF4-FFF2-40B4-BE49-F238E27FC236}">
                <a16:creationId xmlns:a16="http://schemas.microsoft.com/office/drawing/2014/main" id="{0CF55369-5F95-9EBF-897A-9094A192A46B}"/>
              </a:ext>
            </a:extLst>
          </p:cNvPr>
          <p:cNvSpPr>
            <a:spLocks noGrp="1"/>
          </p:cNvSpPr>
          <p:nvPr>
            <p:ph idx="1"/>
          </p:nvPr>
        </p:nvSpPr>
        <p:spPr/>
        <p:txBody>
          <a:bodyPr/>
          <a:lstStyle/>
          <a:p>
            <a:r>
              <a:rPr lang="zh-CN" altLang="en-US" dirty="0"/>
              <a:t>基于无监督领域自适应 </a:t>
            </a:r>
            <a:r>
              <a:rPr lang="en-US" altLang="zh-CN" dirty="0"/>
              <a:t>(UDA)</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298910111"/>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F4986F7-3B3A-3387-A104-9FF0A7D89016}"/>
              </a:ext>
            </a:extLst>
          </p:cNvPr>
          <p:cNvSpPr>
            <a:spLocks noGrp="1"/>
          </p:cNvSpPr>
          <p:nvPr>
            <p:ph type="body" sz="quarter" idx="13"/>
          </p:nvPr>
        </p:nvSpPr>
        <p:spPr>
          <a:xfrm>
            <a:off x="373038" y="1684800"/>
            <a:ext cx="11484000" cy="4021200"/>
          </a:xfrm>
        </p:spPr>
        <p:txBody>
          <a:bodyPr/>
          <a:lstStyle/>
          <a:p>
            <a:r>
              <a:rPr lang="en-US" altLang="zh-CN" dirty="0"/>
              <a:t>Model evaluation tool</a:t>
            </a:r>
            <a:r>
              <a:rPr lang="zh-CN" altLang="en-US" dirty="0"/>
              <a:t>（</a:t>
            </a:r>
            <a:r>
              <a:rPr lang="en-US" altLang="zh-CN" dirty="0"/>
              <a:t>SVM</a:t>
            </a:r>
            <a:r>
              <a:rPr lang="zh-CN" altLang="en-US" dirty="0"/>
              <a:t>）</a:t>
            </a:r>
            <a:endParaRPr lang="en-US" altLang="zh-CN" dirty="0"/>
          </a:p>
          <a:p>
            <a:r>
              <a:rPr lang="zh-CN" altLang="en-US" dirty="0"/>
              <a:t>做的思路 怎么做的说一下</a:t>
            </a:r>
            <a:endParaRPr lang="en-US" altLang="zh-CN" dirty="0"/>
          </a:p>
          <a:p>
            <a:endParaRPr lang="en-US" altLang="zh-CN" dirty="0"/>
          </a:p>
          <a:p>
            <a:r>
              <a:rPr lang="zh-CN" altLang="en-US" dirty="0"/>
              <a:t>均方误差 </a:t>
            </a:r>
            <a:endParaRPr lang="en-US" altLang="zh-CN" dirty="0"/>
          </a:p>
          <a:p>
            <a:r>
              <a:rPr lang="en-US" altLang="zh-CN" dirty="0"/>
              <a:t>RSME</a:t>
            </a:r>
            <a:r>
              <a:rPr lang="zh-CN" altLang="en-US" dirty="0"/>
              <a:t>误差</a:t>
            </a:r>
          </a:p>
        </p:txBody>
      </p:sp>
      <p:sp>
        <p:nvSpPr>
          <p:cNvPr id="3" name="标题 2">
            <a:extLst>
              <a:ext uri="{FF2B5EF4-FFF2-40B4-BE49-F238E27FC236}">
                <a16:creationId xmlns:a16="http://schemas.microsoft.com/office/drawing/2014/main" id="{732713B2-A36A-327D-B700-03B037613993}"/>
              </a:ext>
            </a:extLst>
          </p:cNvPr>
          <p:cNvSpPr>
            <a:spLocks noGrp="1"/>
          </p:cNvSpPr>
          <p:nvPr>
            <p:ph type="title"/>
          </p:nvPr>
        </p:nvSpPr>
        <p:spPr/>
        <p:txBody>
          <a:bodyPr/>
          <a:lstStyle/>
          <a:p>
            <a:r>
              <a:rPr lang="en-US" altLang="zh-CN" dirty="0"/>
              <a:t>2.Progress Overview</a:t>
            </a:r>
            <a:endParaRPr lang="zh-CN" altLang="en-US" dirty="0"/>
          </a:p>
        </p:txBody>
      </p:sp>
      <p:sp>
        <p:nvSpPr>
          <p:cNvPr id="4" name="内容占位符 3">
            <a:extLst>
              <a:ext uri="{FF2B5EF4-FFF2-40B4-BE49-F238E27FC236}">
                <a16:creationId xmlns:a16="http://schemas.microsoft.com/office/drawing/2014/main" id="{B69B102E-3BB4-5C21-DDB2-BA8B815CAEFD}"/>
              </a:ext>
            </a:extLst>
          </p:cNvPr>
          <p:cNvSpPr>
            <a:spLocks noGrp="1"/>
          </p:cNvSpPr>
          <p:nvPr>
            <p:ph idx="1"/>
          </p:nvPr>
        </p:nvSpPr>
        <p:spPr/>
        <p:txBody>
          <a:bodyPr/>
          <a:lstStyle/>
          <a:p>
            <a:endParaRPr lang="zh-CN" altLang="en-US"/>
          </a:p>
        </p:txBody>
      </p:sp>
      <p:pic>
        <p:nvPicPr>
          <p:cNvPr id="10" name="图片 9">
            <a:extLst>
              <a:ext uri="{FF2B5EF4-FFF2-40B4-BE49-F238E27FC236}">
                <a16:creationId xmlns:a16="http://schemas.microsoft.com/office/drawing/2014/main" id="{9E1F0074-FF8D-E2E0-E7CB-D0E20FD5826F}"/>
              </a:ext>
            </a:extLst>
          </p:cNvPr>
          <p:cNvPicPr>
            <a:picLocks noChangeAspect="1"/>
          </p:cNvPicPr>
          <p:nvPr/>
        </p:nvPicPr>
        <p:blipFill>
          <a:blip r:embed="rId2"/>
          <a:stretch>
            <a:fillRect/>
          </a:stretch>
        </p:blipFill>
        <p:spPr>
          <a:xfrm>
            <a:off x="4148447" y="1656000"/>
            <a:ext cx="4961905" cy="590476"/>
          </a:xfrm>
          <a:prstGeom prst="rect">
            <a:avLst/>
          </a:prstGeom>
        </p:spPr>
      </p:pic>
      <p:pic>
        <p:nvPicPr>
          <p:cNvPr id="12" name="图片 11">
            <a:extLst>
              <a:ext uri="{FF2B5EF4-FFF2-40B4-BE49-F238E27FC236}">
                <a16:creationId xmlns:a16="http://schemas.microsoft.com/office/drawing/2014/main" id="{F8BC2788-7CA2-6D52-950A-019FA7DE9105}"/>
              </a:ext>
            </a:extLst>
          </p:cNvPr>
          <p:cNvPicPr>
            <a:picLocks noChangeAspect="1"/>
          </p:cNvPicPr>
          <p:nvPr/>
        </p:nvPicPr>
        <p:blipFill>
          <a:blip r:embed="rId3"/>
          <a:stretch>
            <a:fillRect/>
          </a:stretch>
        </p:blipFill>
        <p:spPr>
          <a:xfrm>
            <a:off x="2260680" y="2588696"/>
            <a:ext cx="3291962" cy="2775084"/>
          </a:xfrm>
          <a:prstGeom prst="rect">
            <a:avLst/>
          </a:prstGeom>
        </p:spPr>
      </p:pic>
      <p:pic>
        <p:nvPicPr>
          <p:cNvPr id="14" name="图片 13">
            <a:extLst>
              <a:ext uri="{FF2B5EF4-FFF2-40B4-BE49-F238E27FC236}">
                <a16:creationId xmlns:a16="http://schemas.microsoft.com/office/drawing/2014/main" id="{DB0618F0-163B-C405-9D5C-0E79BE8C9118}"/>
              </a:ext>
            </a:extLst>
          </p:cNvPr>
          <p:cNvPicPr>
            <a:picLocks noChangeAspect="1"/>
          </p:cNvPicPr>
          <p:nvPr/>
        </p:nvPicPr>
        <p:blipFill>
          <a:blip r:embed="rId4"/>
          <a:stretch>
            <a:fillRect/>
          </a:stretch>
        </p:blipFill>
        <p:spPr>
          <a:xfrm>
            <a:off x="7148801" y="2527276"/>
            <a:ext cx="3291962" cy="2775084"/>
          </a:xfrm>
          <a:prstGeom prst="rect">
            <a:avLst/>
          </a:prstGeom>
        </p:spPr>
      </p:pic>
    </p:spTree>
    <p:extLst>
      <p:ext uri="{BB962C8B-B14F-4D97-AF65-F5344CB8AC3E}">
        <p14:creationId xmlns:p14="http://schemas.microsoft.com/office/powerpoint/2010/main" val="1450720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2A56887-C91A-1F54-CBEB-E1EAC2959289}"/>
              </a:ext>
            </a:extLst>
          </p:cNvPr>
          <p:cNvSpPr>
            <a:spLocks noGrp="1"/>
          </p:cNvSpPr>
          <p:nvPr>
            <p:ph type="body" sz="quarter" idx="13"/>
          </p:nvPr>
        </p:nvSpPr>
        <p:spPr/>
        <p:txBody>
          <a:bodyPr/>
          <a:lstStyle/>
          <a:p>
            <a:r>
              <a:rPr lang="zh-CN" altLang="en-US" dirty="0"/>
              <a:t>问一下 对于模型来说我们设定的隐藏层都是为什么 多少数量都是代表什么含义。</a:t>
            </a:r>
            <a:endParaRPr lang="en-US" altLang="zh-CN" dirty="0"/>
          </a:p>
          <a:p>
            <a:pPr lvl="1"/>
            <a:r>
              <a:rPr lang="zh-CN" altLang="en-US" dirty="0"/>
              <a:t>代表着非线性的转换，但是还有什么实际理解的意思么？到底设置多少数字算是合适？</a:t>
            </a:r>
            <a:endParaRPr lang="en-US" altLang="zh-CN" dirty="0"/>
          </a:p>
          <a:p>
            <a:pPr lvl="1"/>
            <a:r>
              <a:rPr lang="en-US" altLang="zh-CN" dirty="0"/>
              <a:t>AI</a:t>
            </a:r>
            <a:r>
              <a:rPr lang="zh-CN" altLang="en-US" dirty="0"/>
              <a:t>回答：数量太少，压缩时会丢失过多的重要信息，欠拟合。数量太多，会学到噪声，不是学习规律，导致过拟合。</a:t>
            </a:r>
            <a:endParaRPr lang="en-US" altLang="zh-CN" dirty="0"/>
          </a:p>
          <a:p>
            <a:r>
              <a:rPr lang="en-US" altLang="zh-CN" dirty="0"/>
              <a:t>Dropout =0.2</a:t>
            </a:r>
            <a:r>
              <a:rPr lang="zh-CN" altLang="en-US" dirty="0"/>
              <a:t>  </a:t>
            </a:r>
            <a:endParaRPr lang="en-US" altLang="zh-CN" dirty="0"/>
          </a:p>
          <a:p>
            <a:pPr lvl="1"/>
            <a:r>
              <a:rPr lang="zh-CN" altLang="en-US" dirty="0"/>
              <a:t>正则化</a:t>
            </a:r>
            <a:endParaRPr lang="en-US" altLang="zh-CN" dirty="0"/>
          </a:p>
          <a:p>
            <a:r>
              <a:rPr lang="zh-CN" altLang="en-US" dirty="0"/>
              <a:t>模型的功能 和我们设计的层数都有什么关联？</a:t>
            </a:r>
            <a:endParaRPr lang="en-US" altLang="zh-CN" dirty="0"/>
          </a:p>
          <a:p>
            <a:pPr lvl="1"/>
            <a:endParaRPr lang="en-US" altLang="zh-CN" dirty="0"/>
          </a:p>
          <a:p>
            <a:r>
              <a:rPr lang="en-US" altLang="zh-CN" dirty="0"/>
              <a:t>LSTM </a:t>
            </a:r>
            <a:r>
              <a:rPr lang="zh-CN" altLang="en-US" dirty="0"/>
              <a:t>的层数 多和少的区别，效果 性能上面。</a:t>
            </a:r>
            <a:endParaRPr lang="en-US" altLang="zh-CN" dirty="0"/>
          </a:p>
          <a:p>
            <a:endParaRPr lang="en-US" altLang="zh-CN" dirty="0"/>
          </a:p>
          <a:p>
            <a:endParaRPr lang="zh-CN" altLang="en-US" dirty="0"/>
          </a:p>
        </p:txBody>
      </p:sp>
      <p:sp>
        <p:nvSpPr>
          <p:cNvPr id="3" name="标题 2">
            <a:extLst>
              <a:ext uri="{FF2B5EF4-FFF2-40B4-BE49-F238E27FC236}">
                <a16:creationId xmlns:a16="http://schemas.microsoft.com/office/drawing/2014/main" id="{A3B1BFA4-B7AB-E140-1DD3-C999F875F070}"/>
              </a:ext>
            </a:extLst>
          </p:cNvPr>
          <p:cNvSpPr>
            <a:spLocks noGrp="1"/>
          </p:cNvSpPr>
          <p:nvPr>
            <p:ph type="title"/>
          </p:nvPr>
        </p:nvSpPr>
        <p:spPr/>
        <p:txBody>
          <a:bodyPr/>
          <a:lstStyle/>
          <a:p>
            <a:r>
              <a:rPr lang="en-US" altLang="zh-CN" dirty="0"/>
              <a:t>3.Challenges &amp; Solutions</a:t>
            </a:r>
            <a:endParaRPr lang="zh-CN" altLang="en-US" dirty="0"/>
          </a:p>
        </p:txBody>
      </p:sp>
      <p:sp>
        <p:nvSpPr>
          <p:cNvPr id="4" name="内容占位符 3">
            <a:extLst>
              <a:ext uri="{FF2B5EF4-FFF2-40B4-BE49-F238E27FC236}">
                <a16:creationId xmlns:a16="http://schemas.microsoft.com/office/drawing/2014/main" id="{79F900E7-18ED-6CC1-3F80-7C04B3116A29}"/>
              </a:ext>
            </a:extLst>
          </p:cNvPr>
          <p:cNvSpPr>
            <a:spLocks noGrp="1"/>
          </p:cNvSpPr>
          <p:nvPr>
            <p:ph idx="1"/>
          </p:nvPr>
        </p:nvSpPr>
        <p:spPr/>
        <p:txBody>
          <a:bodyPr/>
          <a:lstStyle/>
          <a:p>
            <a:r>
              <a:rPr lang="zh-CN" altLang="en-US" dirty="0"/>
              <a:t>理论相关内容，对于模型层数和设计的理解问题？</a:t>
            </a:r>
          </a:p>
        </p:txBody>
      </p:sp>
    </p:spTree>
    <p:extLst>
      <p:ext uri="{BB962C8B-B14F-4D97-AF65-F5344CB8AC3E}">
        <p14:creationId xmlns:p14="http://schemas.microsoft.com/office/powerpoint/2010/main" val="75772586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E2AB971-AD86-413C-F120-B9511FB43C1F}"/>
              </a:ext>
            </a:extLst>
          </p:cNvPr>
          <p:cNvSpPr>
            <a:spLocks noGrp="1"/>
          </p:cNvSpPr>
          <p:nvPr>
            <p:ph type="body" sz="quarter" idx="13"/>
          </p:nvPr>
        </p:nvSpPr>
        <p:spPr/>
        <p:txBody>
          <a:bodyPr/>
          <a:lstStyle/>
          <a:p>
            <a:r>
              <a:rPr lang="en-US" altLang="zh-CN" dirty="0"/>
              <a:t>1.</a:t>
            </a:r>
            <a:r>
              <a:rPr lang="zh-CN" altLang="en-US" dirty="0"/>
              <a:t>（考虑）</a:t>
            </a:r>
            <a:r>
              <a:rPr lang="en-US" altLang="zh-CN" dirty="0"/>
              <a:t>LORA</a:t>
            </a:r>
          </a:p>
          <a:p>
            <a:r>
              <a:rPr lang="en-US" altLang="zh-CN" dirty="0"/>
              <a:t>2.</a:t>
            </a:r>
            <a:r>
              <a:rPr lang="zh-CN" altLang="en-US" dirty="0"/>
              <a:t>（要尝试）</a:t>
            </a:r>
            <a:r>
              <a:rPr lang="en-US" altLang="zh-CN" dirty="0"/>
              <a:t>Fine tuning</a:t>
            </a:r>
          </a:p>
          <a:p>
            <a:r>
              <a:rPr lang="en-US" altLang="zh-CN" dirty="0"/>
              <a:t>3.</a:t>
            </a:r>
            <a:r>
              <a:rPr lang="zh-CN" altLang="en-US" dirty="0"/>
              <a:t>（如讨论完思路没有问题的话） 完善 </a:t>
            </a:r>
            <a:r>
              <a:rPr lang="en-US" altLang="zh-CN" dirty="0"/>
              <a:t>UAD</a:t>
            </a:r>
            <a:r>
              <a:rPr lang="zh-CN" altLang="en-US" dirty="0"/>
              <a:t>这一部分</a:t>
            </a:r>
          </a:p>
        </p:txBody>
      </p:sp>
      <p:sp>
        <p:nvSpPr>
          <p:cNvPr id="3" name="标题 2">
            <a:extLst>
              <a:ext uri="{FF2B5EF4-FFF2-40B4-BE49-F238E27FC236}">
                <a16:creationId xmlns:a16="http://schemas.microsoft.com/office/drawing/2014/main" id="{1A7E890C-2E17-3EFD-8B75-E0C9EC5A85C7}"/>
              </a:ext>
            </a:extLst>
          </p:cNvPr>
          <p:cNvSpPr>
            <a:spLocks noGrp="1"/>
          </p:cNvSpPr>
          <p:nvPr>
            <p:ph type="title"/>
          </p:nvPr>
        </p:nvSpPr>
        <p:spPr/>
        <p:txBody>
          <a:bodyPr/>
          <a:lstStyle/>
          <a:p>
            <a:r>
              <a:rPr lang="en-US" altLang="zh-CN" dirty="0"/>
              <a:t>4.Next Week Goal</a:t>
            </a:r>
            <a:endParaRPr lang="zh-CN" altLang="en-US" dirty="0"/>
          </a:p>
        </p:txBody>
      </p:sp>
      <p:sp>
        <p:nvSpPr>
          <p:cNvPr id="4" name="内容占位符 3">
            <a:extLst>
              <a:ext uri="{FF2B5EF4-FFF2-40B4-BE49-F238E27FC236}">
                <a16:creationId xmlns:a16="http://schemas.microsoft.com/office/drawing/2014/main" id="{A1CFFCC9-4B03-D9F1-FE38-6481C068759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1480104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Präsentation_Master_RWTH_Institute_16zu9">
  <a:themeElements>
    <a:clrScheme name="RWTH Farben">
      <a:dk1>
        <a:sysClr val="windowText" lastClr="000000"/>
      </a:dk1>
      <a:lt1>
        <a:sysClr val="window" lastClr="FFFFFF"/>
      </a:lt1>
      <a:dk2>
        <a:srgbClr val="00549F"/>
      </a:dk2>
      <a:lt2>
        <a:srgbClr val="8EBAE5"/>
      </a:lt2>
      <a:accent1>
        <a:srgbClr val="006165"/>
      </a:accent1>
      <a:accent2>
        <a:srgbClr val="0098A1"/>
      </a:accent2>
      <a:accent3>
        <a:srgbClr val="57AB27"/>
      </a:accent3>
      <a:accent4>
        <a:srgbClr val="BDCD00"/>
      </a:accent4>
      <a:accent5>
        <a:srgbClr val="F6A800"/>
      </a:accent5>
      <a:accent6>
        <a:srgbClr val="CC071E"/>
      </a:accent6>
      <a:hlink>
        <a:srgbClr val="612158"/>
      </a:hlink>
      <a:folHlink>
        <a:srgbClr val="7A6FA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_Master_RWTH_Verwaltung_ohne_addin_16zu9.pot [Kompatibilitätsmodus]" id="{12157BE7-C41B-4251-A630-7876F5189DEC}" vid="{D5CAF79C-9B5F-40C2-AC3C-45C714C4923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Präsentationsvorlage_IRT</Template>
  <TotalTime>511</TotalTime>
  <Words>605</Words>
  <Application>Microsoft Office PowerPoint</Application>
  <PresentationFormat>宽屏</PresentationFormat>
  <Paragraphs>55</Paragraphs>
  <Slides>8</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8</vt:i4>
      </vt:variant>
    </vt:vector>
  </HeadingPairs>
  <TitlesOfParts>
    <vt:vector size="13" baseType="lpstr">
      <vt:lpstr>Arial</vt:lpstr>
      <vt:lpstr>Calibri</vt:lpstr>
      <vt:lpstr>Symbol</vt:lpstr>
      <vt:lpstr>Wingdings</vt:lpstr>
      <vt:lpstr>Präsentation_Master_RWTH_Institute_16zu9</vt:lpstr>
      <vt:lpstr>1.Last Week’s Tasks</vt:lpstr>
      <vt:lpstr>2.Progress Overview</vt:lpstr>
      <vt:lpstr>2.Progress Overview</vt:lpstr>
      <vt:lpstr>2.Progress Overview</vt:lpstr>
      <vt:lpstr>2.Progress Overview</vt:lpstr>
      <vt:lpstr>2.Progress Overview</vt:lpstr>
      <vt:lpstr>3.Challenges &amp; Solutions</vt:lpstr>
      <vt:lpstr>4.Next Week Goal</vt:lpstr>
    </vt:vector>
  </TitlesOfParts>
  <Company>Institut für Regelungstechnik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Florian Baader</dc:creator>
  <cp:lastModifiedBy>jiayu yang</cp:lastModifiedBy>
  <cp:revision>1534</cp:revision>
  <cp:lastPrinted>2020-01-08T09:35:20Z</cp:lastPrinted>
  <dcterms:created xsi:type="dcterms:W3CDTF">2018-05-24T07:56:59Z</dcterms:created>
  <dcterms:modified xsi:type="dcterms:W3CDTF">2025-11-09T12:17:20Z</dcterms:modified>
</cp:coreProperties>
</file>