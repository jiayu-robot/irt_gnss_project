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5D3_9A3E1C86.xml" ContentType="application/vnd.ms-powerpoint.comments+xml"/>
  <Override PartName="/ppt/comments/modernComment_5D8_604C2D1B.xml" ContentType="application/vnd.ms-powerpoint.comments+xml"/>
  <Override PartName="/ppt/comments/modernComment_5D4_69A6FFE9.xml" ContentType="application/vnd.ms-powerpoint.comments+xml"/>
  <Override PartName="/ppt/comments/modernComment_5D7_8F1DAF6D.xml" ContentType="application/vnd.ms-powerpoint.comments+xml"/>
  <Override PartName="/ppt/comments/modernComment_5D9_C8898A62.xml" ContentType="application/vnd.ms-powerpoint.comments+xml"/>
  <Override PartName="/ppt/comments/modernComment_5D5_2D29FAA8.xml" ContentType="application/vnd.ms-powerpoint.comments+xml"/>
  <Override PartName="/ppt/comments/modernComment_5D6_800809FF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8" r:id="rId1"/>
  </p:sldMasterIdLst>
  <p:notesMasterIdLst>
    <p:notesMasterId r:id="rId10"/>
  </p:notesMasterIdLst>
  <p:handoutMasterIdLst>
    <p:handoutMasterId r:id="rId11"/>
  </p:handoutMasterIdLst>
  <p:sldIdLst>
    <p:sldId id="1490" r:id="rId2"/>
    <p:sldId id="1491" r:id="rId3"/>
    <p:sldId id="1496" r:id="rId4"/>
    <p:sldId id="1492" r:id="rId5"/>
    <p:sldId id="1495" r:id="rId6"/>
    <p:sldId id="1497" r:id="rId7"/>
    <p:sldId id="1493" r:id="rId8"/>
    <p:sldId id="1494" r:id="rId9"/>
  </p:sldIdLst>
  <p:sldSz cx="12192000" cy="6858000"/>
  <p:notesSz cx="6797675" cy="9926638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C7D497B-7AD7-723A-043A-6745C347B782}" name="jiayu yang" initials="jy" userId="8067bb61bfadfd7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BAE5"/>
    <a:srgbClr val="00549F"/>
    <a:srgbClr val="E9F1FA"/>
    <a:srgbClr val="272727"/>
    <a:srgbClr val="962F2F"/>
    <a:srgbClr val="57AB27"/>
    <a:srgbClr val="438CD4"/>
    <a:srgbClr val="A6A6A6"/>
    <a:srgbClr val="D5DDE6"/>
    <a:srgbClr val="298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unkle Formatvorlage 2 - Akzent 3/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5" autoAdjust="0"/>
    <p:restoredTop sz="96265" autoAdjust="0"/>
  </p:normalViewPr>
  <p:slideViewPr>
    <p:cSldViewPr snapToGrid="0" showGuides="1">
      <p:cViewPr varScale="1">
        <p:scale>
          <a:sx n="98" d="100"/>
          <a:sy n="98" d="100"/>
        </p:scale>
        <p:origin x="102" y="30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84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61" d="100"/>
          <a:sy n="61" d="100"/>
        </p:scale>
        <p:origin x="2691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modernComment_5D3_9A3E1C8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5371CBC-7ABD-4994-A10C-BE3C8476038E}" authorId="{DC7D497B-7AD7-723A-043A-6745C347B782}" created="2025-10-14T07:41:27.242">
    <pc:sldMkLst xmlns:pc="http://schemas.microsoft.com/office/powerpoint/2013/main/command">
      <pc:docMk/>
      <pc:sldMk cId="2587761798" sldId="1491"/>
    </pc:sldMkLst>
    <p188:txBody>
      <a:bodyPr/>
      <a:lstStyle/>
      <a:p>
        <a:r>
          <a:rPr lang="zh-CN" altLang="en-US"/>
          <a:t>这个 主要是记录上一次meeting 遗留的一些问题任务 是否解决 或还存在的问题</a:t>
        </a:r>
      </a:p>
    </p188:txBody>
  </p188:cm>
</p188:cmLst>
</file>

<file path=ppt/comments/modernComment_5D4_69A6FFE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695E649-A45E-454C-B06F-0127E9B0A459}" authorId="{DC7D497B-7AD7-723A-043A-6745C347B782}" created="2025-10-14T07:40:35.649">
    <pc:sldMkLst xmlns:pc="http://schemas.microsoft.com/office/powerpoint/2013/main/command">
      <pc:docMk/>
      <pc:sldMk cId="1772552169" sldId="1492"/>
    </pc:sldMkLst>
    <p188:txBody>
      <a:bodyPr/>
      <a:lstStyle/>
      <a:p>
        <a:r>
          <a:rPr lang="zh-CN" altLang="en-US"/>
          <a:t>一般来写一下 上周都做了些什么 完成了些什么 ？</a:t>
        </a:r>
      </a:p>
    </p188:txBody>
  </p188:cm>
</p188:cmLst>
</file>

<file path=ppt/comments/modernComment_5D5_2D29FAA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7D1A12F-609A-460D-B722-D37CBAB442E3}" authorId="{DC7D497B-7AD7-723A-043A-6745C347B782}" created="2025-10-14T07:42:17.012">
    <pc:sldMkLst xmlns:pc="http://schemas.microsoft.com/office/powerpoint/2013/main/command">
      <pc:docMk/>
      <pc:sldMk cId="757725864" sldId="1493"/>
    </pc:sldMkLst>
    <p188:txBody>
      <a:bodyPr/>
      <a:lstStyle/>
      <a:p>
        <a:r>
          <a:rPr lang="zh-CN" altLang="en-US"/>
          <a:t>主要记录所存在的问题</a:t>
        </a:r>
      </a:p>
    </p188:txBody>
  </p188:cm>
</p188:cmLst>
</file>

<file path=ppt/comments/modernComment_5D6_800809F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AA3AF4D-00DF-4525-B0E1-C123AE132E22}" authorId="{DC7D497B-7AD7-723A-043A-6745C347B782}" created="2025-10-14T07:42:54.87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48010495" sldId="1494"/>
      <ac:spMk id="2" creationId="{7E2AB971-AD86-413C-F120-B9511FB43C1F}"/>
    </ac:deMkLst>
    <p188:txBody>
      <a:bodyPr/>
      <a:lstStyle/>
      <a:p>
        <a:r>
          <a:rPr lang="zh-CN" altLang="en-US"/>
          <a:t>明确下周目标
时间规划（例如每日任务）</a:t>
        </a:r>
      </a:p>
    </p188:txBody>
  </p188:cm>
</p188:cmLst>
</file>

<file path=ppt/comments/modernComment_5D7_8F1DAF6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23F0267-297C-483E-AB89-B4CB79F13460}" authorId="{DC7D497B-7AD7-723A-043A-6745C347B782}" created="2025-10-14T07:40:35.649">
    <pc:sldMkLst xmlns:pc="http://schemas.microsoft.com/office/powerpoint/2013/main/command">
      <pc:docMk/>
      <pc:sldMk cId="1772552169" sldId="1492"/>
    </pc:sldMkLst>
    <p188:txBody>
      <a:bodyPr/>
      <a:lstStyle/>
      <a:p>
        <a:r>
          <a:rPr lang="zh-CN" altLang="en-US"/>
          <a:t>一般来写一下 上周都做了些什么 完成了些什么 ？</a:t>
        </a:r>
      </a:p>
    </p188:txBody>
  </p188:cm>
</p188:cmLst>
</file>

<file path=ppt/comments/modernComment_5D8_604C2D1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1BFE8E6-CEE5-4EE6-BB68-1CF953770846}" authorId="{DC7D497B-7AD7-723A-043A-6745C347B782}" created="2025-10-14T07:40:35.649">
    <pc:sldMkLst xmlns:pc="http://schemas.microsoft.com/office/powerpoint/2013/main/command">
      <pc:docMk/>
      <pc:sldMk cId="1772552169" sldId="1492"/>
    </pc:sldMkLst>
    <p188:txBody>
      <a:bodyPr/>
      <a:lstStyle/>
      <a:p>
        <a:r>
          <a:rPr lang="zh-CN" altLang="en-US"/>
          <a:t>一般来写一下 上周都做了些什么 完成了些什么 ？</a:t>
        </a:r>
      </a:p>
    </p188:txBody>
  </p188:cm>
</p188:cmLst>
</file>

<file path=ppt/comments/modernComment_5D9_C8898A6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85652A2-EB95-4EB0-8C62-76EB30FB81B3}" authorId="{DC7D497B-7AD7-723A-043A-6745C347B782}" created="2025-10-14T07:40:35.649">
    <pc:sldMkLst xmlns:pc="http://schemas.microsoft.com/office/powerpoint/2013/main/command">
      <pc:docMk/>
      <pc:sldMk cId="1772552169" sldId="1492"/>
    </pc:sldMkLst>
    <p188:txBody>
      <a:bodyPr/>
      <a:lstStyle/>
      <a:p>
        <a:r>
          <a:rPr lang="zh-CN" altLang="en-US"/>
          <a:t>一般来写一下 上周都做了些什么 完成了些什么 ？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45862" cy="497333"/>
          </a:xfrm>
          <a:prstGeom prst="rect">
            <a:avLst/>
          </a:prstGeom>
        </p:spPr>
        <p:txBody>
          <a:bodyPr vert="horz" lIns="88212" tIns="44107" rIns="88212" bIns="44107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295" y="3"/>
            <a:ext cx="2945862" cy="497333"/>
          </a:xfrm>
          <a:prstGeom prst="rect">
            <a:avLst/>
          </a:prstGeom>
        </p:spPr>
        <p:txBody>
          <a:bodyPr vert="horz" wrap="square" lIns="88212" tIns="44107" rIns="88212" bIns="4410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517FCCCD-D206-47CF-B944-0B3BF2D9079C}" type="datetimeFigureOut">
              <a:rPr lang="de-DE" altLang="de-DE"/>
              <a:pPr>
                <a:defRPr/>
              </a:pPr>
              <a:t>18.11.2025</a:t>
            </a:fld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307"/>
            <a:ext cx="2945862" cy="497333"/>
          </a:xfrm>
          <a:prstGeom prst="rect">
            <a:avLst/>
          </a:prstGeom>
        </p:spPr>
        <p:txBody>
          <a:bodyPr vert="horz" lIns="88212" tIns="44107" rIns="88212" bIns="44107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295" y="9429307"/>
            <a:ext cx="2945862" cy="497333"/>
          </a:xfrm>
          <a:prstGeom prst="rect">
            <a:avLst/>
          </a:prstGeom>
        </p:spPr>
        <p:txBody>
          <a:bodyPr vert="horz" wrap="square" lIns="88212" tIns="44107" rIns="88212" bIns="4410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D59670E0-7F84-4741-B550-65997F2A51FF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75535524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45862" cy="497333"/>
          </a:xfrm>
          <a:prstGeom prst="rect">
            <a:avLst/>
          </a:prstGeom>
        </p:spPr>
        <p:txBody>
          <a:bodyPr vert="horz" lIns="88212" tIns="44107" rIns="88212" bIns="44107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295" y="3"/>
            <a:ext cx="2945862" cy="497333"/>
          </a:xfrm>
          <a:prstGeom prst="rect">
            <a:avLst/>
          </a:prstGeom>
        </p:spPr>
        <p:txBody>
          <a:bodyPr vert="horz" wrap="square" lIns="88212" tIns="44107" rIns="88212" bIns="4410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8F27E609-FD42-4B8F-BE3E-F1EA95C6459B}" type="datetimeFigureOut">
              <a:rPr lang="de-DE" altLang="de-DE"/>
              <a:pPr>
                <a:defRPr/>
              </a:pPr>
              <a:t>18.11.2025</a:t>
            </a:fld>
            <a:endParaRPr lang="de-DE" alt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43013"/>
            <a:ext cx="5946775" cy="3346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12" tIns="44107" rIns="88212" bIns="44107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64" y="4777783"/>
            <a:ext cx="5438748" cy="3907835"/>
          </a:xfrm>
          <a:prstGeom prst="rect">
            <a:avLst/>
          </a:prstGeom>
        </p:spPr>
        <p:txBody>
          <a:bodyPr vert="horz" wrap="square" lIns="88212" tIns="44107" rIns="88212" bIns="441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Textmasterformat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307"/>
            <a:ext cx="2945862" cy="497333"/>
          </a:xfrm>
          <a:prstGeom prst="rect">
            <a:avLst/>
          </a:prstGeom>
        </p:spPr>
        <p:txBody>
          <a:bodyPr vert="horz" lIns="88212" tIns="44107" rIns="88212" bIns="44107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295" y="9429307"/>
            <a:ext cx="2945862" cy="497333"/>
          </a:xfrm>
          <a:prstGeom prst="rect">
            <a:avLst/>
          </a:prstGeom>
        </p:spPr>
        <p:txBody>
          <a:bodyPr vert="horz" wrap="square" lIns="88212" tIns="44107" rIns="88212" bIns="4410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26920C50-29F7-474C-BAE4-5B8F6564B22A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390345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8991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-1776413" y="479425"/>
            <a:ext cx="1576388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Institutslogo: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Dateiformat: PNG in RGB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Skalieren auf</a:t>
            </a:r>
          </a:p>
          <a:p>
            <a:pPr eaLnBrk="1" hangingPunct="1">
              <a:defRPr/>
            </a:pPr>
            <a:r>
              <a:rPr lang="de-DE" altLang="de-DE" sz="1000"/>
              <a:t>     Höhe: 2,26 cm</a:t>
            </a:r>
          </a:p>
          <a:p>
            <a:pPr eaLnBrk="1" hangingPunct="1">
              <a:defRPr/>
            </a:pPr>
            <a:r>
              <a:rPr lang="de-DE" altLang="de-DE" sz="1000"/>
              <a:t>     (Breite variiert je nach   </a:t>
            </a:r>
          </a:p>
          <a:p>
            <a:pPr eaLnBrk="1" hangingPunct="1">
              <a:defRPr/>
            </a:pPr>
            <a:r>
              <a:rPr lang="de-DE" altLang="de-DE" sz="1000"/>
              <a:t>     Schutzraum)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076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feld 7"/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42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2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pic>
        <p:nvPicPr>
          <p:cNvPr id="5" name="Grafik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1999" cy="4533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84000" y="5230801"/>
            <a:ext cx="114840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552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3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627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7"/>
          <p:cNvCxnSpPr/>
          <p:nvPr/>
        </p:nvCxnSpPr>
        <p:spPr>
          <a:xfrm>
            <a:off x="392113" y="30368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841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373038" y="1684800"/>
            <a:ext cx="11484000" cy="3193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757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383117" y="1684801"/>
            <a:ext cx="11484000" cy="3751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67593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2/3_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74412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/>
          </p:nvPr>
        </p:nvSpPr>
        <p:spPr>
          <a:xfrm>
            <a:off x="384000" y="1684801"/>
            <a:ext cx="7441200" cy="3751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Inhaltsplatzhalter 7"/>
          <p:cNvSpPr>
            <a:spLocks noGrp="1"/>
          </p:cNvSpPr>
          <p:nvPr>
            <p:ph sz="quarter" idx="15"/>
          </p:nvPr>
        </p:nvSpPr>
        <p:spPr>
          <a:xfrm>
            <a:off x="8149199" y="1684801"/>
            <a:ext cx="3718800" cy="3751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6"/>
          </p:nvPr>
        </p:nvSpPr>
        <p:spPr>
          <a:xfrm>
            <a:off x="8149199" y="1152000"/>
            <a:ext cx="37188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13598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_1/3_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/>
          <p:cNvSpPr>
            <a:spLocks noGrp="1"/>
          </p:cNvSpPr>
          <p:nvPr>
            <p:ph sz="quarter" idx="14"/>
          </p:nvPr>
        </p:nvSpPr>
        <p:spPr>
          <a:xfrm>
            <a:off x="4426800" y="1684801"/>
            <a:ext cx="7441200" cy="3751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Inhaltsplatzhalter 7"/>
          <p:cNvSpPr>
            <a:spLocks noGrp="1"/>
          </p:cNvSpPr>
          <p:nvPr>
            <p:ph sz="quarter" idx="15"/>
          </p:nvPr>
        </p:nvSpPr>
        <p:spPr>
          <a:xfrm>
            <a:off x="384000" y="1684801"/>
            <a:ext cx="3718800" cy="3751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426800" y="1152000"/>
            <a:ext cx="74412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6"/>
          </p:nvPr>
        </p:nvSpPr>
        <p:spPr>
          <a:xfrm>
            <a:off x="384000" y="1152000"/>
            <a:ext cx="37188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4327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1684338"/>
            <a:ext cx="3635375" cy="398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platzhalter 11"/>
          <p:cNvSpPr>
            <a:spLocks noGrp="1"/>
          </p:cNvSpPr>
          <p:nvPr>
            <p:ph type="body" sz="quarter" idx="14"/>
          </p:nvPr>
        </p:nvSpPr>
        <p:spPr>
          <a:xfrm>
            <a:off x="383117" y="1684800"/>
            <a:ext cx="7560000" cy="398595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2045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152525"/>
            <a:ext cx="11480800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83117" y="5359401"/>
            <a:ext cx="11484000" cy="4995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90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5969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383117" y="1684800"/>
            <a:ext cx="11484000" cy="3632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 noProof="0"/>
              <a:t>Diagramm durch Klicken auf Symbol hinzufügen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79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>
                <a:solidFill>
                  <a:schemeClr val="tx2"/>
                </a:solidFill>
              </a:rPr>
              <a:t>Vielen Dank</a:t>
            </a:r>
            <a:br>
              <a:rPr lang="de-DE" altLang="de-DE" sz="3200" b="1">
                <a:solidFill>
                  <a:schemeClr val="tx2"/>
                </a:solidFill>
              </a:rPr>
            </a:br>
            <a:r>
              <a:rPr lang="de-DE" altLang="de-DE" sz="3200" b="1">
                <a:solidFill>
                  <a:schemeClr val="tx2"/>
                </a:solidFill>
              </a:rPr>
              <a:t>für Ihre Aufmerksamkeit</a:t>
            </a:r>
            <a:endParaRPr lang="en-US" altLang="de-DE" sz="3200" b="1">
              <a:solidFill>
                <a:schemeClr val="tx2"/>
              </a:solidFill>
            </a:endParaRPr>
          </a:p>
        </p:txBody>
      </p:sp>
      <p:cxnSp>
        <p:nvCxnSpPr>
          <p:cNvPr id="5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876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 txBox="1">
            <a:spLocks/>
          </p:cNvSpPr>
          <p:nvPr/>
        </p:nvSpPr>
        <p:spPr>
          <a:xfrm>
            <a:off x="1195388" y="6227764"/>
            <a:ext cx="7002462" cy="395286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050" kern="1200" baseline="0" dirty="0">
                <a:solidFill>
                  <a:schemeClr val="tx2"/>
                </a:solidFill>
                <a:latin typeface="Arial" pitchFamily="34" charset="0"/>
                <a:ea typeface="ＭＳ Ｐゴシック" pitchFamily="34" charset="-128"/>
                <a:cs typeface="+mn-cs"/>
              </a:rPr>
              <a:t>Teaser-Folie I Projekt/Bachelor/Masterarbeit von Vorname Name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050" kern="1200" baseline="0" dirty="0">
                <a:solidFill>
                  <a:schemeClr val="tx2"/>
                </a:solidFill>
                <a:latin typeface="Arial" pitchFamily="34" charset="0"/>
                <a:ea typeface="ＭＳ Ｐゴシック" pitchFamily="34" charset="-128"/>
                <a:cs typeface="+mn-cs"/>
              </a:rPr>
              <a:t> Titel der Arbeit I Datum</a:t>
            </a:r>
            <a:endParaRPr lang="de-DE" altLang="de-DE" sz="1050" kern="1200" baseline="0" dirty="0">
              <a:solidFill>
                <a:schemeClr val="tx2"/>
              </a:solidFill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cxnSp>
        <p:nvCxnSpPr>
          <p:cNvPr id="11" name="Gerader Verbinder 10"/>
          <p:cNvCxnSpPr/>
          <p:nvPr/>
        </p:nvCxnSpPr>
        <p:spPr>
          <a:xfrm>
            <a:off x="360363" y="8143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feld 6"/>
          <p:cNvSpPr txBox="1">
            <a:spLocks noChangeArrowheads="1"/>
          </p:cNvSpPr>
          <p:nvPr/>
        </p:nvSpPr>
        <p:spPr bwMode="auto">
          <a:xfrm>
            <a:off x="-1784350" y="5073650"/>
            <a:ext cx="1668462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Fußzeile anpassen:</a:t>
            </a:r>
            <a:endParaRPr lang="de-DE" altLang="de-DE" sz="1000"/>
          </a:p>
          <a:p>
            <a:pPr eaLnBrk="1" hangingPunct="1">
              <a:defRPr/>
            </a:pPr>
            <a:r>
              <a:rPr lang="de-DE" altLang="de-DE" sz="1000"/>
              <a:t>Zum Anpassen der Fußzeile unter Karteireiter Ansicht &gt; auf Folienmaster klicken. Links in der Übersicht auf die oberste Folie scrollen und dort in die Fußzeile klicken. So wird der Text automatisch auf allen Seiten angepasst.</a:t>
            </a:r>
            <a:endParaRPr lang="de-DE" altLang="de-DE" sz="1000" b="1"/>
          </a:p>
        </p:txBody>
      </p:sp>
      <p:sp>
        <p:nvSpPr>
          <p:cNvPr id="1031" name="Textfeld 13"/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2220154-828B-4C84-BC39-BAE48C2A1705}" type="slidenum">
              <a:rPr lang="de-DE" altLang="de-DE" sz="1050">
                <a:solidFill>
                  <a:schemeClr val="tx2"/>
                </a:solidFill>
              </a:rPr>
              <a:pPr eaLnBrk="1" hangingPunct="1"/>
              <a:t>‹#›</a:t>
            </a:fld>
            <a:endParaRPr lang="de-DE" altLang="de-DE" sz="1050" dirty="0">
              <a:solidFill>
                <a:schemeClr val="tx2"/>
              </a:solidFill>
            </a:endParaRP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57" r:id="rId6"/>
    <p:sldLayoutId id="2147483858" r:id="rId7"/>
    <p:sldLayoutId id="2147483868" r:id="rId8"/>
    <p:sldLayoutId id="2147483869" r:id="rId9"/>
    <p:sldLayoutId id="2147483865" r:id="rId10"/>
    <p:sldLayoutId id="2147483866" r:id="rId11"/>
    <p:sldLayoutId id="2147483859" r:id="rId12"/>
    <p:sldLayoutId id="2147483867" r:id="rId13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3_9A3E1C86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8/10/relationships/comments" Target="../comments/modernComment_5D8_604C2D1B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8/10/relationships/comments" Target="../comments/modernComment_5D4_69A6FFE9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7_8F1DAF6D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9_C8898A6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5_2D29FAA8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6_800809FF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Vorname Name, Betreut durch: Vorname Name des/r Betreuers/in, Datum 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>
          <a:xfrm>
            <a:off x="384000" y="1158150"/>
            <a:ext cx="11484000" cy="252000"/>
          </a:xfrm>
        </p:spPr>
        <p:txBody>
          <a:bodyPr/>
          <a:lstStyle/>
          <a:p>
            <a:r>
              <a:rPr lang="de-DE" dirty="0"/>
              <a:t>Projekt/Bachelor/Masterarbeitsvortrag: Titel der Arbeit</a:t>
            </a:r>
          </a:p>
        </p:txBody>
      </p:sp>
      <p:sp>
        <p:nvSpPr>
          <p:cNvPr id="5" name="CustomShape 2"/>
          <p:cNvSpPr/>
          <p:nvPr/>
        </p:nvSpPr>
        <p:spPr>
          <a:xfrm>
            <a:off x="693043" y="1924977"/>
            <a:ext cx="4859337" cy="3525516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>
            <a:spAutoFit/>
          </a:bodyPr>
          <a:lstStyle/>
          <a:p>
            <a:pPr marL="286020" indent="-285750" eaLnBrk="1" fontAlgn="auto" hangingPunct="1">
              <a:spcBef>
                <a:spcPts val="451"/>
              </a:spcBef>
              <a:spcAft>
                <a:spcPts val="0"/>
              </a:spcAft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3 oder 4 Stickpunkte 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für Hauptergebnisse und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 Weniger als 15 Wörter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 pro Stichpunkt</a:t>
            </a:r>
          </a:p>
          <a:p>
            <a:pPr marL="286020" indent="-285750" eaLnBrk="1" fontAlgn="auto" hangingPunct="1">
              <a:spcBef>
                <a:spcPts val="451"/>
              </a:spcBef>
              <a:spcAft>
                <a:spcPts val="0"/>
              </a:spcAft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endParaRPr lang="de-DE" sz="1600" spc="-1" dirty="0">
              <a:solidFill>
                <a:srgbClr val="000000"/>
              </a:solidFill>
              <a:ea typeface="PMingLiU"/>
            </a:endParaRPr>
          </a:p>
          <a:p>
            <a:pPr marL="286020" indent="-285750" eaLnBrk="1" fontAlgn="auto" hangingPunct="1">
              <a:spcBef>
                <a:spcPts val="451"/>
              </a:spcBef>
              <a:spcAft>
                <a:spcPts val="0"/>
              </a:spcAft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Nur</a:t>
            </a:r>
            <a:r>
              <a:rPr lang="de-DE" sz="1600" b="1" i="1" spc="-1" dirty="0">
                <a:solidFill>
                  <a:srgbClr val="000000"/>
                </a:solidFill>
                <a:ea typeface="PMingLiU"/>
              </a:rPr>
              <a:t> 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1 Bild 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(dafür das Bild zur Rechten durch eigenes Bild ersetzen)</a:t>
            </a:r>
            <a:endParaRPr lang="de-DE" sz="1600" spc="-1" dirty="0"/>
          </a:p>
          <a:p>
            <a:pPr marL="286020" indent="-285750" eaLnBrk="1" fontAlgn="auto" hangingPunct="1">
              <a:spcBef>
                <a:spcPts val="451"/>
              </a:spcBef>
              <a:spcAft>
                <a:spcPts val="0"/>
              </a:spcAft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r>
              <a:rPr lang="de-DE" sz="1600" spc="-1" dirty="0">
                <a:solidFill>
                  <a:srgbClr val="000000"/>
                </a:solidFill>
                <a:ea typeface="PMingLiU"/>
              </a:rPr>
              <a:t>Die Teaser-Folie </a:t>
            </a:r>
            <a:r>
              <a:rPr lang="de-DE" sz="1600" spc="-1">
                <a:solidFill>
                  <a:srgbClr val="000000"/>
                </a:solidFill>
                <a:ea typeface="PMingLiU"/>
              </a:rPr>
              <a:t>sollte als </a:t>
            </a:r>
            <a:r>
              <a:rPr lang="de-DE" sz="1600" b="1" spc="-1" dirty="0" err="1">
                <a:solidFill>
                  <a:srgbClr val="000000"/>
                </a:solidFill>
                <a:ea typeface="PMingLiU"/>
              </a:rPr>
              <a:t>pdf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 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1 Woche 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vor dem Vortrag im </a:t>
            </a:r>
            <a:r>
              <a:rPr lang="de-DE" sz="1600" spc="-1" dirty="0" err="1">
                <a:solidFill>
                  <a:srgbClr val="000000"/>
                </a:solidFill>
                <a:ea typeface="PMingLiU"/>
              </a:rPr>
              <a:t>wiki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 hochgeladen und verlinkt werden (max. 2MB)</a:t>
            </a:r>
          </a:p>
          <a:p>
            <a:pPr marL="286020" indent="-285750" eaLnBrk="1" fontAlgn="auto" hangingPunct="1">
              <a:spcBef>
                <a:spcPts val="451"/>
              </a:spcBef>
              <a:spcAft>
                <a:spcPts val="0"/>
              </a:spcAft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r>
              <a:rPr lang="de-DE" sz="1600" spc="-1" dirty="0">
                <a:solidFill>
                  <a:srgbClr val="000000"/>
                </a:solidFill>
                <a:ea typeface="PMingLiU"/>
              </a:rPr>
              <a:t>Formatierung beibehalten: 16:9 – Format, IRT – Master, 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Arial 20pt 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Schriftart in Fett für den Titel,   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Arial 16pt 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Schriftart für 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kurze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 Ausführung der Hauptergebnisse der Arbeit </a:t>
            </a:r>
          </a:p>
          <a:p>
            <a:pPr marL="285750" indent="-285750"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endParaRPr lang="de-DE" sz="1600" spc="-1" dirty="0">
              <a:solidFill>
                <a:srgbClr val="000000"/>
              </a:solidFill>
              <a:ea typeface="PMingLiU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7971502" y="4977582"/>
            <a:ext cx="3292631" cy="283603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67500" tIns="33750" rIns="67500" bIns="3375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spc="-1" dirty="0" err="1">
                <a:solidFill>
                  <a:srgbClr val="000000"/>
                </a:solidFill>
                <a:ea typeface="PMingLiU"/>
              </a:rPr>
              <a:t>Bildunterschrift</a:t>
            </a:r>
            <a:r>
              <a:rPr lang="en-US" sz="1400" spc="-1" dirty="0">
                <a:solidFill>
                  <a:srgbClr val="000000"/>
                </a:solidFill>
                <a:ea typeface="PMingLiU"/>
              </a:rPr>
              <a:t> </a:t>
            </a:r>
            <a:r>
              <a:rPr lang="en-US" sz="1400" spc="-1" dirty="0" err="1">
                <a:solidFill>
                  <a:srgbClr val="000000"/>
                </a:solidFill>
                <a:ea typeface="PMingLiU"/>
              </a:rPr>
              <a:t>ist</a:t>
            </a:r>
            <a:r>
              <a:rPr lang="en-US" sz="1400" spc="-1" dirty="0">
                <a:solidFill>
                  <a:srgbClr val="000000"/>
                </a:solidFill>
                <a:ea typeface="PMingLiU"/>
              </a:rPr>
              <a:t> optional, </a:t>
            </a:r>
            <a:r>
              <a:rPr lang="en-US" sz="1400" b="1" spc="-1" dirty="0">
                <a:solidFill>
                  <a:srgbClr val="000000"/>
                </a:solidFill>
                <a:ea typeface="PMingLiU"/>
              </a:rPr>
              <a:t>Arial 14pt</a:t>
            </a:r>
            <a:endParaRPr lang="en-US" sz="1400" b="1" spc="-1" dirty="0"/>
          </a:p>
        </p:txBody>
      </p:sp>
      <p:sp>
        <p:nvSpPr>
          <p:cNvPr id="8" name="CustomShape 5"/>
          <p:cNvSpPr/>
          <p:nvPr/>
        </p:nvSpPr>
        <p:spPr>
          <a:xfrm>
            <a:off x="7309935" y="2426208"/>
            <a:ext cx="4472650" cy="2408327"/>
          </a:xfrm>
          <a:prstGeom prst="rect">
            <a:avLst/>
          </a:prstGeom>
          <a:blipFill rotWithShape="0">
            <a:blip r:embed="rId3"/>
            <a:tile/>
          </a:blip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9717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15A0200-94A9-1893-FE11-5F49FC2C39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改了内容 为了方便后续的处理增加了数据处理之后的一列 </a:t>
            </a:r>
            <a:r>
              <a:rPr lang="en-US" altLang="zh-CN" dirty="0"/>
              <a:t>sat type</a:t>
            </a:r>
          </a:p>
          <a:p>
            <a:r>
              <a:rPr lang="en-US" altLang="zh-CN" dirty="0"/>
              <a:t>2 </a:t>
            </a:r>
            <a:r>
              <a:rPr lang="zh-CN" altLang="en-US" dirty="0"/>
              <a:t>之前的 没有 </a:t>
            </a:r>
            <a:r>
              <a:rPr lang="en-US" altLang="zh-CN" dirty="0"/>
              <a:t>sat type   </a:t>
            </a:r>
          </a:p>
          <a:p>
            <a:r>
              <a:rPr lang="en-US" altLang="zh-CN" dirty="0"/>
              <a:t>3 </a:t>
            </a:r>
            <a:r>
              <a:rPr lang="zh-CN" altLang="en-US" dirty="0"/>
              <a:t>之前的只是一个    两个的只能预测出来是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0</a:t>
            </a:r>
            <a:r>
              <a:rPr lang="zh-CN" altLang="en-US" dirty="0"/>
              <a:t>，如果混合模型的话是可以多个</a:t>
            </a:r>
            <a:r>
              <a:rPr lang="en-US" altLang="zh-CN" dirty="0"/>
              <a:t>l</a:t>
            </a:r>
          </a:p>
          <a:p>
            <a:r>
              <a:rPr lang="en-US" altLang="zh-CN" dirty="0"/>
              <a:t>4 </a:t>
            </a:r>
            <a:r>
              <a:rPr lang="zh-CN" altLang="en-US" dirty="0"/>
              <a:t>查了一下 数据平衡还是主要是 特征平衡     因为 如果 不是特征平衡的话 对于输入 </a:t>
            </a:r>
            <a:r>
              <a:rPr lang="en-US" altLang="zh-CN" dirty="0" err="1"/>
              <a:t>svm</a:t>
            </a:r>
            <a:r>
              <a:rPr lang="zh-CN" altLang="en-US" dirty="0"/>
              <a:t>的数据还是不平衡， 所以特征提取器我训练是使用损失函数 权重来平衡，</a:t>
            </a:r>
            <a:r>
              <a:rPr lang="en-US" altLang="zh-CN" dirty="0" err="1"/>
              <a:t>svm</a:t>
            </a:r>
            <a:r>
              <a:rPr lang="zh-CN" altLang="en-US" dirty="0"/>
              <a:t>是使用输出的特征平衡。 有专门做的 数据平衡函数 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以为不会出错 直接在源代码改的 </a:t>
            </a:r>
            <a:endParaRPr lang="en-US" altLang="zh-CN" dirty="0"/>
          </a:p>
          <a:p>
            <a:r>
              <a:rPr lang="en-US" altLang="zh-CN" dirty="0"/>
              <a:t>6 </a:t>
            </a:r>
            <a:r>
              <a:rPr lang="zh-CN" altLang="en-US" dirty="0"/>
              <a:t>训练模型速度有些慢   但是 又在想就二分类的模型应该也不太会怎么难   但是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 </a:t>
            </a:r>
            <a:r>
              <a:rPr lang="zh-CN" altLang="en-US" dirty="0"/>
              <a:t>讨论问一下 后续的非时序信号可以用什么 我之前错误的认为 </a:t>
            </a:r>
            <a:r>
              <a:rPr lang="en-US" altLang="zh-CN" dirty="0" err="1"/>
              <a:t>cnn</a:t>
            </a:r>
            <a:r>
              <a:rPr lang="zh-CN" altLang="en-US" dirty="0"/>
              <a:t>可以做非时序特征提取</a:t>
            </a:r>
            <a:endParaRPr lang="en-US" altLang="zh-CN" dirty="0"/>
          </a:p>
          <a:p>
            <a:r>
              <a:rPr lang="en-US" altLang="zh-CN" dirty="0"/>
              <a:t>4 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两个模型反而没有一个模型的性能好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BDA6A6A-207E-5BDB-4347-74665AC35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1.Questions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6CC0F6-26FF-8C88-2E83-0DAD81C1D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776179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A19A3-9C3F-CBD5-BE6D-150991849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0CEAC33-49D3-6406-4591-97DAB0E95C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现在的 和之前的对比  并且是</a:t>
            </a: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稍微的格式和程序样式修改＋加上一些功能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</a:t>
            </a:r>
          </a:p>
          <a:p>
            <a:pPr marL="0" indent="0">
              <a:buNone/>
            </a:pPr>
            <a:r>
              <a:rPr lang="zh-CN" altLang="en-US" dirty="0"/>
              <a:t>现在的问题我个人认为在特征提取器上 但是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我自己还没有怎么改 只是改了改格式 逻辑我</a:t>
            </a:r>
            <a:br>
              <a:rPr lang="en-US" altLang="zh-CN" dirty="0"/>
            </a:br>
            <a:r>
              <a:rPr lang="zh-CN" altLang="en-US" dirty="0"/>
              <a:t>认为是可以跑通的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0DD8D83-CDCF-4886-49AC-060BD2379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2.Progress Overview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AEA8BA-1856-7380-7756-A0905BD1C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数据处理的问题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8767AF3-A194-6375-6267-6EF79583A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088" y="292144"/>
            <a:ext cx="3303185" cy="278454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154F225-9812-34D2-9020-99ADBE577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138" y="292144"/>
            <a:ext cx="3303185" cy="278454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30ADB0A-C9AE-A3E5-33C4-F29D04B77F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9877" y="3217089"/>
            <a:ext cx="5926633" cy="248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6050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71E05A6-7AD4-D044-4BFE-8C7C650328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在训练过程中 提取出来的特征 大部分都是 </a:t>
            </a:r>
            <a:r>
              <a:rPr lang="en-US" altLang="zh-CN" dirty="0"/>
              <a:t>nan</a:t>
            </a:r>
          </a:p>
          <a:p>
            <a:r>
              <a:rPr lang="zh-CN" altLang="en-US" dirty="0"/>
              <a:t>但是之前是没有做标准化的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7CC2BCC-8415-D0FE-0866-FA2B1B54F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2.Progress Overview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F14CB5-223F-2993-005C-2EFAEE1E7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数据处理的问题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09D0869-0A85-62B8-A657-425FA6C27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7120" y="1896294"/>
            <a:ext cx="4533333" cy="17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521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26BBA-CF62-10B8-753C-91F01B7F0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CD334D8-86F9-04EE-9E5D-16920932B6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err="1"/>
              <a:t>Cnn</a:t>
            </a:r>
            <a:r>
              <a:rPr lang="en-US" altLang="zh-CN" dirty="0"/>
              <a:t> </a:t>
            </a:r>
            <a:r>
              <a:rPr lang="zh-CN" altLang="en-US" dirty="0"/>
              <a:t>我看了 也是 时序的信号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015098D-4FA5-1A9B-100A-DE92D76B8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2.Progress Overview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29EA50-960A-772D-679D-8EA8973BE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数据处理的问题</a:t>
            </a:r>
          </a:p>
        </p:txBody>
      </p:sp>
    </p:spTree>
    <p:extLst>
      <p:ext uri="{BB962C8B-B14F-4D97-AF65-F5344CB8AC3E}">
        <p14:creationId xmlns:p14="http://schemas.microsoft.com/office/powerpoint/2010/main" val="24010873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5DAB7-873E-3B0A-5E8C-5FD5170C4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7D32B52-4F8F-66F8-2B00-02FFE0A708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对于 模型评估 这块之前的问题</a:t>
            </a:r>
            <a:r>
              <a:rPr lang="zh-CN" altLang="en-US" dirty="0">
                <a:solidFill>
                  <a:srgbClr val="FF0000"/>
                </a:solidFill>
              </a:rPr>
              <a:t>是 </a:t>
            </a:r>
            <a:r>
              <a:rPr lang="en-US" altLang="zh-CN" dirty="0">
                <a:solidFill>
                  <a:srgbClr val="FF0000"/>
                </a:solidFill>
              </a:rPr>
              <a:t>84   0   </a:t>
            </a:r>
            <a:r>
              <a:rPr lang="zh-CN" altLang="en-US" dirty="0"/>
              <a:t>个 样本点的意思  就是 </a:t>
            </a:r>
            <a:r>
              <a:rPr lang="en-US" altLang="zh-CN" dirty="0"/>
              <a:t>84</a:t>
            </a:r>
            <a:r>
              <a:rPr lang="zh-CN" altLang="en-US" dirty="0"/>
              <a:t>个时间点   在这</a:t>
            </a:r>
            <a:r>
              <a:rPr lang="en-US" altLang="zh-CN" dirty="0"/>
              <a:t>84</a:t>
            </a:r>
            <a:r>
              <a:rPr lang="zh-CN" altLang="en-US" dirty="0"/>
              <a:t>个时间点来去 计算对应的位置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FC15857-701A-217F-F2BC-3BA0BFBE7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2.Progress Overview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CF076A-9192-47DC-B11D-879BD2DAB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数据处理的问题</a:t>
            </a:r>
          </a:p>
        </p:txBody>
      </p:sp>
    </p:spTree>
    <p:extLst>
      <p:ext uri="{BB962C8B-B14F-4D97-AF65-F5344CB8AC3E}">
        <p14:creationId xmlns:p14="http://schemas.microsoft.com/office/powerpoint/2010/main" val="336445705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2A56887-C91A-1F54-CBEB-E1EAC29592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3B1BFA4-B7AB-E140-1DD3-C999F875F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3.Challenges &amp; Solutions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F900E7-18ED-6CC1-3F80-7C04B3116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72586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E2AB971-AD86-413C-F120-B9511FB43C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问题 </a:t>
            </a:r>
            <a:r>
              <a:rPr lang="en-US" altLang="zh-CN" dirty="0"/>
              <a:t>1 </a:t>
            </a:r>
            <a:r>
              <a:rPr lang="zh-CN" altLang="en-US" dirty="0"/>
              <a:t>评估 模型 应该是 </a:t>
            </a:r>
            <a:r>
              <a:rPr lang="en-US" altLang="zh-CN" dirty="0"/>
              <a:t>10</a:t>
            </a:r>
            <a:r>
              <a:rPr lang="zh-CN" altLang="en-US" dirty="0"/>
              <a:t>再加</a:t>
            </a:r>
            <a:r>
              <a:rPr lang="en-US" altLang="zh-CN" dirty="0"/>
              <a:t>10</a:t>
            </a:r>
            <a:r>
              <a:rPr lang="zh-CN" altLang="en-US" dirty="0"/>
              <a:t>个点       </a:t>
            </a:r>
            <a:r>
              <a:rPr lang="en-US" altLang="zh-CN" dirty="0"/>
              <a:t>84</a:t>
            </a:r>
            <a:r>
              <a:rPr lang="zh-CN" altLang="en-US" dirty="0"/>
              <a:t>秒           </a:t>
            </a:r>
            <a:r>
              <a:rPr lang="en-US" altLang="zh-CN" dirty="0"/>
              <a:t>10hz</a:t>
            </a:r>
            <a:r>
              <a:rPr lang="zh-CN" altLang="en-US" dirty="0"/>
              <a:t>是</a:t>
            </a:r>
            <a:r>
              <a:rPr lang="en-US" altLang="zh-CN" dirty="0"/>
              <a:t>840</a:t>
            </a:r>
            <a:r>
              <a:rPr lang="zh-CN" altLang="en-US" dirty="0"/>
              <a:t>个点 </a:t>
            </a:r>
            <a:endParaRPr lang="en-US" altLang="zh-CN" dirty="0"/>
          </a:p>
          <a:p>
            <a:r>
              <a:rPr lang="en-US" altLang="zh-CN" dirty="0"/>
              <a:t>2 </a:t>
            </a:r>
            <a:r>
              <a:rPr lang="zh-CN" altLang="en-US" dirty="0"/>
              <a:t>两个 模型没有一个模型好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A7E890C-2E17-3EFD-8B75-E0C9EC5A8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4.Next Week Goal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CFFCC9-4B03-D9F1-FE38-6481C0687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0104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Präsentation_Master_RWTH_Institute_16zu9">
  <a:themeElements>
    <a:clrScheme name="RWTH Farben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BDCD00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_Master_RWTH_Verwaltung_ohne_addin_16zu9.pot [Kompatibilitätsmodus]" id="{12157BE7-C41B-4251-A630-7876F5189DEC}" vid="{D5CAF79C-9B5F-40C2-AC3C-45C714C492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Präsentationsvorlage_IRT</Template>
  <TotalTime>4293</TotalTime>
  <Words>457</Words>
  <Application>Microsoft Office PowerPoint</Application>
  <PresentationFormat>宽屏</PresentationFormat>
  <Paragraphs>42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PMingLiU</vt:lpstr>
      <vt:lpstr>Arial</vt:lpstr>
      <vt:lpstr>Calibri</vt:lpstr>
      <vt:lpstr>Symbol</vt:lpstr>
      <vt:lpstr>Wingdings</vt:lpstr>
      <vt:lpstr>Präsentation_Master_RWTH_Institute_16zu9</vt:lpstr>
      <vt:lpstr>Vorname Name, Betreut durch: Vorname Name des/r Betreuers/in, Datum </vt:lpstr>
      <vt:lpstr>1.Questions</vt:lpstr>
      <vt:lpstr>2.Progress Overview</vt:lpstr>
      <vt:lpstr>2.Progress Overview</vt:lpstr>
      <vt:lpstr>2.Progress Overview</vt:lpstr>
      <vt:lpstr>2.Progress Overview</vt:lpstr>
      <vt:lpstr>3.Challenges &amp; Solutions</vt:lpstr>
      <vt:lpstr>4.Next Week Goal</vt:lpstr>
    </vt:vector>
  </TitlesOfParts>
  <Company>Institut für Regelungstechnik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Florian Baader</dc:creator>
  <cp:lastModifiedBy>jiayu yang</cp:lastModifiedBy>
  <cp:revision>1535</cp:revision>
  <cp:lastPrinted>2020-01-08T09:35:20Z</cp:lastPrinted>
  <dcterms:created xsi:type="dcterms:W3CDTF">2018-05-24T07:56:59Z</dcterms:created>
  <dcterms:modified xsi:type="dcterms:W3CDTF">2025-11-20T10:26:23Z</dcterms:modified>
</cp:coreProperties>
</file>