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5D3_9A3E1C86.xml" ContentType="application/vnd.ms-powerpoint.comments+xml"/>
  <Override PartName="/ppt/comments/modernComment_5D4_69A6FFE9.xml" ContentType="application/vnd.ms-powerpoint.comments+xml"/>
  <Override PartName="/ppt/comments/modernComment_5D8_3F002680.xml" ContentType="application/vnd.ms-powerpoint.comments+xml"/>
  <Override PartName="/ppt/comments/modernComment_5D5_2D29FAA8.xml" ContentType="application/vnd.ms-powerpoint.comments+xml"/>
  <Override PartName="/ppt/comments/modernComment_5D6_800809FF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8" r:id="rId1"/>
  </p:sldMasterIdLst>
  <p:notesMasterIdLst>
    <p:notesMasterId r:id="rId9"/>
  </p:notesMasterIdLst>
  <p:handoutMasterIdLst>
    <p:handoutMasterId r:id="rId10"/>
  </p:handoutMasterIdLst>
  <p:sldIdLst>
    <p:sldId id="1490" r:id="rId2"/>
    <p:sldId id="1491" r:id="rId3"/>
    <p:sldId id="1492" r:id="rId4"/>
    <p:sldId id="1496" r:id="rId5"/>
    <p:sldId id="1495" r:id="rId6"/>
    <p:sldId id="1493" r:id="rId7"/>
    <p:sldId id="1494" r:id="rId8"/>
  </p:sldIdLst>
  <p:sldSz cx="12192000" cy="6858000"/>
  <p:notesSz cx="6797675" cy="9926638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C7D497B-7AD7-723A-043A-6745C347B782}" name="jiayu yang" initials="jy" userId="8067bb61bfadfd73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BAE5"/>
    <a:srgbClr val="00549F"/>
    <a:srgbClr val="E9F1FA"/>
    <a:srgbClr val="272727"/>
    <a:srgbClr val="962F2F"/>
    <a:srgbClr val="57AB27"/>
    <a:srgbClr val="438CD4"/>
    <a:srgbClr val="A6A6A6"/>
    <a:srgbClr val="D5DDE6"/>
    <a:srgbClr val="2980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EBBBCC-DAD2-459C-BE2E-F6DE35CF9A28}" styleName="Dunkle Formatvorlage 2 - Akzent 3/Akz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5" autoAdjust="0"/>
    <p:restoredTop sz="96265" autoAdjust="0"/>
  </p:normalViewPr>
  <p:slideViewPr>
    <p:cSldViewPr snapToGrid="0" showGuides="1">
      <p:cViewPr>
        <p:scale>
          <a:sx n="100" d="100"/>
          <a:sy n="100" d="100"/>
        </p:scale>
        <p:origin x="1194" y="31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84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howGuides="1">
      <p:cViewPr varScale="1">
        <p:scale>
          <a:sx n="61" d="100"/>
          <a:sy n="61" d="100"/>
        </p:scale>
        <p:origin x="2691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omments/modernComment_5D3_9A3E1C8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5371CBC-7ABD-4994-A10C-BE3C8476038E}" authorId="{DC7D497B-7AD7-723A-043A-6745C347B782}" created="2025-10-14T07:41:27.242">
    <pc:sldMkLst xmlns:pc="http://schemas.microsoft.com/office/powerpoint/2013/main/command">
      <pc:docMk/>
      <pc:sldMk cId="2587761798" sldId="1491"/>
    </pc:sldMkLst>
    <p188:txBody>
      <a:bodyPr/>
      <a:lstStyle/>
      <a:p>
        <a:r>
          <a:rPr lang="zh-CN" altLang="en-US"/>
          <a:t>这个 主要是记录上一次meeting 遗留的一些问题任务 是否解决 或还存在的问题</a:t>
        </a:r>
      </a:p>
    </p188:txBody>
  </p188:cm>
</p188:cmLst>
</file>

<file path=ppt/comments/modernComment_5D4_69A6FFE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695E649-A45E-454C-B06F-0127E9B0A459}" authorId="{DC7D497B-7AD7-723A-043A-6745C347B782}" created="2025-10-14T07:40:35.649">
    <pc:sldMkLst xmlns:pc="http://schemas.microsoft.com/office/powerpoint/2013/main/command">
      <pc:docMk/>
      <pc:sldMk cId="1772552169" sldId="1492"/>
    </pc:sldMkLst>
    <p188:txBody>
      <a:bodyPr/>
      <a:lstStyle/>
      <a:p>
        <a:r>
          <a:rPr lang="zh-CN" altLang="en-US"/>
          <a:t>一般来写一下 上周都做了些什么 完成了些什么 ？</a:t>
        </a:r>
      </a:p>
    </p188:txBody>
  </p188:cm>
</p188:cmLst>
</file>

<file path=ppt/comments/modernComment_5D5_2D29FAA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7D1A12F-609A-460D-B722-D37CBAB442E3}" authorId="{DC7D497B-7AD7-723A-043A-6745C347B782}" created="2025-10-14T07:42:17.012">
    <pc:sldMkLst xmlns:pc="http://schemas.microsoft.com/office/powerpoint/2013/main/command">
      <pc:docMk/>
      <pc:sldMk cId="757725864" sldId="1493"/>
    </pc:sldMkLst>
    <p188:txBody>
      <a:bodyPr/>
      <a:lstStyle/>
      <a:p>
        <a:r>
          <a:rPr lang="zh-CN" altLang="en-US"/>
          <a:t>主要记录所存在的问题</a:t>
        </a:r>
      </a:p>
    </p188:txBody>
  </p188:cm>
</p188:cmLst>
</file>

<file path=ppt/comments/modernComment_5D6_800809F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AA3AF4D-00DF-4525-B0E1-C123AE132E22}" authorId="{DC7D497B-7AD7-723A-043A-6745C347B782}" created="2025-10-14T07:42:54.87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148010495" sldId="1494"/>
      <ac:spMk id="2" creationId="{7E2AB971-AD86-413C-F120-B9511FB43C1F}"/>
    </ac:deMkLst>
    <p188:txBody>
      <a:bodyPr/>
      <a:lstStyle/>
      <a:p>
        <a:r>
          <a:rPr lang="zh-CN" altLang="en-US"/>
          <a:t>明确下周目标
时间规划（例如每日任务）</a:t>
        </a:r>
      </a:p>
    </p188:txBody>
  </p188:cm>
</p188:cmLst>
</file>

<file path=ppt/comments/modernComment_5D8_3F00268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E57C25F-33F5-44CD-9AB9-8B110EF14598}" authorId="{DC7D497B-7AD7-723A-043A-6745C347B782}" created="2025-10-14T07:40:35.649">
    <pc:sldMkLst xmlns:pc="http://schemas.microsoft.com/office/powerpoint/2013/main/command">
      <pc:docMk/>
      <pc:sldMk cId="1772552169" sldId="1492"/>
    </pc:sldMkLst>
    <p188:txBody>
      <a:bodyPr/>
      <a:lstStyle/>
      <a:p>
        <a:r>
          <a:rPr lang="zh-CN" altLang="en-US"/>
          <a:t>一般来写一下 上周都做了些什么 完成了些什么 ？</a:t>
        </a:r>
      </a:p>
    </p188:txBody>
  </p188:cm>
  <p188:cm id="{90F4FF6E-B366-432E-A6C7-712074265B34}" authorId="{DC7D497B-7AD7-723A-043A-6745C347B782}" created="2025-11-03T00:25:08.229">
    <pc:sldMkLst xmlns:pc="http://schemas.microsoft.com/office/powerpoint/2013/main/command">
      <pc:docMk/>
      <pc:sldMk cId="1056974464" sldId="1496"/>
    </pc:sldMkLst>
    <p188:txBody>
      <a:bodyPr/>
      <a:lstStyle/>
      <a:p>
        <a:r>
          <a:rPr lang="zh-CN" altLang="en-US"/>
          <a:t>目前是训练完了特征提取器，但是调整了 dropout，隐藏层数量，学习率，还有lama，这个损失概率一直卡在这，差不多就是 平均域损失是0.7，平均分类损失是0.36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2945862" cy="497333"/>
          </a:xfrm>
          <a:prstGeom prst="rect">
            <a:avLst/>
          </a:prstGeom>
        </p:spPr>
        <p:txBody>
          <a:bodyPr vert="horz" lIns="88212" tIns="44107" rIns="88212" bIns="44107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295" y="3"/>
            <a:ext cx="2945862" cy="497333"/>
          </a:xfrm>
          <a:prstGeom prst="rect">
            <a:avLst/>
          </a:prstGeom>
        </p:spPr>
        <p:txBody>
          <a:bodyPr vert="horz" wrap="square" lIns="88212" tIns="44107" rIns="88212" bIns="4410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517FCCCD-D206-47CF-B944-0B3BF2D9079C}" type="datetimeFigureOut">
              <a:rPr lang="de-DE" altLang="de-DE"/>
              <a:pPr>
                <a:defRPr/>
              </a:pPr>
              <a:t>03.11.2025</a:t>
            </a:fld>
            <a:endParaRPr lang="de-DE" alt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9307"/>
            <a:ext cx="2945862" cy="497333"/>
          </a:xfrm>
          <a:prstGeom prst="rect">
            <a:avLst/>
          </a:prstGeom>
        </p:spPr>
        <p:txBody>
          <a:bodyPr vert="horz" lIns="88212" tIns="44107" rIns="88212" bIns="44107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295" y="9429307"/>
            <a:ext cx="2945862" cy="497333"/>
          </a:xfrm>
          <a:prstGeom prst="rect">
            <a:avLst/>
          </a:prstGeom>
        </p:spPr>
        <p:txBody>
          <a:bodyPr vert="horz" wrap="square" lIns="88212" tIns="44107" rIns="88212" bIns="4410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D59670E0-7F84-4741-B550-65997F2A51FF}" type="slidenum">
              <a:rPr lang="de-DE" altLang="de-DE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75535524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2945862" cy="497333"/>
          </a:xfrm>
          <a:prstGeom prst="rect">
            <a:avLst/>
          </a:prstGeom>
        </p:spPr>
        <p:txBody>
          <a:bodyPr vert="horz" lIns="88212" tIns="44107" rIns="88212" bIns="44107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295" y="3"/>
            <a:ext cx="2945862" cy="497333"/>
          </a:xfrm>
          <a:prstGeom prst="rect">
            <a:avLst/>
          </a:prstGeom>
        </p:spPr>
        <p:txBody>
          <a:bodyPr vert="horz" wrap="square" lIns="88212" tIns="44107" rIns="88212" bIns="4410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8F27E609-FD42-4B8F-BE3E-F1EA95C6459B}" type="datetimeFigureOut">
              <a:rPr lang="de-DE" altLang="de-DE"/>
              <a:pPr>
                <a:defRPr/>
              </a:pPr>
              <a:t>03.11.2025</a:t>
            </a:fld>
            <a:endParaRPr lang="de-DE" alt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1243013"/>
            <a:ext cx="5946775" cy="3346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212" tIns="44107" rIns="88212" bIns="44107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64" y="4777783"/>
            <a:ext cx="5438748" cy="3907835"/>
          </a:xfrm>
          <a:prstGeom prst="rect">
            <a:avLst/>
          </a:prstGeom>
        </p:spPr>
        <p:txBody>
          <a:bodyPr vert="horz" wrap="square" lIns="88212" tIns="44107" rIns="88212" bIns="441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Textmasterformat bearbeiten</a:t>
            </a:r>
          </a:p>
          <a:p>
            <a:pPr lvl="1"/>
            <a:r>
              <a:rPr lang="de-DE" altLang="de-DE" noProof="0"/>
              <a:t>Zweite Ebene</a:t>
            </a:r>
          </a:p>
          <a:p>
            <a:pPr lvl="2"/>
            <a:r>
              <a:rPr lang="de-DE" altLang="de-DE" noProof="0"/>
              <a:t>Dritte Ebene</a:t>
            </a:r>
          </a:p>
          <a:p>
            <a:pPr lvl="3"/>
            <a:r>
              <a:rPr lang="de-DE" altLang="de-DE" noProof="0"/>
              <a:t>Vierte Ebene</a:t>
            </a:r>
          </a:p>
          <a:p>
            <a:pPr lvl="4"/>
            <a:r>
              <a:rPr lang="de-DE" alt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9307"/>
            <a:ext cx="2945862" cy="497333"/>
          </a:xfrm>
          <a:prstGeom prst="rect">
            <a:avLst/>
          </a:prstGeom>
        </p:spPr>
        <p:txBody>
          <a:bodyPr vert="horz" lIns="88212" tIns="44107" rIns="88212" bIns="44107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295" y="9429307"/>
            <a:ext cx="2945862" cy="497333"/>
          </a:xfrm>
          <a:prstGeom prst="rect">
            <a:avLst/>
          </a:prstGeom>
        </p:spPr>
        <p:txBody>
          <a:bodyPr vert="horz" wrap="square" lIns="88212" tIns="44107" rIns="88212" bIns="4410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26920C50-29F7-474C-BAE4-5B8F6564B22A}" type="slidenum">
              <a:rPr lang="de-DE" altLang="de-DE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3903457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ＭＳ Ｐゴシック" charset="0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68991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1/3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0" y="0"/>
            <a:ext cx="12192000" cy="2312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-1776413" y="479425"/>
            <a:ext cx="1576388" cy="13239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1000" b="1"/>
              <a:t>Institutslogo:</a:t>
            </a:r>
          </a:p>
          <a:p>
            <a:pPr eaLnBrk="1" hangingPunct="1">
              <a:buFontTx/>
              <a:buChar char="-"/>
              <a:defRPr/>
            </a:pPr>
            <a:r>
              <a:rPr lang="de-DE" altLang="de-DE" sz="1000"/>
              <a:t>Dateiformat: PNG in RGB</a:t>
            </a:r>
          </a:p>
          <a:p>
            <a:pPr eaLnBrk="1" hangingPunct="1">
              <a:buFontTx/>
              <a:buChar char="-"/>
              <a:defRPr/>
            </a:pPr>
            <a:r>
              <a:rPr lang="de-DE" altLang="de-DE" sz="1000"/>
              <a:t>Skalieren auf</a:t>
            </a:r>
          </a:p>
          <a:p>
            <a:pPr eaLnBrk="1" hangingPunct="1">
              <a:defRPr/>
            </a:pPr>
            <a:r>
              <a:rPr lang="de-DE" altLang="de-DE" sz="1000"/>
              <a:t>     Höhe: 2,26 cm</a:t>
            </a:r>
          </a:p>
          <a:p>
            <a:pPr eaLnBrk="1" hangingPunct="1">
              <a:defRPr/>
            </a:pPr>
            <a:r>
              <a:rPr lang="de-DE" altLang="de-DE" sz="1000"/>
              <a:t>     (Breite variiert je nach   </a:t>
            </a:r>
          </a:p>
          <a:p>
            <a:pPr eaLnBrk="1" hangingPunct="1">
              <a:defRPr/>
            </a:pPr>
            <a:r>
              <a:rPr lang="de-DE" altLang="de-DE" sz="1000"/>
              <a:t>     Schutzraum)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52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076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1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feld 7"/>
          <p:cNvSpPr txBox="1"/>
          <p:nvPr/>
        </p:nvSpPr>
        <p:spPr>
          <a:xfrm>
            <a:off x="-1703388" y="495300"/>
            <a:ext cx="1439863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  <a:ea typeface="+mn-ea"/>
              </a:rPr>
              <a:t>Bild zuschneiden unter: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Format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Zuschneiden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latin typeface="+mn-lt"/>
                <a:ea typeface="+mn-ea"/>
              </a:rPr>
              <a:t>Zuschneidewerkzeug</a:t>
            </a:r>
            <a:r>
              <a:rPr lang="de-DE" sz="1000" dirty="0">
                <a:latin typeface="+mn-lt"/>
                <a:ea typeface="+mn-ea"/>
              </a:rPr>
              <a:t> horizontal bis zur ersten oder zweiten Linie ziehen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423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2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-1703388" y="495300"/>
            <a:ext cx="1439863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  <a:ea typeface="+mn-ea"/>
              </a:rPr>
              <a:t>Bild zuschneiden unter: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Format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Zuschneiden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latin typeface="+mn-lt"/>
                <a:ea typeface="+mn-ea"/>
              </a:rPr>
              <a:t>Zuschneidewerkzeug</a:t>
            </a:r>
            <a:r>
              <a:rPr lang="de-DE" sz="1000" dirty="0">
                <a:latin typeface="+mn-lt"/>
                <a:ea typeface="+mn-ea"/>
              </a:rPr>
              <a:t> horizontal bis zur ersten oder zweiten Linie ziehen</a:t>
            </a:r>
          </a:p>
        </p:txBody>
      </p:sp>
      <p:pic>
        <p:nvPicPr>
          <p:cNvPr id="5" name="Grafik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1999" cy="4533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384000" y="473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384000" y="5230801"/>
            <a:ext cx="11484000" cy="81281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552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r Verbinder 3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627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mittig, horizontale Li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7"/>
          <p:cNvCxnSpPr/>
          <p:nvPr/>
        </p:nvCxnSpPr>
        <p:spPr>
          <a:xfrm>
            <a:off x="392113" y="30368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384000" y="3196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841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373038" y="1684800"/>
            <a:ext cx="11484000" cy="31932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7579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/>
          </p:nvPr>
        </p:nvSpPr>
        <p:spPr>
          <a:xfrm>
            <a:off x="383117" y="1684801"/>
            <a:ext cx="11484000" cy="37512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67593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2/3_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74412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/>
          </p:nvPr>
        </p:nvSpPr>
        <p:spPr>
          <a:xfrm>
            <a:off x="384000" y="1684801"/>
            <a:ext cx="7441200" cy="3751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9" name="Inhaltsplatzhalter 7"/>
          <p:cNvSpPr>
            <a:spLocks noGrp="1"/>
          </p:cNvSpPr>
          <p:nvPr>
            <p:ph sz="quarter" idx="15"/>
          </p:nvPr>
        </p:nvSpPr>
        <p:spPr>
          <a:xfrm>
            <a:off x="8149199" y="1684801"/>
            <a:ext cx="3718800" cy="3751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6"/>
          </p:nvPr>
        </p:nvSpPr>
        <p:spPr>
          <a:xfrm>
            <a:off x="8149199" y="1152000"/>
            <a:ext cx="37188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13598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_1/3_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7"/>
          <p:cNvSpPr>
            <a:spLocks noGrp="1"/>
          </p:cNvSpPr>
          <p:nvPr>
            <p:ph sz="quarter" idx="14"/>
          </p:nvPr>
        </p:nvSpPr>
        <p:spPr>
          <a:xfrm>
            <a:off x="4426800" y="1684801"/>
            <a:ext cx="7441200" cy="3751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9" name="Inhaltsplatzhalter 7"/>
          <p:cNvSpPr>
            <a:spLocks noGrp="1"/>
          </p:cNvSpPr>
          <p:nvPr>
            <p:ph sz="quarter" idx="15"/>
          </p:nvPr>
        </p:nvSpPr>
        <p:spPr>
          <a:xfrm>
            <a:off x="384000" y="1684801"/>
            <a:ext cx="3718800" cy="3751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426800" y="1152000"/>
            <a:ext cx="74412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6"/>
          </p:nvPr>
        </p:nvSpPr>
        <p:spPr>
          <a:xfrm>
            <a:off x="384000" y="1152000"/>
            <a:ext cx="37188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4327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Tex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75" y="1684338"/>
            <a:ext cx="3635375" cy="398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platzhalter 11"/>
          <p:cNvSpPr>
            <a:spLocks noGrp="1"/>
          </p:cNvSpPr>
          <p:nvPr>
            <p:ph type="body" sz="quarter" idx="14"/>
          </p:nvPr>
        </p:nvSpPr>
        <p:spPr>
          <a:xfrm>
            <a:off x="383117" y="1684800"/>
            <a:ext cx="7560000" cy="398595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20455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1152525"/>
            <a:ext cx="11480800" cy="398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83117" y="5359401"/>
            <a:ext cx="11484000" cy="49953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90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5969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2000" b="1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Diagrammplatzhalter 8"/>
          <p:cNvSpPr>
            <a:spLocks noGrp="1"/>
          </p:cNvSpPr>
          <p:nvPr>
            <p:ph type="chart" sz="quarter" idx="13"/>
          </p:nvPr>
        </p:nvSpPr>
        <p:spPr>
          <a:xfrm>
            <a:off x="383117" y="1684800"/>
            <a:ext cx="11484000" cy="36322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de-DE" noProof="0"/>
              <a:t>Diagramm durch Klicken auf Symbol hinzufügen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79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382588" y="2487613"/>
            <a:ext cx="11483975" cy="10795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de-DE" altLang="de-DE" sz="3200" b="1">
                <a:solidFill>
                  <a:schemeClr val="tx2"/>
                </a:solidFill>
              </a:rPr>
              <a:t>Vielen Dank</a:t>
            </a:r>
            <a:br>
              <a:rPr lang="de-DE" altLang="de-DE" sz="3200" b="1">
                <a:solidFill>
                  <a:schemeClr val="tx2"/>
                </a:solidFill>
              </a:rPr>
            </a:br>
            <a:r>
              <a:rPr lang="de-DE" altLang="de-DE" sz="3200" b="1">
                <a:solidFill>
                  <a:schemeClr val="tx2"/>
                </a:solidFill>
              </a:rPr>
              <a:t>für Ihre Aufmerksamkeit</a:t>
            </a:r>
            <a:endParaRPr lang="en-US" altLang="de-DE" sz="3200" b="1">
              <a:solidFill>
                <a:schemeClr val="tx2"/>
              </a:solidFill>
            </a:endParaRPr>
          </a:p>
        </p:txBody>
      </p:sp>
      <p:cxnSp>
        <p:nvCxnSpPr>
          <p:cNvPr id="5" name="Gerader Verbinder 11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3988800"/>
            <a:ext cx="11484000" cy="165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876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 txBox="1">
            <a:spLocks/>
          </p:cNvSpPr>
          <p:nvPr/>
        </p:nvSpPr>
        <p:spPr>
          <a:xfrm>
            <a:off x="1195388" y="6227764"/>
            <a:ext cx="7002462" cy="395286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1050" kern="1200" baseline="0" dirty="0">
                <a:solidFill>
                  <a:schemeClr val="tx2"/>
                </a:solidFill>
                <a:latin typeface="Arial" pitchFamily="34" charset="0"/>
                <a:ea typeface="ＭＳ Ｐゴシック" pitchFamily="34" charset="-128"/>
                <a:cs typeface="+mn-cs"/>
              </a:rPr>
              <a:t>Teaser-Folie I Projekt/Bachelor/Masterarbeit von Vorname Name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1050" kern="1200" baseline="0" dirty="0">
                <a:solidFill>
                  <a:schemeClr val="tx2"/>
                </a:solidFill>
                <a:latin typeface="Arial" pitchFamily="34" charset="0"/>
                <a:ea typeface="ＭＳ Ｐゴシック" pitchFamily="34" charset="-128"/>
                <a:cs typeface="+mn-cs"/>
              </a:rPr>
              <a:t> Titel der Arbeit I Datum</a:t>
            </a:r>
            <a:endParaRPr lang="de-DE" altLang="de-DE" sz="1050" kern="1200" baseline="0" dirty="0">
              <a:solidFill>
                <a:schemeClr val="tx2"/>
              </a:solidFill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cxnSp>
        <p:nvCxnSpPr>
          <p:cNvPr id="11" name="Gerader Verbinder 10"/>
          <p:cNvCxnSpPr/>
          <p:nvPr/>
        </p:nvCxnSpPr>
        <p:spPr>
          <a:xfrm>
            <a:off x="360363" y="8143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0" name="Textfeld 6"/>
          <p:cNvSpPr txBox="1">
            <a:spLocks noChangeArrowheads="1"/>
          </p:cNvSpPr>
          <p:nvPr/>
        </p:nvSpPr>
        <p:spPr bwMode="auto">
          <a:xfrm>
            <a:off x="-1784350" y="5073650"/>
            <a:ext cx="1668462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1000" b="1"/>
              <a:t>Fußzeile anpassen:</a:t>
            </a:r>
            <a:endParaRPr lang="de-DE" altLang="de-DE" sz="1000"/>
          </a:p>
          <a:p>
            <a:pPr eaLnBrk="1" hangingPunct="1">
              <a:defRPr/>
            </a:pPr>
            <a:r>
              <a:rPr lang="de-DE" altLang="de-DE" sz="1000"/>
              <a:t>Zum Anpassen der Fußzeile unter Karteireiter Ansicht &gt; auf Folienmaster klicken. Links in der Übersicht auf die oberste Folie scrollen und dort in die Fußzeile klicken. So wird der Text automatisch auf allen Seiten angepasst.</a:t>
            </a:r>
            <a:endParaRPr lang="de-DE" altLang="de-DE" sz="1000" b="1"/>
          </a:p>
        </p:txBody>
      </p:sp>
      <p:sp>
        <p:nvSpPr>
          <p:cNvPr id="1031" name="Textfeld 13"/>
          <p:cNvSpPr txBox="1">
            <a:spLocks noChangeArrowheads="1"/>
          </p:cNvSpPr>
          <p:nvPr/>
        </p:nvSpPr>
        <p:spPr bwMode="auto">
          <a:xfrm>
            <a:off x="360363" y="6227763"/>
            <a:ext cx="73025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2220154-828B-4C84-BC39-BAE48C2A1705}" type="slidenum">
              <a:rPr lang="de-DE" altLang="de-DE" sz="1050">
                <a:solidFill>
                  <a:schemeClr val="tx2"/>
                </a:solidFill>
              </a:rPr>
              <a:pPr eaLnBrk="1" hangingPunct="1"/>
              <a:t>‹#›</a:t>
            </a:fld>
            <a:endParaRPr lang="de-DE" altLang="de-DE" sz="1050" dirty="0">
              <a:solidFill>
                <a:schemeClr val="tx2"/>
              </a:solidFill>
            </a:endParaRPr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57" r:id="rId6"/>
    <p:sldLayoutId id="2147483858" r:id="rId7"/>
    <p:sldLayoutId id="2147483868" r:id="rId8"/>
    <p:sldLayoutId id="2147483869" r:id="rId9"/>
    <p:sldLayoutId id="2147483865" r:id="rId10"/>
    <p:sldLayoutId id="2147483866" r:id="rId11"/>
    <p:sldLayoutId id="2147483859" r:id="rId12"/>
    <p:sldLayoutId id="2147483867" r:id="rId13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5D3_9A3E1C86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8/10/relationships/comments" Target="../comments/modernComment_5D4_69A6FFE9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8/10/relationships/comments" Target="../comments/modernComment_5D8_3F00268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5D5_2D29FAA8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5D6_800809FF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Vorname Name, Betreut durch: Vorname Name des/r Betreuers/in, Datum 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idx="1"/>
          </p:nvPr>
        </p:nvSpPr>
        <p:spPr>
          <a:xfrm>
            <a:off x="384000" y="1158150"/>
            <a:ext cx="11484000" cy="252000"/>
          </a:xfrm>
        </p:spPr>
        <p:txBody>
          <a:bodyPr/>
          <a:lstStyle/>
          <a:p>
            <a:r>
              <a:rPr lang="de-DE" dirty="0"/>
              <a:t>Projekt/Bachelor/Masterarbeitsvortrag: Titel der Arbeit</a:t>
            </a:r>
          </a:p>
        </p:txBody>
      </p:sp>
      <p:sp>
        <p:nvSpPr>
          <p:cNvPr id="5" name="CustomShape 2"/>
          <p:cNvSpPr/>
          <p:nvPr/>
        </p:nvSpPr>
        <p:spPr>
          <a:xfrm>
            <a:off x="693043" y="1924977"/>
            <a:ext cx="4859337" cy="3525516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>
            <a:spAutoFit/>
          </a:bodyPr>
          <a:lstStyle/>
          <a:p>
            <a:pPr marL="286020" indent="-285750" eaLnBrk="1" fontAlgn="auto" hangingPunct="1">
              <a:spcBef>
                <a:spcPts val="451"/>
              </a:spcBef>
              <a:spcAft>
                <a:spcPts val="0"/>
              </a:spcAft>
              <a:buClr>
                <a:srgbClr val="00549F"/>
              </a:buClr>
              <a:buFont typeface="Arial" panose="020B0604020202020204" pitchFamily="34" charset="0"/>
              <a:buChar char="•"/>
              <a:defRPr/>
            </a:pP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3 oder 4 Stickpunkte 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für Hauptergebnisse und</a:t>
            </a: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 Weniger als 15 Wörter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 pro Stichpunkt</a:t>
            </a:r>
          </a:p>
          <a:p>
            <a:pPr marL="286020" indent="-285750" eaLnBrk="1" fontAlgn="auto" hangingPunct="1">
              <a:spcBef>
                <a:spcPts val="451"/>
              </a:spcBef>
              <a:spcAft>
                <a:spcPts val="0"/>
              </a:spcAft>
              <a:buClr>
                <a:srgbClr val="00549F"/>
              </a:buClr>
              <a:buFont typeface="Arial" panose="020B0604020202020204" pitchFamily="34" charset="0"/>
              <a:buChar char="•"/>
              <a:defRPr/>
            </a:pPr>
            <a:endParaRPr lang="de-DE" sz="1600" spc="-1" dirty="0">
              <a:solidFill>
                <a:srgbClr val="000000"/>
              </a:solidFill>
              <a:ea typeface="PMingLiU"/>
            </a:endParaRPr>
          </a:p>
          <a:p>
            <a:pPr marL="286020" indent="-285750" eaLnBrk="1" fontAlgn="auto" hangingPunct="1">
              <a:spcBef>
                <a:spcPts val="451"/>
              </a:spcBef>
              <a:spcAft>
                <a:spcPts val="0"/>
              </a:spcAft>
              <a:buClr>
                <a:srgbClr val="00549F"/>
              </a:buClr>
              <a:buFont typeface="Arial" panose="020B0604020202020204" pitchFamily="34" charset="0"/>
              <a:buChar char="•"/>
              <a:defRPr/>
            </a:pP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Nur</a:t>
            </a:r>
            <a:r>
              <a:rPr lang="de-DE" sz="1600" b="1" i="1" spc="-1" dirty="0">
                <a:solidFill>
                  <a:srgbClr val="000000"/>
                </a:solidFill>
                <a:ea typeface="PMingLiU"/>
              </a:rPr>
              <a:t> </a:t>
            </a: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1 Bild 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(dafür das Bild zur Rechten durch eigenes Bild ersetzen)</a:t>
            </a:r>
            <a:endParaRPr lang="de-DE" sz="1600" spc="-1" dirty="0"/>
          </a:p>
          <a:p>
            <a:pPr marL="286020" indent="-285750" eaLnBrk="1" fontAlgn="auto" hangingPunct="1">
              <a:spcBef>
                <a:spcPts val="451"/>
              </a:spcBef>
              <a:spcAft>
                <a:spcPts val="0"/>
              </a:spcAft>
              <a:buClr>
                <a:srgbClr val="00549F"/>
              </a:buClr>
              <a:buFont typeface="Arial" panose="020B0604020202020204" pitchFamily="34" charset="0"/>
              <a:buChar char="•"/>
              <a:defRPr/>
            </a:pPr>
            <a:r>
              <a:rPr lang="de-DE" sz="1600" spc="-1" dirty="0">
                <a:solidFill>
                  <a:srgbClr val="000000"/>
                </a:solidFill>
                <a:ea typeface="PMingLiU"/>
              </a:rPr>
              <a:t>Die Teaser-Folie </a:t>
            </a:r>
            <a:r>
              <a:rPr lang="de-DE" sz="1600" spc="-1">
                <a:solidFill>
                  <a:srgbClr val="000000"/>
                </a:solidFill>
                <a:ea typeface="PMingLiU"/>
              </a:rPr>
              <a:t>sollte als </a:t>
            </a:r>
            <a:r>
              <a:rPr lang="de-DE" sz="1600" b="1" spc="-1" dirty="0" err="1">
                <a:solidFill>
                  <a:srgbClr val="000000"/>
                </a:solidFill>
                <a:ea typeface="PMingLiU"/>
              </a:rPr>
              <a:t>pdf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 </a:t>
            </a: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1 Woche 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vor dem Vortrag im </a:t>
            </a:r>
            <a:r>
              <a:rPr lang="de-DE" sz="1600" spc="-1" dirty="0" err="1">
                <a:solidFill>
                  <a:srgbClr val="000000"/>
                </a:solidFill>
                <a:ea typeface="PMingLiU"/>
              </a:rPr>
              <a:t>wiki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 hochgeladen und verlinkt werden (max. 2MB)</a:t>
            </a:r>
          </a:p>
          <a:p>
            <a:pPr marL="286020" indent="-285750" eaLnBrk="1" fontAlgn="auto" hangingPunct="1">
              <a:spcBef>
                <a:spcPts val="451"/>
              </a:spcBef>
              <a:spcAft>
                <a:spcPts val="0"/>
              </a:spcAft>
              <a:buClr>
                <a:srgbClr val="00549F"/>
              </a:buClr>
              <a:buFont typeface="Arial" panose="020B0604020202020204" pitchFamily="34" charset="0"/>
              <a:buChar char="•"/>
              <a:defRPr/>
            </a:pPr>
            <a:r>
              <a:rPr lang="de-DE" sz="1600" spc="-1" dirty="0">
                <a:solidFill>
                  <a:srgbClr val="000000"/>
                </a:solidFill>
                <a:ea typeface="PMingLiU"/>
              </a:rPr>
              <a:t>Formatierung beibehalten: 16:9 – Format, IRT – Master, </a:t>
            </a: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Arial 20pt 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Schriftart in Fett für den Titel,   </a:t>
            </a: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Arial 16pt 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Schriftart für </a:t>
            </a:r>
            <a:r>
              <a:rPr lang="de-DE" sz="1600" b="1" spc="-1" dirty="0">
                <a:solidFill>
                  <a:srgbClr val="000000"/>
                </a:solidFill>
                <a:ea typeface="PMingLiU"/>
              </a:rPr>
              <a:t>kurze</a:t>
            </a:r>
            <a:r>
              <a:rPr lang="de-DE" sz="1600" spc="-1" dirty="0">
                <a:solidFill>
                  <a:srgbClr val="000000"/>
                </a:solidFill>
                <a:ea typeface="PMingLiU"/>
              </a:rPr>
              <a:t> Ausführung der Hauptergebnisse der Arbeit </a:t>
            </a:r>
          </a:p>
          <a:p>
            <a:pPr marL="285750" indent="-285750">
              <a:buClr>
                <a:srgbClr val="00549F"/>
              </a:buClr>
              <a:buFont typeface="Arial" panose="020B0604020202020204" pitchFamily="34" charset="0"/>
              <a:buChar char="•"/>
              <a:defRPr/>
            </a:pPr>
            <a:endParaRPr lang="de-DE" sz="1600" spc="-1" dirty="0">
              <a:solidFill>
                <a:srgbClr val="000000"/>
              </a:solidFill>
              <a:ea typeface="PMingLiU"/>
            </a:endParaRPr>
          </a:p>
        </p:txBody>
      </p:sp>
      <p:sp>
        <p:nvSpPr>
          <p:cNvPr id="7" name="CustomShape 4"/>
          <p:cNvSpPr/>
          <p:nvPr/>
        </p:nvSpPr>
        <p:spPr>
          <a:xfrm>
            <a:off x="7971502" y="4977582"/>
            <a:ext cx="3292631" cy="283603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67500" tIns="33750" rIns="67500" bIns="3375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spc="-1" dirty="0" err="1">
                <a:solidFill>
                  <a:srgbClr val="000000"/>
                </a:solidFill>
                <a:ea typeface="PMingLiU"/>
              </a:rPr>
              <a:t>Bildunterschrift</a:t>
            </a:r>
            <a:r>
              <a:rPr lang="en-US" sz="1400" spc="-1" dirty="0">
                <a:solidFill>
                  <a:srgbClr val="000000"/>
                </a:solidFill>
                <a:ea typeface="PMingLiU"/>
              </a:rPr>
              <a:t> </a:t>
            </a:r>
            <a:r>
              <a:rPr lang="en-US" sz="1400" spc="-1" dirty="0" err="1">
                <a:solidFill>
                  <a:srgbClr val="000000"/>
                </a:solidFill>
                <a:ea typeface="PMingLiU"/>
              </a:rPr>
              <a:t>ist</a:t>
            </a:r>
            <a:r>
              <a:rPr lang="en-US" sz="1400" spc="-1" dirty="0">
                <a:solidFill>
                  <a:srgbClr val="000000"/>
                </a:solidFill>
                <a:ea typeface="PMingLiU"/>
              </a:rPr>
              <a:t> optional, </a:t>
            </a:r>
            <a:r>
              <a:rPr lang="en-US" sz="1400" b="1" spc="-1" dirty="0">
                <a:solidFill>
                  <a:srgbClr val="000000"/>
                </a:solidFill>
                <a:ea typeface="PMingLiU"/>
              </a:rPr>
              <a:t>Arial 14pt</a:t>
            </a:r>
            <a:endParaRPr lang="en-US" sz="1400" b="1" spc="-1" dirty="0"/>
          </a:p>
        </p:txBody>
      </p:sp>
      <p:sp>
        <p:nvSpPr>
          <p:cNvPr id="8" name="CustomShape 5"/>
          <p:cNvSpPr/>
          <p:nvPr/>
        </p:nvSpPr>
        <p:spPr>
          <a:xfrm>
            <a:off x="7309935" y="2426208"/>
            <a:ext cx="4472650" cy="2408327"/>
          </a:xfrm>
          <a:prstGeom prst="rect">
            <a:avLst/>
          </a:prstGeom>
          <a:blipFill rotWithShape="0">
            <a:blip r:embed="rId3"/>
            <a:tile/>
          </a:blipFill>
          <a:ln w="9360">
            <a:noFill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>
              <a:defRPr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97174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15A0200-94A9-1893-FE11-5F49FC2C39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理论学习</a:t>
            </a:r>
            <a:r>
              <a:rPr lang="en-US" altLang="zh-CN" dirty="0"/>
              <a:t>+</a:t>
            </a:r>
            <a:r>
              <a:rPr lang="zh-CN" altLang="en-US" dirty="0"/>
              <a:t>代码功能实现        </a:t>
            </a:r>
            <a:r>
              <a:rPr lang="en-US" altLang="zh-CN" dirty="0"/>
              <a:t>DANN UAD</a:t>
            </a:r>
            <a:r>
              <a:rPr lang="zh-CN" altLang="en-US" dirty="0"/>
              <a:t>（没有完全完成）</a:t>
            </a:r>
            <a:endParaRPr lang="en-US" altLang="zh-CN" dirty="0"/>
          </a:p>
          <a:p>
            <a:r>
              <a:rPr lang="en-US" altLang="zh-CN" dirty="0"/>
              <a:t>2.Tool for evaluation</a:t>
            </a:r>
          </a:p>
          <a:p>
            <a:r>
              <a:rPr lang="en-US" altLang="zh-CN" dirty="0"/>
              <a:t>3.</a:t>
            </a:r>
            <a:r>
              <a:rPr lang="zh-CN" altLang="en-US" dirty="0"/>
              <a:t>小论文的时间是</a:t>
            </a:r>
            <a:r>
              <a:rPr lang="en-US" altLang="zh-CN" dirty="0"/>
              <a:t>300</a:t>
            </a:r>
            <a:r>
              <a:rPr lang="zh-CN" altLang="en-US" dirty="0"/>
              <a:t>小时，来源是之前也做过小论文的学长。</a:t>
            </a:r>
            <a:endParaRPr lang="en-US" altLang="zh-CN" dirty="0"/>
          </a:p>
          <a:p>
            <a:r>
              <a:rPr lang="en-US" altLang="zh-CN" dirty="0"/>
              <a:t>4.</a:t>
            </a:r>
            <a:r>
              <a:rPr lang="zh-CN" altLang="en-US" dirty="0"/>
              <a:t>注册的表格（发送）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BDA6A6A-207E-5BDB-4347-74665AC35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1.Last Week’s Tasks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6CC0F6-26FF-8C88-2E83-0DAD81C1D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上周做的内容</a:t>
            </a:r>
          </a:p>
        </p:txBody>
      </p:sp>
    </p:spTree>
    <p:extLst>
      <p:ext uri="{BB962C8B-B14F-4D97-AF65-F5344CB8AC3E}">
        <p14:creationId xmlns:p14="http://schemas.microsoft.com/office/powerpoint/2010/main" val="258776179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71E05A6-7AD4-D044-4BFE-8C7C650328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1.UAD</a:t>
            </a:r>
            <a:r>
              <a:rPr lang="zh-CN" altLang="en-US" dirty="0"/>
              <a:t>，</a:t>
            </a:r>
            <a:r>
              <a:rPr lang="en-US" altLang="zh-CN" dirty="0"/>
              <a:t>DANN</a:t>
            </a:r>
            <a:r>
              <a:rPr lang="zh-CN" altLang="en-US" dirty="0"/>
              <a:t>还没有完成</a:t>
            </a:r>
            <a:endParaRPr lang="en-US" altLang="zh-CN" dirty="0"/>
          </a:p>
          <a:p>
            <a:r>
              <a:rPr lang="zh-CN" altLang="en-US" dirty="0"/>
              <a:t>它的理论</a:t>
            </a:r>
            <a:r>
              <a:rPr lang="en-US" altLang="zh-CN" dirty="0"/>
              <a:t>+</a:t>
            </a:r>
            <a:r>
              <a:rPr lang="zh-CN" altLang="en-US" dirty="0"/>
              <a:t>为什么使用的原理要讲明白。</a:t>
            </a:r>
            <a:endParaRPr lang="en-US" altLang="zh-CN" dirty="0"/>
          </a:p>
          <a:p>
            <a:r>
              <a:rPr lang="zh-CN" altLang="en-US" dirty="0"/>
              <a:t>平均分类损失和域损失的概念和意义。</a:t>
            </a:r>
            <a:endParaRPr lang="en-US" altLang="zh-CN" dirty="0"/>
          </a:p>
          <a:p>
            <a:r>
              <a:rPr lang="zh-CN" altLang="en-US" dirty="0"/>
              <a:t>基于无监督领域自适应 </a:t>
            </a:r>
            <a:r>
              <a:rPr lang="en-US" altLang="zh-CN" dirty="0"/>
              <a:t>(UDA)</a:t>
            </a:r>
          </a:p>
          <a:p>
            <a:endParaRPr lang="en-US" altLang="zh-CN" dirty="0"/>
          </a:p>
          <a:p>
            <a:r>
              <a:rPr lang="zh-CN" altLang="en-US" dirty="0"/>
              <a:t>主要做了</a:t>
            </a:r>
            <a:r>
              <a:rPr lang="en-US" altLang="zh-CN" dirty="0"/>
              <a:t>5</a:t>
            </a:r>
            <a:r>
              <a:rPr lang="zh-CN" altLang="en-US" dirty="0"/>
              <a:t>个核心文件</a:t>
            </a:r>
            <a:endParaRPr lang="en-US" altLang="zh-CN" dirty="0"/>
          </a:p>
          <a:p>
            <a:r>
              <a:rPr lang="en-US" altLang="zh-CN" dirty="0"/>
              <a:t>config.py</a:t>
            </a:r>
            <a:r>
              <a:rPr lang="zh-CN" altLang="en-US" dirty="0"/>
              <a:t>管理所有的超参数。</a:t>
            </a:r>
            <a:endParaRPr lang="en-US" altLang="zh-CN" dirty="0"/>
          </a:p>
          <a:p>
            <a:r>
              <a:rPr lang="en-US" altLang="zh-CN" dirty="0"/>
              <a:t>data_processing.py</a:t>
            </a:r>
            <a:r>
              <a:rPr lang="zh-CN" altLang="en-US" dirty="0"/>
              <a:t>：制作了</a:t>
            </a:r>
            <a:r>
              <a:rPr lang="en-US" altLang="zh-CN" dirty="0" err="1"/>
              <a:t>make_sequences</a:t>
            </a:r>
            <a:r>
              <a:rPr lang="zh-CN" altLang="en-US" dirty="0"/>
              <a:t>函数</a:t>
            </a:r>
            <a:r>
              <a:rPr lang="en-US" altLang="zh-CN" dirty="0"/>
              <a:t>,</a:t>
            </a:r>
            <a:r>
              <a:rPr lang="zh-CN" altLang="en-US" dirty="0"/>
              <a:t>将数据组成序列数据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dataloader.py:</a:t>
            </a:r>
            <a:r>
              <a:rPr lang="zh-CN" altLang="en-US" dirty="0"/>
              <a:t>为</a:t>
            </a:r>
            <a:r>
              <a:rPr lang="en-US" altLang="zh-CN" dirty="0"/>
              <a:t>LSTM</a:t>
            </a:r>
            <a:r>
              <a:rPr lang="zh-CN" altLang="en-US" dirty="0"/>
              <a:t>特征提取器模型制作输入数据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Models.py:</a:t>
            </a:r>
            <a:r>
              <a:rPr lang="zh-CN" altLang="en-US" dirty="0"/>
              <a:t>用来制作模型框架和模型需要的所有材料。</a:t>
            </a:r>
            <a:endParaRPr lang="en-US" altLang="zh-CN" dirty="0"/>
          </a:p>
          <a:p>
            <a:r>
              <a:rPr lang="en-US" altLang="zh-CN" dirty="0"/>
              <a:t>Main3.ipynb</a:t>
            </a:r>
            <a:r>
              <a:rPr lang="zh-CN" altLang="en-US" dirty="0"/>
              <a:t>：用来加载数据，模型训练，主要功能实现的地方。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7CC2BCC-8415-D0FE-0866-FA2B1B54F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2.Progress Overview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F14CB5-223F-2993-005C-2EFAEE1E7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基于无监督领域自适应 </a:t>
            </a:r>
            <a:r>
              <a:rPr lang="en-US" altLang="zh-CN" dirty="0"/>
              <a:t>(UDA)</a:t>
            </a:r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37FAC72-A30E-7B9C-1095-0DCF3B312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2975" y="1404000"/>
            <a:ext cx="2942857" cy="10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55216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DD2E7-88D1-D881-3A1D-2E845F604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2B849D5-6796-E636-1D7C-167DF942A0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314" b="49481"/>
          <a:stretch>
            <a:fillRect/>
          </a:stretch>
        </p:blipFill>
        <p:spPr>
          <a:xfrm>
            <a:off x="0" y="1535990"/>
            <a:ext cx="7275383" cy="4040870"/>
          </a:xfrm>
          <a:prstGeom prst="rect">
            <a:avLst/>
          </a:prstGeom>
        </p:spPr>
      </p:pic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135273C-5954-9957-3CE5-6018EC813B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4000" y="1281140"/>
            <a:ext cx="11484000" cy="31932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3211BCB-4FFC-3755-B316-B9F58639A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2.Progress Overview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1FED9A-5056-091E-5146-27502EBE1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00" y="867158"/>
            <a:ext cx="11484000" cy="252000"/>
          </a:xfrm>
        </p:spPr>
        <p:txBody>
          <a:bodyPr/>
          <a:lstStyle/>
          <a:p>
            <a:r>
              <a:rPr lang="zh-CN" altLang="en-US" dirty="0"/>
              <a:t>基于无监督领域自适应 </a:t>
            </a:r>
            <a:r>
              <a:rPr lang="en-US" altLang="zh-CN" dirty="0"/>
              <a:t>(UDA)</a:t>
            </a:r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721AAF6-E35A-9848-B469-37D11CBD67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7082" y="4474340"/>
            <a:ext cx="2942857" cy="103809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2F12B38-2C84-284E-02B1-D1ED474D5B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315"/>
          <a:stretch>
            <a:fillRect/>
          </a:stretch>
        </p:blipFill>
        <p:spPr>
          <a:xfrm>
            <a:off x="5248948" y="907182"/>
            <a:ext cx="6739127" cy="351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97446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F4986F7-3B3A-3387-A104-9FF0A7D890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Model evaluation tool</a:t>
            </a:r>
            <a:r>
              <a:rPr lang="zh-CN" altLang="en-US" dirty="0"/>
              <a:t>（</a:t>
            </a:r>
            <a:r>
              <a:rPr lang="en-US" altLang="zh-CN" dirty="0"/>
              <a:t>SVM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做的思路 怎么做的说一下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均方误差 </a:t>
            </a:r>
            <a:endParaRPr lang="en-US" altLang="zh-CN" dirty="0"/>
          </a:p>
          <a:p>
            <a:r>
              <a:rPr lang="en-US" altLang="zh-CN" dirty="0"/>
              <a:t>RSME</a:t>
            </a:r>
            <a:r>
              <a:rPr lang="zh-CN" altLang="en-US" dirty="0"/>
              <a:t>误差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32713B2-A36A-327D-B700-03B037613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2.Progress Overview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9B102E-3BB4-5C21-DDB2-BA8B815CA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13F550E-942E-E8FB-4714-A9B832CD7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4212" y="4125619"/>
            <a:ext cx="4990476" cy="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720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2A56887-C91A-1F54-CBEB-E1EAC29592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问一下 对于模型来说我们设定的隐藏层都是为什么 多少数量都是代表什么含义。</a:t>
            </a:r>
            <a:endParaRPr lang="en-US" altLang="zh-CN" dirty="0"/>
          </a:p>
          <a:p>
            <a:r>
              <a:rPr lang="en-US" altLang="zh-CN" dirty="0"/>
              <a:t>Dropout =0.2</a:t>
            </a:r>
            <a:r>
              <a:rPr lang="zh-CN" altLang="en-US" dirty="0"/>
              <a:t>是什么意思</a:t>
            </a:r>
            <a:endParaRPr lang="en-US" altLang="zh-CN" dirty="0"/>
          </a:p>
          <a:p>
            <a:r>
              <a:rPr lang="zh-CN" altLang="en-US" dirty="0"/>
              <a:t>模型的功能 和我们设计的层数都有什么关联？</a:t>
            </a:r>
            <a:endParaRPr lang="en-US" altLang="zh-CN" dirty="0"/>
          </a:p>
          <a:p>
            <a:r>
              <a:rPr lang="en-US" altLang="zh-CN" dirty="0"/>
              <a:t>LSTM </a:t>
            </a:r>
            <a:r>
              <a:rPr lang="zh-CN" altLang="en-US" dirty="0"/>
              <a:t>的层数 多和少的区别，效果 性能上面。</a:t>
            </a:r>
            <a:endParaRPr lang="en-US" altLang="zh-CN" dirty="0"/>
          </a:p>
          <a:p>
            <a:r>
              <a:rPr lang="zh-CN" altLang="en-US" dirty="0"/>
              <a:t>需查看一下 数据序列是按照</a:t>
            </a:r>
            <a:r>
              <a:rPr lang="en-US" altLang="zh-CN" dirty="0" err="1"/>
              <a:t>svid</a:t>
            </a:r>
            <a:r>
              <a:rPr lang="zh-CN" altLang="en-US" dirty="0"/>
              <a:t>分的，但是后面张量化 批次化是怎么处理的数据。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3B1BFA4-B7AB-E140-1DD3-C999F875F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3.Challenges &amp; Solutions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F900E7-18ED-6CC1-3F80-7C04B3116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72586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E2AB971-AD86-413C-F120-B9511FB43C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（考虑）</a:t>
            </a:r>
            <a:r>
              <a:rPr lang="en-US" altLang="zh-CN" dirty="0"/>
              <a:t>LORA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（要尝试）</a:t>
            </a:r>
            <a:r>
              <a:rPr lang="en-US" altLang="zh-CN" dirty="0"/>
              <a:t>Fine tuning</a:t>
            </a:r>
          </a:p>
          <a:p>
            <a:r>
              <a:rPr lang="en-US" altLang="zh-CN" dirty="0"/>
              <a:t>3.</a:t>
            </a:r>
            <a:r>
              <a:rPr lang="zh-CN" altLang="en-US" dirty="0"/>
              <a:t>（如讨论完思路没有问题的话） 完善 </a:t>
            </a:r>
            <a:r>
              <a:rPr lang="en-US" altLang="zh-CN" dirty="0"/>
              <a:t>UAD</a:t>
            </a:r>
            <a:r>
              <a:rPr lang="zh-CN" altLang="en-US" dirty="0"/>
              <a:t>这一部分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A7E890C-2E17-3EFD-8B75-E0C9EC5A8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4.Next Week Goal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CFFCC9-4B03-D9F1-FE38-6481C0687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01049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Präsentation_Master_RWTH_Institute_16zu9">
  <a:themeElements>
    <a:clrScheme name="RWTH Farben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6165"/>
      </a:accent1>
      <a:accent2>
        <a:srgbClr val="0098A1"/>
      </a:accent2>
      <a:accent3>
        <a:srgbClr val="57AB27"/>
      </a:accent3>
      <a:accent4>
        <a:srgbClr val="BDCD00"/>
      </a:accent4>
      <a:accent5>
        <a:srgbClr val="F6A800"/>
      </a:accent5>
      <a:accent6>
        <a:srgbClr val="CC071E"/>
      </a:accent6>
      <a:hlink>
        <a:srgbClr val="612158"/>
      </a:hlink>
      <a:folHlink>
        <a:srgbClr val="7A6FA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_Master_RWTH_Verwaltung_ohne_addin_16zu9.pot [Kompatibilitätsmodus]" id="{12157BE7-C41B-4251-A630-7876F5189DEC}" vid="{D5CAF79C-9B5F-40C2-AC3C-45C714C4923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Präsentationsvorlage_IRT</Template>
  <TotalTime>165</TotalTime>
  <Words>448</Words>
  <Application>Microsoft Office PowerPoint</Application>
  <PresentationFormat>宽屏</PresentationFormat>
  <Paragraphs>45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PMingLiU</vt:lpstr>
      <vt:lpstr>Arial</vt:lpstr>
      <vt:lpstr>Calibri</vt:lpstr>
      <vt:lpstr>Symbol</vt:lpstr>
      <vt:lpstr>Wingdings</vt:lpstr>
      <vt:lpstr>Präsentation_Master_RWTH_Institute_16zu9</vt:lpstr>
      <vt:lpstr>Vorname Name, Betreut durch: Vorname Name des/r Betreuers/in, Datum </vt:lpstr>
      <vt:lpstr>1.Last Week’s Tasks</vt:lpstr>
      <vt:lpstr>2.Progress Overview</vt:lpstr>
      <vt:lpstr>2.Progress Overview</vt:lpstr>
      <vt:lpstr>2.Progress Overview</vt:lpstr>
      <vt:lpstr>3.Challenges &amp; Solutions</vt:lpstr>
      <vt:lpstr>4.Next Week Goal</vt:lpstr>
    </vt:vector>
  </TitlesOfParts>
  <Company>Institut für Regelungstechnik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Florian Baader</dc:creator>
  <cp:lastModifiedBy>jiayu yang</cp:lastModifiedBy>
  <cp:revision>1533</cp:revision>
  <cp:lastPrinted>2020-01-08T09:35:20Z</cp:lastPrinted>
  <dcterms:created xsi:type="dcterms:W3CDTF">2018-05-24T07:56:59Z</dcterms:created>
  <dcterms:modified xsi:type="dcterms:W3CDTF">2025-11-03T01:33:22Z</dcterms:modified>
</cp:coreProperties>
</file>