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omments/modernComment_5D3_9A3E1C86.xml" ContentType="application/vnd.ms-powerpoint.comments+xml"/>
  <Override PartName="/ppt/comments/modernComment_5D7_D2949351.xml" ContentType="application/vnd.ms-powerpoint.comments+xml"/>
  <Override PartName="/ppt/comments/modernComment_5D8_345D2F3E.xml" ContentType="application/vnd.ms-powerpoint.comments+xml"/>
  <Override PartName="/ppt/comments/modernComment_5D4_69A6FFE9.xml" ContentType="application/vnd.ms-powerpoint.comments+xml"/>
  <Override PartName="/ppt/comments/modernComment_5D5_2D29FAA8.xml" ContentType="application/vnd.ms-powerpoint.comments+xml"/>
  <Override PartName="/ppt/comments/modernComment_5D6_800809FF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38" r:id="rId1"/>
  </p:sldMasterIdLst>
  <p:notesMasterIdLst>
    <p:notesMasterId r:id="rId9"/>
  </p:notesMasterIdLst>
  <p:handoutMasterIdLst>
    <p:handoutMasterId r:id="rId10"/>
  </p:handoutMasterIdLst>
  <p:sldIdLst>
    <p:sldId id="1490" r:id="rId2"/>
    <p:sldId id="1491" r:id="rId3"/>
    <p:sldId id="1495" r:id="rId4"/>
    <p:sldId id="1496" r:id="rId5"/>
    <p:sldId id="1492" r:id="rId6"/>
    <p:sldId id="1493" r:id="rId7"/>
    <p:sldId id="1494" r:id="rId8"/>
  </p:sldIdLst>
  <p:sldSz cx="12192000" cy="6858000"/>
  <p:notesSz cx="6797675" cy="9926638"/>
  <p:defaultTextStyle>
    <a:defPPr>
      <a:defRPr lang="de-DE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C7D497B-7AD7-723A-043A-6745C347B782}" name="jiayu yang" initials="jy" userId="8067bb61bfadfd73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EBAE5"/>
    <a:srgbClr val="00549F"/>
    <a:srgbClr val="E9F1FA"/>
    <a:srgbClr val="272727"/>
    <a:srgbClr val="962F2F"/>
    <a:srgbClr val="57AB27"/>
    <a:srgbClr val="438CD4"/>
    <a:srgbClr val="A6A6A6"/>
    <a:srgbClr val="D5DDE6"/>
    <a:srgbClr val="2980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1EBBBCC-DAD2-459C-BE2E-F6DE35CF9A28}" styleName="Dunkle Formatvorlage 2 - Akzent 3/Akz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495" autoAdjust="0"/>
    <p:restoredTop sz="96265" autoAdjust="0"/>
  </p:normalViewPr>
  <p:slideViewPr>
    <p:cSldViewPr snapToGrid="0" showGuides="1">
      <p:cViewPr varScale="1">
        <p:scale>
          <a:sx n="142" d="100"/>
          <a:sy n="142" d="100"/>
        </p:scale>
        <p:origin x="775" y="5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5844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 snapToGrid="0" showGuides="1">
      <p:cViewPr varScale="1">
        <p:scale>
          <a:sx n="61" d="100"/>
          <a:sy n="61" d="100"/>
        </p:scale>
        <p:origin x="2691" y="5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8/10/relationships/authors" Target="authors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comments/modernComment_5D3_9A3E1C86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5371CBC-7ABD-4994-A10C-BE3C8476038E}" authorId="{DC7D497B-7AD7-723A-043A-6745C347B782}" created="2025-10-14T07:41:27.242">
    <pc:sldMkLst xmlns:pc="http://schemas.microsoft.com/office/powerpoint/2013/main/command">
      <pc:docMk/>
      <pc:sldMk cId="2587761798" sldId="1491"/>
    </pc:sldMkLst>
    <p188:txBody>
      <a:bodyPr/>
      <a:lstStyle/>
      <a:p>
        <a:r>
          <a:rPr lang="zh-CN" altLang="en-US"/>
          <a:t>这个 主要是记录上一次meeting 遗留的一些问题任务 是否解决 或还存在的问题</a:t>
        </a:r>
      </a:p>
    </p188:txBody>
  </p188:cm>
</p188:cmLst>
</file>

<file path=ppt/comments/modernComment_5D4_69A6FFE9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695E649-A45E-454C-B06F-0127E9B0A459}" authorId="{DC7D497B-7AD7-723A-043A-6745C347B782}" created="2025-10-14T07:40:35.649">
    <pc:sldMkLst xmlns:pc="http://schemas.microsoft.com/office/powerpoint/2013/main/command">
      <pc:docMk/>
      <pc:sldMk cId="1772552169" sldId="1492"/>
    </pc:sldMkLst>
    <p188:txBody>
      <a:bodyPr/>
      <a:lstStyle/>
      <a:p>
        <a:r>
          <a:rPr lang="zh-CN" altLang="en-US"/>
          <a:t>一般来写一下 上周都做了些什么 完成了些什么 ？</a:t>
        </a:r>
      </a:p>
    </p188:txBody>
  </p188:cm>
</p188:cmLst>
</file>

<file path=ppt/comments/modernComment_5D5_2D29FAA8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7D1A12F-609A-460D-B722-D37CBAB442E3}" authorId="{DC7D497B-7AD7-723A-043A-6745C347B782}" created="2025-10-14T07:42:17.012">
    <pc:sldMkLst xmlns:pc="http://schemas.microsoft.com/office/powerpoint/2013/main/command">
      <pc:docMk/>
      <pc:sldMk cId="757725864" sldId="1493"/>
    </pc:sldMkLst>
    <p188:txBody>
      <a:bodyPr/>
      <a:lstStyle/>
      <a:p>
        <a:r>
          <a:rPr lang="zh-CN" altLang="en-US"/>
          <a:t>主要记录所存在的问题</a:t>
        </a:r>
      </a:p>
    </p188:txBody>
  </p188:cm>
</p188:cmLst>
</file>

<file path=ppt/comments/modernComment_5D6_800809FF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DAA3AF4D-00DF-4525-B0E1-C123AE132E22}" authorId="{DC7D497B-7AD7-723A-043A-6745C347B782}" created="2025-10-14T07:42:54.872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148010495" sldId="1494"/>
      <ac:spMk id="2" creationId="{7E2AB971-AD86-413C-F120-B9511FB43C1F}"/>
    </ac:deMkLst>
    <p188:txBody>
      <a:bodyPr/>
      <a:lstStyle/>
      <a:p>
        <a:r>
          <a:rPr lang="zh-CN" altLang="en-US"/>
          <a:t>明确下周目标
时间规划（例如每日任务）</a:t>
        </a:r>
      </a:p>
    </p188:txBody>
  </p188:cm>
</p188:cmLst>
</file>

<file path=ppt/comments/modernComment_5D7_D2949351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AF3FFB9-A347-4E0C-82DC-DAAB12324CDC}" authorId="{DC7D497B-7AD7-723A-043A-6745C347B782}" created="2025-10-14T07:41:27.242">
    <pc:sldMkLst xmlns:pc="http://schemas.microsoft.com/office/powerpoint/2013/main/command">
      <pc:docMk/>
      <pc:sldMk cId="2587761798" sldId="1491"/>
    </pc:sldMkLst>
    <p188:txBody>
      <a:bodyPr/>
      <a:lstStyle/>
      <a:p>
        <a:r>
          <a:rPr lang="zh-CN" altLang="en-US"/>
          <a:t>这个 主要是记录上一次meeting 遗留的一些问题任务 是否解决 或还存在的问题</a:t>
        </a:r>
      </a:p>
    </p188:txBody>
  </p188:cm>
</p188:cmLst>
</file>

<file path=ppt/comments/modernComment_5D8_345D2F3E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AF7D7EF-2794-4775-9A5C-30114653E5CF}" authorId="{DC7D497B-7AD7-723A-043A-6745C347B782}" created="2025-10-14T07:41:27.242">
    <pc:sldMkLst xmlns:pc="http://schemas.microsoft.com/office/powerpoint/2013/main/command">
      <pc:docMk/>
      <pc:sldMk cId="2587761798" sldId="1491"/>
    </pc:sldMkLst>
    <p188:txBody>
      <a:bodyPr/>
      <a:lstStyle/>
      <a:p>
        <a:r>
          <a:rPr lang="zh-CN" altLang="en-US"/>
          <a:t>这个 主要是记录上一次meeting 遗留的一些问题任务 是否解决 或还存在的问题</a:t>
        </a:r>
      </a:p>
    </p188:txBody>
  </p188:cm>
</p188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3"/>
            <a:ext cx="2945862" cy="497333"/>
          </a:xfrm>
          <a:prstGeom prst="rect">
            <a:avLst/>
          </a:prstGeom>
        </p:spPr>
        <p:txBody>
          <a:bodyPr vert="horz" lIns="88212" tIns="44107" rIns="88212" bIns="44107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50295" y="3"/>
            <a:ext cx="2945862" cy="497333"/>
          </a:xfrm>
          <a:prstGeom prst="rect">
            <a:avLst/>
          </a:prstGeom>
        </p:spPr>
        <p:txBody>
          <a:bodyPr vert="horz" wrap="square" lIns="88212" tIns="44107" rIns="88212" bIns="44107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 smtClean="0"/>
            </a:lvl1pPr>
          </a:lstStyle>
          <a:p>
            <a:pPr>
              <a:defRPr/>
            </a:pPr>
            <a:fld id="{517FCCCD-D206-47CF-B944-0B3BF2D9079C}" type="datetimeFigureOut">
              <a:rPr lang="de-DE" altLang="de-DE"/>
              <a:pPr>
                <a:defRPr/>
              </a:pPr>
              <a:t>09.11.2025</a:t>
            </a:fld>
            <a:endParaRPr lang="de-DE" alt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9429307"/>
            <a:ext cx="2945862" cy="497333"/>
          </a:xfrm>
          <a:prstGeom prst="rect">
            <a:avLst/>
          </a:prstGeom>
        </p:spPr>
        <p:txBody>
          <a:bodyPr vert="horz" lIns="88212" tIns="44107" rIns="88212" bIns="44107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000"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50295" y="9429307"/>
            <a:ext cx="2945862" cy="497333"/>
          </a:xfrm>
          <a:prstGeom prst="rect">
            <a:avLst/>
          </a:prstGeom>
        </p:spPr>
        <p:txBody>
          <a:bodyPr vert="horz" wrap="square" lIns="88212" tIns="44107" rIns="88212" bIns="44107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000"/>
            </a:lvl1pPr>
          </a:lstStyle>
          <a:p>
            <a:fld id="{D59670E0-7F84-4741-B550-65997F2A51FF}" type="slidenum">
              <a:rPr lang="de-DE" altLang="de-DE"/>
              <a:pPr/>
              <a:t>‹#›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1755355246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3"/>
            <a:ext cx="2945862" cy="497333"/>
          </a:xfrm>
          <a:prstGeom prst="rect">
            <a:avLst/>
          </a:prstGeom>
        </p:spPr>
        <p:txBody>
          <a:bodyPr vert="horz" lIns="88212" tIns="44107" rIns="88212" bIns="44107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000"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50295" y="3"/>
            <a:ext cx="2945862" cy="497333"/>
          </a:xfrm>
          <a:prstGeom prst="rect">
            <a:avLst/>
          </a:prstGeom>
        </p:spPr>
        <p:txBody>
          <a:bodyPr vert="horz" wrap="square" lIns="88212" tIns="44107" rIns="88212" bIns="44107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 smtClean="0"/>
            </a:lvl1pPr>
          </a:lstStyle>
          <a:p>
            <a:pPr>
              <a:defRPr/>
            </a:pPr>
            <a:fld id="{8F27E609-FD42-4B8F-BE3E-F1EA95C6459B}" type="datetimeFigureOut">
              <a:rPr lang="de-DE" altLang="de-DE"/>
              <a:pPr>
                <a:defRPr/>
              </a:pPr>
              <a:t>09.11.2025</a:t>
            </a:fld>
            <a:endParaRPr lang="de-DE" alt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425450" y="1243013"/>
            <a:ext cx="5946775" cy="3346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88212" tIns="44107" rIns="88212" bIns="44107" rtlCol="0" anchor="ctr"/>
          <a:lstStyle/>
          <a:p>
            <a:pPr lvl="0"/>
            <a:endParaRPr lang="de-DE" noProof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79464" y="4777783"/>
            <a:ext cx="5438748" cy="3907835"/>
          </a:xfrm>
          <a:prstGeom prst="rect">
            <a:avLst/>
          </a:prstGeom>
        </p:spPr>
        <p:txBody>
          <a:bodyPr vert="horz" wrap="square" lIns="88212" tIns="44107" rIns="88212" bIns="4410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noProof="0"/>
              <a:t>Textmasterformat bearbeiten</a:t>
            </a:r>
          </a:p>
          <a:p>
            <a:pPr lvl="1"/>
            <a:r>
              <a:rPr lang="de-DE" altLang="de-DE" noProof="0"/>
              <a:t>Zweite Ebene</a:t>
            </a:r>
          </a:p>
          <a:p>
            <a:pPr lvl="2"/>
            <a:r>
              <a:rPr lang="de-DE" altLang="de-DE" noProof="0"/>
              <a:t>Dritte Ebene</a:t>
            </a:r>
          </a:p>
          <a:p>
            <a:pPr lvl="3"/>
            <a:r>
              <a:rPr lang="de-DE" altLang="de-DE" noProof="0"/>
              <a:t>Vierte Ebene</a:t>
            </a:r>
          </a:p>
          <a:p>
            <a:pPr lvl="4"/>
            <a:r>
              <a:rPr lang="de-DE" altLang="de-DE" noProof="0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429307"/>
            <a:ext cx="2945862" cy="497333"/>
          </a:xfrm>
          <a:prstGeom prst="rect">
            <a:avLst/>
          </a:prstGeom>
        </p:spPr>
        <p:txBody>
          <a:bodyPr vert="horz" lIns="88212" tIns="44107" rIns="88212" bIns="44107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000"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50295" y="9429307"/>
            <a:ext cx="2945862" cy="497333"/>
          </a:xfrm>
          <a:prstGeom prst="rect">
            <a:avLst/>
          </a:prstGeom>
        </p:spPr>
        <p:txBody>
          <a:bodyPr vert="horz" wrap="square" lIns="88212" tIns="44107" rIns="88212" bIns="44107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000"/>
            </a:lvl1pPr>
          </a:lstStyle>
          <a:p>
            <a:fld id="{26920C50-29F7-474C-BAE4-5B8F6564B22A}" type="slidenum">
              <a:rPr lang="de-DE" altLang="de-DE"/>
              <a:pPr/>
              <a:t>‹#›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83903457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pitchFamily="34" charset="0"/>
        <a:ea typeface="ＭＳ Ｐゴシック" charset="0"/>
        <a:cs typeface="Arial" pitchFamily="34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pitchFamily="34" charset="0"/>
        <a:ea typeface="Arial" charset="0"/>
        <a:cs typeface="Arial" pitchFamily="34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pitchFamily="34" charset="0"/>
        <a:ea typeface="Arial" charset="0"/>
        <a:cs typeface="Arial" pitchFamily="34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pitchFamily="34" charset="0"/>
        <a:ea typeface="Arial" charset="0"/>
        <a:cs typeface="Arial" pitchFamily="34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pitchFamily="34" charset="0"/>
        <a:ea typeface="Arial" charset="0"/>
        <a:cs typeface="Arial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9689917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_1/3 Farb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/>
          <p:cNvSpPr/>
          <p:nvPr/>
        </p:nvSpPr>
        <p:spPr>
          <a:xfrm>
            <a:off x="0" y="0"/>
            <a:ext cx="12192000" cy="23129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0" rIns="28800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de-DE">
              <a:solidFill>
                <a:schemeClr val="bg1"/>
              </a:solidFill>
            </a:endParaRPr>
          </a:p>
        </p:txBody>
      </p:sp>
      <p:sp>
        <p:nvSpPr>
          <p:cNvPr id="7" name="Textfeld 6"/>
          <p:cNvSpPr txBox="1"/>
          <p:nvPr/>
        </p:nvSpPr>
        <p:spPr>
          <a:xfrm>
            <a:off x="-1776413" y="479425"/>
            <a:ext cx="1576388" cy="1323975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defRPr/>
            </a:pPr>
            <a:r>
              <a:rPr lang="de-DE" altLang="de-DE" sz="1000" b="1"/>
              <a:t>Institutslogo:</a:t>
            </a:r>
          </a:p>
          <a:p>
            <a:pPr eaLnBrk="1" hangingPunct="1">
              <a:buFontTx/>
              <a:buChar char="-"/>
              <a:defRPr/>
            </a:pPr>
            <a:r>
              <a:rPr lang="de-DE" altLang="de-DE" sz="1000"/>
              <a:t>Dateiformat: PNG in RGB</a:t>
            </a:r>
          </a:p>
          <a:p>
            <a:pPr eaLnBrk="1" hangingPunct="1">
              <a:buFontTx/>
              <a:buChar char="-"/>
              <a:defRPr/>
            </a:pPr>
            <a:r>
              <a:rPr lang="de-DE" altLang="de-DE" sz="1000"/>
              <a:t>Skalieren auf</a:t>
            </a:r>
          </a:p>
          <a:p>
            <a:pPr eaLnBrk="1" hangingPunct="1">
              <a:defRPr/>
            </a:pPr>
            <a:r>
              <a:rPr lang="de-DE" altLang="de-DE" sz="1000"/>
              <a:t>     Höhe: 2,26 cm</a:t>
            </a:r>
          </a:p>
          <a:p>
            <a:pPr eaLnBrk="1" hangingPunct="1">
              <a:defRPr/>
            </a:pPr>
            <a:r>
              <a:rPr lang="de-DE" altLang="de-DE" sz="1000"/>
              <a:t>     (Breite variiert je nach   </a:t>
            </a:r>
          </a:p>
          <a:p>
            <a:pPr eaLnBrk="1" hangingPunct="1">
              <a:defRPr/>
            </a:pPr>
            <a:r>
              <a:rPr lang="de-DE" altLang="de-DE" sz="1000"/>
              <a:t>     Schutzraum)</a:t>
            </a:r>
          </a:p>
        </p:txBody>
      </p:sp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385200" y="2487600"/>
            <a:ext cx="11484000" cy="5400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defRPr sz="32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6" name="Subtitle 2"/>
          <p:cNvSpPr>
            <a:spLocks noGrp="1"/>
          </p:cNvSpPr>
          <p:nvPr>
            <p:ph type="subTitle" idx="1"/>
          </p:nvPr>
        </p:nvSpPr>
        <p:spPr>
          <a:xfrm>
            <a:off x="384000" y="2980800"/>
            <a:ext cx="11484000" cy="1655762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pic>
        <p:nvPicPr>
          <p:cNvPr id="10" name="Grafik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9777" y="6044400"/>
            <a:ext cx="3366324" cy="81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0764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_1/3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88"/>
            <a:ext cx="12192000" cy="229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feld 7"/>
          <p:cNvSpPr txBox="1"/>
          <p:nvPr/>
        </p:nvSpPr>
        <p:spPr>
          <a:xfrm>
            <a:off x="-1703388" y="495300"/>
            <a:ext cx="1439863" cy="1477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de-DE" sz="1000" b="1" dirty="0">
                <a:latin typeface="+mn-lt"/>
                <a:ea typeface="+mn-ea"/>
              </a:rPr>
              <a:t>Bild zuschneiden unter:</a:t>
            </a:r>
          </a:p>
          <a:p>
            <a:pPr marL="171450" indent="-17145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de-DE" sz="1000" dirty="0">
                <a:latin typeface="+mn-lt"/>
                <a:ea typeface="+mn-ea"/>
              </a:rPr>
              <a:t>Format</a:t>
            </a:r>
          </a:p>
          <a:p>
            <a:pPr marL="171450" indent="-17145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de-DE" sz="1000" dirty="0">
                <a:latin typeface="+mn-lt"/>
                <a:ea typeface="+mn-ea"/>
              </a:rPr>
              <a:t>Zuschneiden</a:t>
            </a:r>
          </a:p>
          <a:p>
            <a:pPr marL="171450" indent="-17145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de-DE" sz="1000" dirty="0" err="1">
                <a:latin typeface="+mn-lt"/>
                <a:ea typeface="+mn-ea"/>
              </a:rPr>
              <a:t>Zuschneidewerkzeug</a:t>
            </a:r>
            <a:r>
              <a:rPr lang="de-DE" sz="1000" dirty="0">
                <a:latin typeface="+mn-lt"/>
                <a:ea typeface="+mn-ea"/>
              </a:rPr>
              <a:t> horizontal bis zur ersten oder zweiten Linie ziehen</a:t>
            </a:r>
          </a:p>
        </p:txBody>
      </p:sp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384000" y="2487600"/>
            <a:ext cx="11484000" cy="5400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defRPr sz="32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6" name="Subtitle 2"/>
          <p:cNvSpPr>
            <a:spLocks noGrp="1"/>
          </p:cNvSpPr>
          <p:nvPr>
            <p:ph type="subTitle" idx="1"/>
          </p:nvPr>
        </p:nvSpPr>
        <p:spPr>
          <a:xfrm>
            <a:off x="384000" y="2980800"/>
            <a:ext cx="11484000" cy="1655762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pic>
        <p:nvPicPr>
          <p:cNvPr id="9" name="Grafik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9777" y="6044400"/>
            <a:ext cx="3366324" cy="81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84239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_2/3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/>
          <p:cNvSpPr txBox="1"/>
          <p:nvPr/>
        </p:nvSpPr>
        <p:spPr>
          <a:xfrm>
            <a:off x="-1703388" y="495300"/>
            <a:ext cx="1439863" cy="1477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de-DE" sz="1000" b="1" dirty="0">
                <a:latin typeface="+mn-lt"/>
                <a:ea typeface="+mn-ea"/>
              </a:rPr>
              <a:t>Bild zuschneiden unter:</a:t>
            </a:r>
          </a:p>
          <a:p>
            <a:pPr marL="171450" indent="-17145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de-DE" sz="1000" dirty="0">
                <a:latin typeface="+mn-lt"/>
                <a:ea typeface="+mn-ea"/>
              </a:rPr>
              <a:t>Format</a:t>
            </a:r>
          </a:p>
          <a:p>
            <a:pPr marL="171450" indent="-17145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de-DE" sz="1000" dirty="0">
                <a:latin typeface="+mn-lt"/>
                <a:ea typeface="+mn-ea"/>
              </a:rPr>
              <a:t>Zuschneiden</a:t>
            </a:r>
          </a:p>
          <a:p>
            <a:pPr marL="171450" indent="-17145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de-DE" sz="1000" dirty="0" err="1">
                <a:latin typeface="+mn-lt"/>
                <a:ea typeface="+mn-ea"/>
              </a:rPr>
              <a:t>Zuschneidewerkzeug</a:t>
            </a:r>
            <a:r>
              <a:rPr lang="de-DE" sz="1000" dirty="0">
                <a:latin typeface="+mn-lt"/>
                <a:ea typeface="+mn-ea"/>
              </a:rPr>
              <a:t> horizontal bis zur ersten oder zweiten Linie ziehen</a:t>
            </a:r>
          </a:p>
        </p:txBody>
      </p:sp>
      <p:pic>
        <p:nvPicPr>
          <p:cNvPr id="5" name="Grafik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1999" cy="45338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itle 1"/>
          <p:cNvSpPr>
            <a:spLocks noGrp="1"/>
          </p:cNvSpPr>
          <p:nvPr>
            <p:ph type="ctrTitle"/>
          </p:nvPr>
        </p:nvSpPr>
        <p:spPr>
          <a:xfrm>
            <a:off x="384000" y="4737600"/>
            <a:ext cx="11484000" cy="5400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defRPr sz="32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1" name="Subtitle 2"/>
          <p:cNvSpPr>
            <a:spLocks noGrp="1"/>
          </p:cNvSpPr>
          <p:nvPr>
            <p:ph type="subTitle" idx="1"/>
          </p:nvPr>
        </p:nvSpPr>
        <p:spPr>
          <a:xfrm>
            <a:off x="384000" y="5230801"/>
            <a:ext cx="11484000" cy="812813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pic>
        <p:nvPicPr>
          <p:cNvPr id="12" name="Grafik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9777" y="6044400"/>
            <a:ext cx="3366324" cy="81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25520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Gerader Verbinder 3"/>
          <p:cNvCxnSpPr/>
          <p:nvPr/>
        </p:nvCxnSpPr>
        <p:spPr>
          <a:xfrm>
            <a:off x="360363" y="6040438"/>
            <a:ext cx="114839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384000" y="2487600"/>
            <a:ext cx="11484000" cy="5400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defRPr sz="32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2" name="Subtitle 2"/>
          <p:cNvSpPr>
            <a:spLocks noGrp="1"/>
          </p:cNvSpPr>
          <p:nvPr>
            <p:ph type="subTitle" idx="1"/>
          </p:nvPr>
        </p:nvSpPr>
        <p:spPr>
          <a:xfrm>
            <a:off x="384000" y="2980800"/>
            <a:ext cx="11484000" cy="1655762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pic>
        <p:nvPicPr>
          <p:cNvPr id="6" name="Grafik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9777" y="6044400"/>
            <a:ext cx="3366324" cy="81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96271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_mittig, horizontale Li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Gerader Verbinder 7"/>
          <p:cNvCxnSpPr/>
          <p:nvPr/>
        </p:nvCxnSpPr>
        <p:spPr>
          <a:xfrm>
            <a:off x="392113" y="3036888"/>
            <a:ext cx="114839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1"/>
          <p:cNvSpPr>
            <a:spLocks noGrp="1"/>
          </p:cNvSpPr>
          <p:nvPr>
            <p:ph type="ctrTitle"/>
          </p:nvPr>
        </p:nvSpPr>
        <p:spPr>
          <a:xfrm>
            <a:off x="384000" y="2487600"/>
            <a:ext cx="11484000" cy="5400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defRPr sz="32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9" name="Subtitle 2"/>
          <p:cNvSpPr>
            <a:spLocks noGrp="1"/>
          </p:cNvSpPr>
          <p:nvPr>
            <p:ph type="subTitle" idx="1"/>
          </p:nvPr>
        </p:nvSpPr>
        <p:spPr>
          <a:xfrm>
            <a:off x="384000" y="3196800"/>
            <a:ext cx="11484000" cy="1655762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pic>
        <p:nvPicPr>
          <p:cNvPr id="6" name="Grafik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9777" y="6044400"/>
            <a:ext cx="3366324" cy="81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18416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_Aufzähl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platzhalter 11"/>
          <p:cNvSpPr>
            <a:spLocks noGrp="1"/>
          </p:cNvSpPr>
          <p:nvPr>
            <p:ph type="body" sz="quarter" idx="13"/>
          </p:nvPr>
        </p:nvSpPr>
        <p:spPr>
          <a:xfrm>
            <a:off x="373038" y="1684800"/>
            <a:ext cx="11484000" cy="3193200"/>
          </a:xfrm>
          <a:prstGeom prst="rect">
            <a:avLst/>
          </a:prstGeom>
        </p:spPr>
        <p:txBody>
          <a:bodyPr lIns="0" tIns="0" rIns="0" bIns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384000" y="201600"/>
            <a:ext cx="11484000" cy="5436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384000" y="1152000"/>
            <a:ext cx="11484000" cy="252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000" b="1" i="0"/>
            </a:lvl1pPr>
            <a:lvl2pPr marL="216000" indent="180000">
              <a:buClr>
                <a:schemeClr val="tx2"/>
              </a:buClr>
              <a:defRPr sz="1800"/>
            </a:lvl2pPr>
            <a:lvl3pPr marL="432000" indent="180000">
              <a:buClr>
                <a:schemeClr val="tx2"/>
              </a:buClr>
              <a:buFont typeface="Symbol" panose="05050102010706020507" pitchFamily="18" charset="2"/>
              <a:buChar char="-"/>
              <a:defRPr sz="1600"/>
            </a:lvl3pPr>
            <a:lvl4pPr marL="648000" indent="180000">
              <a:buClr>
                <a:schemeClr val="tx2"/>
              </a:buClr>
              <a:buFont typeface="Wingdings" panose="05000000000000000000" pitchFamily="2" charset="2"/>
              <a:buChar char="§"/>
              <a:defRPr sz="1600"/>
            </a:lvl4pPr>
            <a:lvl5pPr marL="864000" indent="180000">
              <a:buClr>
                <a:schemeClr val="tx2"/>
              </a:buClr>
              <a:buFont typeface="Arial" panose="020B0604020202020204" pitchFamily="34" charset="0"/>
              <a:buChar char="-"/>
              <a:defRPr sz="1600"/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975799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4000" y="201600"/>
            <a:ext cx="11484000" cy="5436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4000" y="1152000"/>
            <a:ext cx="11484000" cy="252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000" b="1" i="0"/>
            </a:lvl1pPr>
            <a:lvl2pPr marL="216000" indent="180000">
              <a:buClr>
                <a:schemeClr val="tx2"/>
              </a:buClr>
              <a:defRPr sz="1800"/>
            </a:lvl2pPr>
            <a:lvl3pPr marL="432000" indent="180000">
              <a:buClr>
                <a:schemeClr val="tx2"/>
              </a:buClr>
              <a:buFont typeface="Symbol" panose="05050102010706020507" pitchFamily="18" charset="2"/>
              <a:buChar char="-"/>
              <a:defRPr sz="1600"/>
            </a:lvl3pPr>
            <a:lvl4pPr marL="648000" indent="180000">
              <a:buClr>
                <a:schemeClr val="tx2"/>
              </a:buClr>
              <a:buFont typeface="Wingdings" panose="05000000000000000000" pitchFamily="2" charset="2"/>
              <a:buChar char="§"/>
              <a:defRPr sz="1600"/>
            </a:lvl4pPr>
            <a:lvl5pPr marL="864000" indent="180000">
              <a:buClr>
                <a:schemeClr val="tx2"/>
              </a:buClr>
              <a:buFont typeface="Arial" panose="020B0604020202020204" pitchFamily="34" charset="0"/>
              <a:buChar char="-"/>
              <a:defRPr sz="1600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" name="Textplatzhalter 6"/>
          <p:cNvSpPr>
            <a:spLocks noGrp="1"/>
          </p:cNvSpPr>
          <p:nvPr>
            <p:ph type="body" sz="quarter" idx="12"/>
          </p:nvPr>
        </p:nvSpPr>
        <p:spPr>
          <a:xfrm>
            <a:off x="383117" y="1684801"/>
            <a:ext cx="11484000" cy="375126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7675938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_2/3_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384000" y="1152000"/>
            <a:ext cx="7441200" cy="252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000" b="1" i="0"/>
            </a:lvl1pPr>
            <a:lvl2pPr marL="216000" indent="180000">
              <a:buClr>
                <a:schemeClr val="tx2"/>
              </a:buClr>
              <a:defRPr sz="1800"/>
            </a:lvl2pPr>
            <a:lvl3pPr marL="432000" indent="180000">
              <a:buClr>
                <a:schemeClr val="tx2"/>
              </a:buClr>
              <a:buFont typeface="Symbol" panose="05050102010706020507" pitchFamily="18" charset="2"/>
              <a:buChar char="-"/>
              <a:defRPr sz="1600"/>
            </a:lvl3pPr>
            <a:lvl4pPr marL="648000" indent="180000">
              <a:buClr>
                <a:schemeClr val="tx2"/>
              </a:buClr>
              <a:buFont typeface="Wingdings" panose="05000000000000000000" pitchFamily="2" charset="2"/>
              <a:buChar char="§"/>
              <a:defRPr sz="1600"/>
            </a:lvl4pPr>
            <a:lvl5pPr marL="864000" indent="180000">
              <a:buClr>
                <a:schemeClr val="tx2"/>
              </a:buClr>
              <a:buFont typeface="Arial" panose="020B0604020202020204" pitchFamily="34" charset="0"/>
              <a:buChar char="-"/>
              <a:defRPr sz="1600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Inhaltsplatzhalter 7"/>
          <p:cNvSpPr>
            <a:spLocks noGrp="1"/>
          </p:cNvSpPr>
          <p:nvPr>
            <p:ph sz="quarter" idx="14"/>
          </p:nvPr>
        </p:nvSpPr>
        <p:spPr>
          <a:xfrm>
            <a:off x="384000" y="1684801"/>
            <a:ext cx="7441200" cy="37512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9" name="Inhaltsplatzhalter 7"/>
          <p:cNvSpPr>
            <a:spLocks noGrp="1"/>
          </p:cNvSpPr>
          <p:nvPr>
            <p:ph sz="quarter" idx="15"/>
          </p:nvPr>
        </p:nvSpPr>
        <p:spPr>
          <a:xfrm>
            <a:off x="8149199" y="1684801"/>
            <a:ext cx="3718800" cy="37512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384000" y="201600"/>
            <a:ext cx="11484000" cy="5436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1" name="Content Placeholder 2"/>
          <p:cNvSpPr>
            <a:spLocks noGrp="1"/>
          </p:cNvSpPr>
          <p:nvPr>
            <p:ph idx="16"/>
          </p:nvPr>
        </p:nvSpPr>
        <p:spPr>
          <a:xfrm>
            <a:off x="8149199" y="1152000"/>
            <a:ext cx="3718800" cy="252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000" b="1" i="0"/>
            </a:lvl1pPr>
            <a:lvl2pPr marL="216000" indent="180000">
              <a:buClr>
                <a:schemeClr val="tx2"/>
              </a:buClr>
              <a:defRPr sz="1800"/>
            </a:lvl2pPr>
            <a:lvl3pPr marL="432000" indent="180000">
              <a:buClr>
                <a:schemeClr val="tx2"/>
              </a:buClr>
              <a:buFont typeface="Symbol" panose="05050102010706020507" pitchFamily="18" charset="2"/>
              <a:buChar char="-"/>
              <a:defRPr sz="1600"/>
            </a:lvl3pPr>
            <a:lvl4pPr marL="648000" indent="180000">
              <a:buClr>
                <a:schemeClr val="tx2"/>
              </a:buClr>
              <a:buFont typeface="Wingdings" panose="05000000000000000000" pitchFamily="2" charset="2"/>
              <a:buChar char="§"/>
              <a:defRPr sz="1600"/>
            </a:lvl4pPr>
            <a:lvl5pPr marL="864000" indent="180000">
              <a:buClr>
                <a:schemeClr val="tx2"/>
              </a:buClr>
              <a:buFont typeface="Arial" panose="020B0604020202020204" pitchFamily="34" charset="0"/>
              <a:buChar char="-"/>
              <a:defRPr sz="1600"/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8135988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halt_1/3_2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Inhaltsplatzhalter 7"/>
          <p:cNvSpPr>
            <a:spLocks noGrp="1"/>
          </p:cNvSpPr>
          <p:nvPr>
            <p:ph sz="quarter" idx="14"/>
          </p:nvPr>
        </p:nvSpPr>
        <p:spPr>
          <a:xfrm>
            <a:off x="4426800" y="1684801"/>
            <a:ext cx="7441200" cy="37512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9" name="Inhaltsplatzhalter 7"/>
          <p:cNvSpPr>
            <a:spLocks noGrp="1"/>
          </p:cNvSpPr>
          <p:nvPr>
            <p:ph sz="quarter" idx="15"/>
          </p:nvPr>
        </p:nvSpPr>
        <p:spPr>
          <a:xfrm>
            <a:off x="384000" y="1684801"/>
            <a:ext cx="3718800" cy="37512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84000" y="201600"/>
            <a:ext cx="11484000" cy="5436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426800" y="1152000"/>
            <a:ext cx="7441200" cy="252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000" b="1" i="0"/>
            </a:lvl1pPr>
            <a:lvl2pPr marL="216000" indent="180000">
              <a:buClr>
                <a:schemeClr val="tx2"/>
              </a:buClr>
              <a:defRPr sz="1800"/>
            </a:lvl2pPr>
            <a:lvl3pPr marL="432000" indent="180000">
              <a:buClr>
                <a:schemeClr val="tx2"/>
              </a:buClr>
              <a:buFont typeface="Symbol" panose="05050102010706020507" pitchFamily="18" charset="2"/>
              <a:buChar char="-"/>
              <a:defRPr sz="1600"/>
            </a:lvl3pPr>
            <a:lvl4pPr marL="648000" indent="180000">
              <a:buClr>
                <a:schemeClr val="tx2"/>
              </a:buClr>
              <a:buFont typeface="Wingdings" panose="05000000000000000000" pitchFamily="2" charset="2"/>
              <a:buChar char="§"/>
              <a:defRPr sz="1600"/>
            </a:lvl4pPr>
            <a:lvl5pPr marL="864000" indent="180000">
              <a:buClr>
                <a:schemeClr val="tx2"/>
              </a:buClr>
              <a:buFont typeface="Arial" panose="020B0604020202020204" pitchFamily="34" charset="0"/>
              <a:buChar char="-"/>
              <a:defRPr sz="1600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idx="16"/>
          </p:nvPr>
        </p:nvSpPr>
        <p:spPr>
          <a:xfrm>
            <a:off x="384000" y="1152000"/>
            <a:ext cx="3718800" cy="252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000" b="1" i="0"/>
            </a:lvl1pPr>
            <a:lvl2pPr marL="216000" indent="180000">
              <a:buClr>
                <a:schemeClr val="tx2"/>
              </a:buClr>
              <a:defRPr sz="1800"/>
            </a:lvl2pPr>
            <a:lvl3pPr marL="432000" indent="180000">
              <a:buClr>
                <a:schemeClr val="tx2"/>
              </a:buClr>
              <a:buFont typeface="Symbol" panose="05050102010706020507" pitchFamily="18" charset="2"/>
              <a:buChar char="-"/>
              <a:defRPr sz="1600"/>
            </a:lvl3pPr>
            <a:lvl4pPr marL="648000" indent="180000">
              <a:buClr>
                <a:schemeClr val="tx2"/>
              </a:buClr>
              <a:buFont typeface="Wingdings" panose="05000000000000000000" pitchFamily="2" charset="2"/>
              <a:buChar char="§"/>
              <a:defRPr sz="1600"/>
            </a:lvl4pPr>
            <a:lvl5pPr marL="864000" indent="180000">
              <a:buClr>
                <a:schemeClr val="tx2"/>
              </a:buClr>
              <a:buFont typeface="Arial" panose="020B0604020202020204" pitchFamily="34" charset="0"/>
              <a:buChar char="-"/>
              <a:defRPr sz="1600"/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40432707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_Text_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7375" y="1684338"/>
            <a:ext cx="3635375" cy="3989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extplatzhalter 11"/>
          <p:cNvSpPr>
            <a:spLocks noGrp="1"/>
          </p:cNvSpPr>
          <p:nvPr>
            <p:ph type="body" sz="quarter" idx="14"/>
          </p:nvPr>
        </p:nvSpPr>
        <p:spPr>
          <a:xfrm>
            <a:off x="383117" y="1684800"/>
            <a:ext cx="7560000" cy="3985955"/>
          </a:xfrm>
          <a:prstGeom prst="rect">
            <a:avLst/>
          </a:prstGeom>
        </p:spPr>
        <p:txBody>
          <a:bodyPr lIns="0" tIns="0" rIns="0" bIns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84000" y="201600"/>
            <a:ext cx="11484000" cy="5436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384000" y="1152000"/>
            <a:ext cx="11484000" cy="252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000" b="1" i="0"/>
            </a:lvl1pPr>
            <a:lvl2pPr marL="216000" indent="180000">
              <a:buClr>
                <a:schemeClr val="tx2"/>
              </a:buClr>
              <a:defRPr sz="1800"/>
            </a:lvl2pPr>
            <a:lvl3pPr marL="432000" indent="180000">
              <a:buClr>
                <a:schemeClr val="tx2"/>
              </a:buClr>
              <a:buFont typeface="Symbol" panose="05050102010706020507" pitchFamily="18" charset="2"/>
              <a:buChar char="-"/>
              <a:defRPr sz="1600"/>
            </a:lvl3pPr>
            <a:lvl4pPr marL="648000" indent="180000">
              <a:buClr>
                <a:schemeClr val="tx2"/>
              </a:buClr>
              <a:buFont typeface="Wingdings" panose="05000000000000000000" pitchFamily="2" charset="2"/>
              <a:buChar char="§"/>
              <a:defRPr sz="1600"/>
            </a:lvl4pPr>
            <a:lvl5pPr marL="864000" indent="180000">
              <a:buClr>
                <a:schemeClr val="tx2"/>
              </a:buClr>
              <a:buFont typeface="Arial" panose="020B0604020202020204" pitchFamily="34" charset="0"/>
              <a:buChar char="-"/>
              <a:defRPr sz="1600"/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8204551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_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763" y="1152525"/>
            <a:ext cx="11480800" cy="398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platzhalter 9"/>
          <p:cNvSpPr>
            <a:spLocks noGrp="1"/>
          </p:cNvSpPr>
          <p:nvPr>
            <p:ph type="body" sz="quarter" idx="13"/>
          </p:nvPr>
        </p:nvSpPr>
        <p:spPr>
          <a:xfrm>
            <a:off x="383117" y="5359401"/>
            <a:ext cx="11484000" cy="49953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r">
              <a:buNone/>
              <a:defRPr sz="900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384000" y="201600"/>
            <a:ext cx="11484000" cy="5436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25969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_Diagram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platzhalter 24"/>
          <p:cNvSpPr>
            <a:spLocks noGrp="1"/>
          </p:cNvSpPr>
          <p:nvPr>
            <p:ph type="body" sz="quarter" idx="11"/>
          </p:nvPr>
        </p:nvSpPr>
        <p:spPr>
          <a:xfrm>
            <a:off x="384000" y="1152000"/>
            <a:ext cx="11484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FontTx/>
              <a:buNone/>
              <a:defRPr sz="2000" b="1"/>
            </a:lvl1pPr>
            <a:lvl2pPr marL="457200" indent="0">
              <a:buFontTx/>
              <a:buNone/>
              <a:defRPr sz="1800"/>
            </a:lvl2pPr>
            <a:lvl3pPr marL="914400" indent="0">
              <a:buFontTx/>
              <a:buNone/>
              <a:defRPr sz="1800"/>
            </a:lvl3pPr>
            <a:lvl4pPr marL="1371600" indent="0">
              <a:buFontTx/>
              <a:buNone/>
              <a:defRPr sz="1800"/>
            </a:lvl4pPr>
            <a:lvl5pPr marL="1828800" indent="0">
              <a:buFontTx/>
              <a:buNone/>
              <a:defRPr sz="1800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9" name="Diagrammplatzhalter 8"/>
          <p:cNvSpPr>
            <a:spLocks noGrp="1"/>
          </p:cNvSpPr>
          <p:nvPr>
            <p:ph type="chart" sz="quarter" idx="13"/>
          </p:nvPr>
        </p:nvSpPr>
        <p:spPr>
          <a:xfrm>
            <a:off x="383117" y="1684800"/>
            <a:ext cx="11484000" cy="3632200"/>
          </a:xfrm>
          <a:prstGeom prst="rect">
            <a:avLst/>
          </a:prstGeom>
        </p:spPr>
        <p:txBody>
          <a:bodyPr lIns="0" tIns="0" rIns="0" bIns="0"/>
          <a:lstStyle/>
          <a:p>
            <a:pPr lvl="0"/>
            <a:r>
              <a:rPr lang="de-DE" noProof="0"/>
              <a:t>Diagramm durch Klicken auf Symbol hinzufügen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384000" y="201600"/>
            <a:ext cx="11484000" cy="5436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8794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bschluss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382588" y="2487613"/>
            <a:ext cx="11483975" cy="1079500"/>
          </a:xfrm>
          <a:prstGeom prst="rect">
            <a:avLst/>
          </a:prstGeom>
        </p:spPr>
        <p:txBody>
          <a:bodyPr lIns="0" tIns="0" rIns="0" bIns="0"/>
          <a:lstStyle>
            <a:lvl1pPr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lnSpc>
                <a:spcPct val="90000"/>
              </a:lnSpc>
              <a:defRPr/>
            </a:pPr>
            <a:r>
              <a:rPr lang="de-DE" altLang="de-DE" sz="3200" b="1">
                <a:solidFill>
                  <a:schemeClr val="tx2"/>
                </a:solidFill>
              </a:rPr>
              <a:t>Vielen Dank</a:t>
            </a:r>
            <a:br>
              <a:rPr lang="de-DE" altLang="de-DE" sz="3200" b="1">
                <a:solidFill>
                  <a:schemeClr val="tx2"/>
                </a:solidFill>
              </a:rPr>
            </a:br>
            <a:r>
              <a:rPr lang="de-DE" altLang="de-DE" sz="3200" b="1">
                <a:solidFill>
                  <a:schemeClr val="tx2"/>
                </a:solidFill>
              </a:rPr>
              <a:t>für Ihre Aufmerksamkeit</a:t>
            </a:r>
            <a:endParaRPr lang="en-US" altLang="de-DE" sz="3200" b="1">
              <a:solidFill>
                <a:schemeClr val="tx2"/>
              </a:solidFill>
            </a:endParaRPr>
          </a:p>
        </p:txBody>
      </p:sp>
      <p:cxnSp>
        <p:nvCxnSpPr>
          <p:cNvPr id="5" name="Gerader Verbinder 11"/>
          <p:cNvCxnSpPr/>
          <p:nvPr/>
        </p:nvCxnSpPr>
        <p:spPr>
          <a:xfrm>
            <a:off x="360363" y="6040438"/>
            <a:ext cx="114839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platzhalter 24"/>
          <p:cNvSpPr>
            <a:spLocks noGrp="1"/>
          </p:cNvSpPr>
          <p:nvPr>
            <p:ph type="body" sz="quarter" idx="11"/>
          </p:nvPr>
        </p:nvSpPr>
        <p:spPr>
          <a:xfrm>
            <a:off x="384000" y="3988800"/>
            <a:ext cx="11484000" cy="165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 b="0"/>
            </a:lvl1pPr>
            <a:lvl2pPr marL="457200" indent="0">
              <a:buFontTx/>
              <a:buNone/>
              <a:defRPr sz="1800"/>
            </a:lvl2pPr>
            <a:lvl3pPr marL="914400" indent="0">
              <a:buFontTx/>
              <a:buNone/>
              <a:defRPr sz="1800"/>
            </a:lvl3pPr>
            <a:lvl4pPr marL="1371600" indent="0">
              <a:buFontTx/>
              <a:buNone/>
              <a:defRPr sz="1800"/>
            </a:lvl4pPr>
            <a:lvl5pPr marL="1828800" indent="0">
              <a:buFontTx/>
              <a:buNone/>
              <a:defRPr sz="1800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6" name="Grafik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9777" y="6044400"/>
            <a:ext cx="3366324" cy="81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78769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/>
          <p:cNvSpPr txBox="1">
            <a:spLocks/>
          </p:cNvSpPr>
          <p:nvPr/>
        </p:nvSpPr>
        <p:spPr>
          <a:xfrm>
            <a:off x="1195388" y="6227764"/>
            <a:ext cx="7002462" cy="395286"/>
          </a:xfrm>
          <a:prstGeom prst="rect">
            <a:avLst/>
          </a:prstGeom>
        </p:spPr>
        <p:txBody>
          <a:bodyPr lIns="0" tIns="0" rIns="0" bIns="0"/>
          <a:lstStyle>
            <a:lvl1pPr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1050" kern="1200" baseline="0" dirty="0">
                <a:solidFill>
                  <a:schemeClr val="tx2"/>
                </a:solidFill>
                <a:latin typeface="Arial" pitchFamily="34" charset="0"/>
                <a:ea typeface="ＭＳ Ｐゴシック" pitchFamily="34" charset="-128"/>
                <a:cs typeface="+mn-cs"/>
              </a:rPr>
              <a:t>Teaser-Folie I Projekt/Bachelor/Masterarbeit von Vorname Name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1050" kern="1200" baseline="0" dirty="0">
                <a:solidFill>
                  <a:schemeClr val="tx2"/>
                </a:solidFill>
                <a:latin typeface="Arial" pitchFamily="34" charset="0"/>
                <a:ea typeface="ＭＳ Ｐゴシック" pitchFamily="34" charset="-128"/>
                <a:cs typeface="+mn-cs"/>
              </a:rPr>
              <a:t> Titel der Arbeit I Datum</a:t>
            </a:r>
            <a:endParaRPr lang="de-DE" altLang="de-DE" sz="1050" kern="1200" baseline="0" dirty="0">
              <a:solidFill>
                <a:schemeClr val="tx2"/>
              </a:solidFill>
              <a:latin typeface="Arial" pitchFamily="34" charset="0"/>
              <a:ea typeface="ＭＳ Ｐゴシック" pitchFamily="34" charset="-128"/>
              <a:cs typeface="+mn-cs"/>
            </a:endParaRPr>
          </a:p>
        </p:txBody>
      </p:sp>
      <p:cxnSp>
        <p:nvCxnSpPr>
          <p:cNvPr id="11" name="Gerader Verbinder 10"/>
          <p:cNvCxnSpPr/>
          <p:nvPr/>
        </p:nvCxnSpPr>
        <p:spPr>
          <a:xfrm>
            <a:off x="360363" y="814388"/>
            <a:ext cx="114839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Gerader Verbinder 11"/>
          <p:cNvCxnSpPr/>
          <p:nvPr/>
        </p:nvCxnSpPr>
        <p:spPr>
          <a:xfrm>
            <a:off x="360363" y="6040438"/>
            <a:ext cx="114839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0" name="Textfeld 6"/>
          <p:cNvSpPr txBox="1">
            <a:spLocks noChangeArrowheads="1"/>
          </p:cNvSpPr>
          <p:nvPr/>
        </p:nvSpPr>
        <p:spPr bwMode="auto">
          <a:xfrm>
            <a:off x="-1784350" y="5073650"/>
            <a:ext cx="1668462" cy="178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defRPr/>
            </a:pPr>
            <a:r>
              <a:rPr lang="de-DE" altLang="de-DE" sz="1000" b="1"/>
              <a:t>Fußzeile anpassen:</a:t>
            </a:r>
            <a:endParaRPr lang="de-DE" altLang="de-DE" sz="1000"/>
          </a:p>
          <a:p>
            <a:pPr eaLnBrk="1" hangingPunct="1">
              <a:defRPr/>
            </a:pPr>
            <a:r>
              <a:rPr lang="de-DE" altLang="de-DE" sz="1000"/>
              <a:t>Zum Anpassen der Fußzeile unter Karteireiter Ansicht &gt; auf Folienmaster klicken. Links in der Übersicht auf die oberste Folie scrollen und dort in die Fußzeile klicken. So wird der Text automatisch auf allen Seiten angepasst.</a:t>
            </a:r>
            <a:endParaRPr lang="de-DE" altLang="de-DE" sz="1000" b="1"/>
          </a:p>
        </p:txBody>
      </p:sp>
      <p:sp>
        <p:nvSpPr>
          <p:cNvPr id="1031" name="Textfeld 13"/>
          <p:cNvSpPr txBox="1">
            <a:spLocks noChangeArrowheads="1"/>
          </p:cNvSpPr>
          <p:nvPr/>
        </p:nvSpPr>
        <p:spPr bwMode="auto">
          <a:xfrm>
            <a:off x="360363" y="6227763"/>
            <a:ext cx="730250" cy="395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C2220154-828B-4C84-BC39-BAE48C2A1705}" type="slidenum">
              <a:rPr lang="de-DE" altLang="de-DE" sz="1050">
                <a:solidFill>
                  <a:schemeClr val="tx2"/>
                </a:solidFill>
              </a:rPr>
              <a:pPr eaLnBrk="1" hangingPunct="1"/>
              <a:t>‹#›</a:t>
            </a:fld>
            <a:endParaRPr lang="de-DE" altLang="de-DE" sz="1050" dirty="0">
              <a:solidFill>
                <a:schemeClr val="tx2"/>
              </a:solidFill>
            </a:endParaRPr>
          </a:p>
        </p:txBody>
      </p:sp>
      <p:pic>
        <p:nvPicPr>
          <p:cNvPr id="10" name="Grafik 9"/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9777" y="6044400"/>
            <a:ext cx="3366324" cy="8136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60" r:id="rId1"/>
    <p:sldLayoutId id="2147483861" r:id="rId2"/>
    <p:sldLayoutId id="2147483862" r:id="rId3"/>
    <p:sldLayoutId id="2147483863" r:id="rId4"/>
    <p:sldLayoutId id="2147483864" r:id="rId5"/>
    <p:sldLayoutId id="2147483857" r:id="rId6"/>
    <p:sldLayoutId id="2147483858" r:id="rId7"/>
    <p:sldLayoutId id="2147483868" r:id="rId8"/>
    <p:sldLayoutId id="2147483869" r:id="rId9"/>
    <p:sldLayoutId id="2147483865" r:id="rId10"/>
    <p:sldLayoutId id="2147483866" r:id="rId11"/>
    <p:sldLayoutId id="2147483859" r:id="rId12"/>
    <p:sldLayoutId id="2147483867" r:id="rId13"/>
  </p:sldLayoutIdLst>
  <p:hf hdr="0" ftr="0" dt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215900" indent="-215900" algn="l" defTabSz="215900" rtl="0" eaLnBrk="1" fontAlgn="base" hangingPunct="1">
        <a:spcBef>
          <a:spcPct val="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•"/>
        <a:tabLst>
          <a:tab pos="215900" algn="l"/>
        </a:tabLst>
        <a:defRPr kern="1200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1pPr>
      <a:lvl2pPr marL="431800" indent="-215900" algn="l" rtl="0" eaLnBrk="1" fontAlgn="base" hangingPunct="1">
        <a:spcBef>
          <a:spcPct val="0"/>
        </a:spcBef>
        <a:spcAft>
          <a:spcPct val="0"/>
        </a:spcAft>
        <a:buClr>
          <a:schemeClr val="tx2"/>
        </a:buClr>
        <a:buFont typeface="Symbol" panose="05050102010706020507" pitchFamily="18" charset="2"/>
        <a:buChar char="-"/>
        <a:tabLst>
          <a:tab pos="431800" algn="l"/>
        </a:tabLst>
        <a:defRPr sz="1600" kern="12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marL="647700" indent="-215900" algn="l" defTabSz="215900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tabLst>
          <a:tab pos="647700" algn="l"/>
        </a:tabLst>
        <a:defRPr sz="1600" kern="12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marL="863600" indent="-215900" algn="l" defTabSz="215900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100000"/>
        <a:buFont typeface="Arial" panose="020B0604020202020204" pitchFamily="34" charset="0"/>
        <a:buChar char="-"/>
        <a:tabLst>
          <a:tab pos="863600" algn="l"/>
        </a:tabLst>
        <a:defRPr sz="1600" kern="12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marL="863600" indent="-2159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-"/>
        <a:tabLst>
          <a:tab pos="895350" algn="l"/>
        </a:tabLst>
        <a:defRPr sz="1600" kern="12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5D3_9A3E1C86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5D7_D2949351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5D8_345D2F3E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5D4_69A6FFE9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5D5_2D29FAA8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5D6_800809FF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Vorname Name, Betreut durch: Vorname Name des/r Betreuers/in, Datum 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idx="1"/>
          </p:nvPr>
        </p:nvSpPr>
        <p:spPr>
          <a:xfrm>
            <a:off x="384000" y="1158150"/>
            <a:ext cx="11484000" cy="252000"/>
          </a:xfrm>
        </p:spPr>
        <p:txBody>
          <a:bodyPr/>
          <a:lstStyle/>
          <a:p>
            <a:r>
              <a:rPr lang="de-DE" dirty="0"/>
              <a:t>Projekt/Bachelor/Masterarbeitsvortrag: Titel der Arbeit</a:t>
            </a:r>
          </a:p>
        </p:txBody>
      </p:sp>
      <p:sp>
        <p:nvSpPr>
          <p:cNvPr id="5" name="CustomShape 2"/>
          <p:cNvSpPr/>
          <p:nvPr/>
        </p:nvSpPr>
        <p:spPr>
          <a:xfrm>
            <a:off x="693043" y="1924977"/>
            <a:ext cx="4859337" cy="3525516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7500" tIns="33750" rIns="67500" bIns="33750">
            <a:spAutoFit/>
          </a:bodyPr>
          <a:lstStyle/>
          <a:p>
            <a:pPr marL="286020" indent="-285750" eaLnBrk="1" fontAlgn="auto" hangingPunct="1">
              <a:spcBef>
                <a:spcPts val="451"/>
              </a:spcBef>
              <a:spcAft>
                <a:spcPts val="0"/>
              </a:spcAft>
              <a:buClr>
                <a:srgbClr val="00549F"/>
              </a:buClr>
              <a:buFont typeface="Arial" panose="020B0604020202020204" pitchFamily="34" charset="0"/>
              <a:buChar char="•"/>
              <a:defRPr/>
            </a:pPr>
            <a:r>
              <a:rPr lang="de-DE" sz="1600" b="1" spc="-1" dirty="0">
                <a:solidFill>
                  <a:srgbClr val="000000"/>
                </a:solidFill>
                <a:ea typeface="PMingLiU"/>
              </a:rPr>
              <a:t>3 oder 4 Stickpunkte </a:t>
            </a:r>
            <a:r>
              <a:rPr lang="de-DE" sz="1600" spc="-1" dirty="0">
                <a:solidFill>
                  <a:srgbClr val="000000"/>
                </a:solidFill>
                <a:ea typeface="PMingLiU"/>
              </a:rPr>
              <a:t>für Hauptergebnisse und</a:t>
            </a:r>
            <a:r>
              <a:rPr lang="de-DE" sz="1600" b="1" spc="-1" dirty="0">
                <a:solidFill>
                  <a:srgbClr val="000000"/>
                </a:solidFill>
                <a:ea typeface="PMingLiU"/>
              </a:rPr>
              <a:t> Weniger als 15 Wörter</a:t>
            </a:r>
            <a:r>
              <a:rPr lang="de-DE" sz="1600" spc="-1" dirty="0">
                <a:solidFill>
                  <a:srgbClr val="000000"/>
                </a:solidFill>
                <a:ea typeface="PMingLiU"/>
              </a:rPr>
              <a:t> pro Stichpunkt</a:t>
            </a:r>
          </a:p>
          <a:p>
            <a:pPr marL="286020" indent="-285750" eaLnBrk="1" fontAlgn="auto" hangingPunct="1">
              <a:spcBef>
                <a:spcPts val="451"/>
              </a:spcBef>
              <a:spcAft>
                <a:spcPts val="0"/>
              </a:spcAft>
              <a:buClr>
                <a:srgbClr val="00549F"/>
              </a:buClr>
              <a:buFont typeface="Arial" panose="020B0604020202020204" pitchFamily="34" charset="0"/>
              <a:buChar char="•"/>
              <a:defRPr/>
            </a:pPr>
            <a:endParaRPr lang="de-DE" sz="1600" spc="-1" dirty="0">
              <a:solidFill>
                <a:srgbClr val="000000"/>
              </a:solidFill>
              <a:ea typeface="PMingLiU"/>
            </a:endParaRPr>
          </a:p>
          <a:p>
            <a:pPr marL="286020" indent="-285750" eaLnBrk="1" fontAlgn="auto" hangingPunct="1">
              <a:spcBef>
                <a:spcPts val="451"/>
              </a:spcBef>
              <a:spcAft>
                <a:spcPts val="0"/>
              </a:spcAft>
              <a:buClr>
                <a:srgbClr val="00549F"/>
              </a:buClr>
              <a:buFont typeface="Arial" panose="020B0604020202020204" pitchFamily="34" charset="0"/>
              <a:buChar char="•"/>
              <a:defRPr/>
            </a:pPr>
            <a:r>
              <a:rPr lang="de-DE" sz="1600" b="1" spc="-1" dirty="0">
                <a:solidFill>
                  <a:srgbClr val="000000"/>
                </a:solidFill>
                <a:ea typeface="PMingLiU"/>
              </a:rPr>
              <a:t>Nur</a:t>
            </a:r>
            <a:r>
              <a:rPr lang="de-DE" sz="1600" b="1" i="1" spc="-1" dirty="0">
                <a:solidFill>
                  <a:srgbClr val="000000"/>
                </a:solidFill>
                <a:ea typeface="PMingLiU"/>
              </a:rPr>
              <a:t> </a:t>
            </a:r>
            <a:r>
              <a:rPr lang="de-DE" sz="1600" b="1" spc="-1" dirty="0">
                <a:solidFill>
                  <a:srgbClr val="000000"/>
                </a:solidFill>
                <a:ea typeface="PMingLiU"/>
              </a:rPr>
              <a:t>1 Bild </a:t>
            </a:r>
            <a:r>
              <a:rPr lang="de-DE" sz="1600" spc="-1" dirty="0">
                <a:solidFill>
                  <a:srgbClr val="000000"/>
                </a:solidFill>
                <a:ea typeface="PMingLiU"/>
              </a:rPr>
              <a:t>(dafür das Bild zur Rechten durch eigenes Bild ersetzen)</a:t>
            </a:r>
            <a:endParaRPr lang="de-DE" sz="1600" spc="-1" dirty="0"/>
          </a:p>
          <a:p>
            <a:pPr marL="286020" indent="-285750" eaLnBrk="1" fontAlgn="auto" hangingPunct="1">
              <a:spcBef>
                <a:spcPts val="451"/>
              </a:spcBef>
              <a:spcAft>
                <a:spcPts val="0"/>
              </a:spcAft>
              <a:buClr>
                <a:srgbClr val="00549F"/>
              </a:buClr>
              <a:buFont typeface="Arial" panose="020B0604020202020204" pitchFamily="34" charset="0"/>
              <a:buChar char="•"/>
              <a:defRPr/>
            </a:pPr>
            <a:r>
              <a:rPr lang="de-DE" sz="1600" spc="-1" dirty="0">
                <a:solidFill>
                  <a:srgbClr val="000000"/>
                </a:solidFill>
                <a:ea typeface="PMingLiU"/>
              </a:rPr>
              <a:t>Die Teaser-Folie </a:t>
            </a:r>
            <a:r>
              <a:rPr lang="de-DE" sz="1600" spc="-1">
                <a:solidFill>
                  <a:srgbClr val="000000"/>
                </a:solidFill>
                <a:ea typeface="PMingLiU"/>
              </a:rPr>
              <a:t>sollte als </a:t>
            </a:r>
            <a:r>
              <a:rPr lang="de-DE" sz="1600" b="1" spc="-1" dirty="0" err="1">
                <a:solidFill>
                  <a:srgbClr val="000000"/>
                </a:solidFill>
                <a:ea typeface="PMingLiU"/>
              </a:rPr>
              <a:t>pdf</a:t>
            </a:r>
            <a:r>
              <a:rPr lang="de-DE" sz="1600" spc="-1" dirty="0">
                <a:solidFill>
                  <a:srgbClr val="000000"/>
                </a:solidFill>
                <a:ea typeface="PMingLiU"/>
              </a:rPr>
              <a:t> </a:t>
            </a:r>
            <a:r>
              <a:rPr lang="de-DE" sz="1600" b="1" spc="-1" dirty="0">
                <a:solidFill>
                  <a:srgbClr val="000000"/>
                </a:solidFill>
                <a:ea typeface="PMingLiU"/>
              </a:rPr>
              <a:t>1 Woche </a:t>
            </a:r>
            <a:r>
              <a:rPr lang="de-DE" sz="1600" spc="-1" dirty="0">
                <a:solidFill>
                  <a:srgbClr val="000000"/>
                </a:solidFill>
                <a:ea typeface="PMingLiU"/>
              </a:rPr>
              <a:t>vor dem Vortrag im </a:t>
            </a:r>
            <a:r>
              <a:rPr lang="de-DE" sz="1600" spc="-1" dirty="0" err="1">
                <a:solidFill>
                  <a:srgbClr val="000000"/>
                </a:solidFill>
                <a:ea typeface="PMingLiU"/>
              </a:rPr>
              <a:t>wiki</a:t>
            </a:r>
            <a:r>
              <a:rPr lang="de-DE" sz="1600" spc="-1" dirty="0">
                <a:solidFill>
                  <a:srgbClr val="000000"/>
                </a:solidFill>
                <a:ea typeface="PMingLiU"/>
              </a:rPr>
              <a:t> hochgeladen und verlinkt werden (max. 2MB)</a:t>
            </a:r>
          </a:p>
          <a:p>
            <a:pPr marL="286020" indent="-285750" eaLnBrk="1" fontAlgn="auto" hangingPunct="1">
              <a:spcBef>
                <a:spcPts val="451"/>
              </a:spcBef>
              <a:spcAft>
                <a:spcPts val="0"/>
              </a:spcAft>
              <a:buClr>
                <a:srgbClr val="00549F"/>
              </a:buClr>
              <a:buFont typeface="Arial" panose="020B0604020202020204" pitchFamily="34" charset="0"/>
              <a:buChar char="•"/>
              <a:defRPr/>
            </a:pPr>
            <a:r>
              <a:rPr lang="de-DE" sz="1600" spc="-1" dirty="0">
                <a:solidFill>
                  <a:srgbClr val="000000"/>
                </a:solidFill>
                <a:ea typeface="PMingLiU"/>
              </a:rPr>
              <a:t>Formatierung beibehalten: 16:9 – Format, IRT – Master, </a:t>
            </a:r>
            <a:r>
              <a:rPr lang="de-DE" sz="1600" b="1" spc="-1" dirty="0">
                <a:solidFill>
                  <a:srgbClr val="000000"/>
                </a:solidFill>
                <a:ea typeface="PMingLiU"/>
              </a:rPr>
              <a:t>Arial 20pt </a:t>
            </a:r>
            <a:r>
              <a:rPr lang="de-DE" sz="1600" spc="-1" dirty="0">
                <a:solidFill>
                  <a:srgbClr val="000000"/>
                </a:solidFill>
                <a:ea typeface="PMingLiU"/>
              </a:rPr>
              <a:t>Schriftart in Fett für den Titel,   </a:t>
            </a:r>
            <a:r>
              <a:rPr lang="de-DE" sz="1600" b="1" spc="-1" dirty="0">
                <a:solidFill>
                  <a:srgbClr val="000000"/>
                </a:solidFill>
                <a:ea typeface="PMingLiU"/>
              </a:rPr>
              <a:t>Arial 16pt </a:t>
            </a:r>
            <a:r>
              <a:rPr lang="de-DE" sz="1600" spc="-1" dirty="0">
                <a:solidFill>
                  <a:srgbClr val="000000"/>
                </a:solidFill>
                <a:ea typeface="PMingLiU"/>
              </a:rPr>
              <a:t>Schriftart für </a:t>
            </a:r>
            <a:r>
              <a:rPr lang="de-DE" sz="1600" b="1" spc="-1" dirty="0">
                <a:solidFill>
                  <a:srgbClr val="000000"/>
                </a:solidFill>
                <a:ea typeface="PMingLiU"/>
              </a:rPr>
              <a:t>kurze</a:t>
            </a:r>
            <a:r>
              <a:rPr lang="de-DE" sz="1600" spc="-1" dirty="0">
                <a:solidFill>
                  <a:srgbClr val="000000"/>
                </a:solidFill>
                <a:ea typeface="PMingLiU"/>
              </a:rPr>
              <a:t> Ausführung der Hauptergebnisse der Arbeit </a:t>
            </a:r>
          </a:p>
          <a:p>
            <a:pPr marL="285750" indent="-285750">
              <a:buClr>
                <a:srgbClr val="00549F"/>
              </a:buClr>
              <a:buFont typeface="Arial" panose="020B0604020202020204" pitchFamily="34" charset="0"/>
              <a:buChar char="•"/>
              <a:defRPr/>
            </a:pPr>
            <a:endParaRPr lang="de-DE" sz="1600" spc="-1" dirty="0">
              <a:solidFill>
                <a:srgbClr val="000000"/>
              </a:solidFill>
              <a:ea typeface="PMingLiU"/>
            </a:endParaRPr>
          </a:p>
        </p:txBody>
      </p:sp>
      <p:sp>
        <p:nvSpPr>
          <p:cNvPr id="7" name="CustomShape 4"/>
          <p:cNvSpPr/>
          <p:nvPr/>
        </p:nvSpPr>
        <p:spPr>
          <a:xfrm>
            <a:off x="7971502" y="4977582"/>
            <a:ext cx="3292631" cy="283603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67500" tIns="33750" rIns="67500" bIns="33750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spc="-1" dirty="0" err="1">
                <a:solidFill>
                  <a:srgbClr val="000000"/>
                </a:solidFill>
                <a:ea typeface="PMingLiU"/>
              </a:rPr>
              <a:t>Bildunterschrift</a:t>
            </a:r>
            <a:r>
              <a:rPr lang="en-US" sz="1400" spc="-1" dirty="0">
                <a:solidFill>
                  <a:srgbClr val="000000"/>
                </a:solidFill>
                <a:ea typeface="PMingLiU"/>
              </a:rPr>
              <a:t> </a:t>
            </a:r>
            <a:r>
              <a:rPr lang="en-US" sz="1400" spc="-1" dirty="0" err="1">
                <a:solidFill>
                  <a:srgbClr val="000000"/>
                </a:solidFill>
                <a:ea typeface="PMingLiU"/>
              </a:rPr>
              <a:t>ist</a:t>
            </a:r>
            <a:r>
              <a:rPr lang="en-US" sz="1400" spc="-1" dirty="0">
                <a:solidFill>
                  <a:srgbClr val="000000"/>
                </a:solidFill>
                <a:ea typeface="PMingLiU"/>
              </a:rPr>
              <a:t> optional, </a:t>
            </a:r>
            <a:r>
              <a:rPr lang="en-US" sz="1400" b="1" spc="-1" dirty="0">
                <a:solidFill>
                  <a:srgbClr val="000000"/>
                </a:solidFill>
                <a:ea typeface="PMingLiU"/>
              </a:rPr>
              <a:t>Arial 14pt</a:t>
            </a:r>
            <a:endParaRPr lang="en-US" sz="1400" b="1" spc="-1" dirty="0"/>
          </a:p>
        </p:txBody>
      </p:sp>
      <p:sp>
        <p:nvSpPr>
          <p:cNvPr id="8" name="CustomShape 5"/>
          <p:cNvSpPr/>
          <p:nvPr/>
        </p:nvSpPr>
        <p:spPr>
          <a:xfrm>
            <a:off x="7309935" y="2426208"/>
            <a:ext cx="4472650" cy="2408327"/>
          </a:xfrm>
          <a:prstGeom prst="rect">
            <a:avLst/>
          </a:prstGeom>
          <a:blipFill rotWithShape="0">
            <a:blip r:embed="rId3"/>
            <a:tile/>
          </a:blipFill>
          <a:ln w="9360">
            <a:noFill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pPr>
              <a:defRPr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3971747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515A0200-94A9-1893-FE11-5F49FC2C390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1.</a:t>
            </a:r>
            <a:r>
              <a:rPr lang="zh-CN" altLang="en-US" dirty="0"/>
              <a:t>对于模型评估的部分，需要重新查看，做法是不对的，要有时间对齐，并且考虑</a:t>
            </a:r>
            <a:r>
              <a:rPr lang="en-US" altLang="zh-CN" dirty="0"/>
              <a:t>PL</a:t>
            </a:r>
            <a:r>
              <a:rPr lang="zh-CN" altLang="en-US" dirty="0"/>
              <a:t>信号的影响</a:t>
            </a:r>
            <a:r>
              <a:rPr lang="zh-CN" altLang="en-US" dirty="0">
                <a:solidFill>
                  <a:srgbClr val="FF0000"/>
                </a:solidFill>
              </a:rPr>
              <a:t>（完成）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/>
              <a:t>2.</a:t>
            </a:r>
            <a:r>
              <a:rPr lang="zh-CN" altLang="en-US" dirty="0"/>
              <a:t>信号数据的</a:t>
            </a:r>
            <a:r>
              <a:rPr lang="en-US" altLang="zh-CN" dirty="0"/>
              <a:t>balance</a:t>
            </a:r>
            <a:r>
              <a:rPr lang="zh-CN" altLang="en-US" dirty="0"/>
              <a:t>和</a:t>
            </a:r>
            <a:r>
              <a:rPr lang="en-US" altLang="zh-CN" dirty="0" err="1"/>
              <a:t>inbalance</a:t>
            </a:r>
            <a:endParaRPr lang="en-US" altLang="zh-CN" dirty="0"/>
          </a:p>
          <a:p>
            <a:r>
              <a:rPr lang="en-US" altLang="zh-CN" dirty="0"/>
              <a:t>3.LOS</a:t>
            </a:r>
            <a:r>
              <a:rPr lang="zh-CN" altLang="en-US" dirty="0"/>
              <a:t>和</a:t>
            </a:r>
            <a:r>
              <a:rPr lang="en-US" altLang="zh-CN" dirty="0"/>
              <a:t>NLOS</a:t>
            </a:r>
            <a:r>
              <a:rPr lang="zh-CN" altLang="en-US" dirty="0"/>
              <a:t>信号的比例，和</a:t>
            </a:r>
            <a:r>
              <a:rPr lang="en-US" altLang="zh-CN" dirty="0"/>
              <a:t>2</a:t>
            </a:r>
            <a:r>
              <a:rPr lang="zh-CN" altLang="en-US" dirty="0"/>
              <a:t>相关。</a:t>
            </a:r>
            <a:endParaRPr lang="en-US" altLang="zh-CN" dirty="0"/>
          </a:p>
          <a:p>
            <a:r>
              <a:rPr lang="en-US" altLang="zh-CN" dirty="0"/>
              <a:t>4.GNSS</a:t>
            </a:r>
            <a:r>
              <a:rPr lang="zh-CN" altLang="en-US" dirty="0"/>
              <a:t>和</a:t>
            </a:r>
            <a:r>
              <a:rPr lang="en-US" altLang="zh-CN" dirty="0"/>
              <a:t>PL</a:t>
            </a:r>
            <a:r>
              <a:rPr lang="zh-CN" altLang="en-US" dirty="0"/>
              <a:t>信号要看一下。</a:t>
            </a:r>
            <a:r>
              <a:rPr lang="zh-CN" altLang="en-US" dirty="0">
                <a:solidFill>
                  <a:srgbClr val="FF0000"/>
                </a:solidFill>
              </a:rPr>
              <a:t>（完成）</a:t>
            </a:r>
            <a:endParaRPr lang="en-US" altLang="zh-CN" dirty="0"/>
          </a:p>
          <a:p>
            <a:r>
              <a:rPr lang="en-US" altLang="zh-CN" dirty="0"/>
              <a:t>5.</a:t>
            </a:r>
            <a:r>
              <a:rPr lang="zh-CN" altLang="en-US" dirty="0"/>
              <a:t>看一下新的</a:t>
            </a:r>
            <a:r>
              <a:rPr lang="en-US" altLang="zh-CN" dirty="0"/>
              <a:t>NLOS</a:t>
            </a:r>
            <a:r>
              <a:rPr lang="zh-CN" altLang="en-US" dirty="0"/>
              <a:t>处理的程序，理解一下 是如何处理的。</a:t>
            </a:r>
            <a:r>
              <a:rPr lang="zh-CN" altLang="en-US" dirty="0">
                <a:solidFill>
                  <a:srgbClr val="FF0000"/>
                </a:solidFill>
              </a:rPr>
              <a:t>（完成）</a:t>
            </a:r>
            <a:endParaRPr lang="en-US" altLang="zh-CN" dirty="0"/>
          </a:p>
          <a:p>
            <a:r>
              <a:rPr lang="en-US" altLang="zh-CN" dirty="0"/>
              <a:t>6.abstract</a:t>
            </a:r>
            <a:r>
              <a:rPr lang="zh-CN" altLang="en-US" dirty="0"/>
              <a:t>和</a:t>
            </a:r>
            <a:r>
              <a:rPr lang="en-US" altLang="zh-CN" dirty="0"/>
              <a:t>title</a:t>
            </a:r>
            <a:r>
              <a:rPr lang="zh-CN" altLang="en-US" dirty="0"/>
              <a:t>里面要加入</a:t>
            </a:r>
            <a:r>
              <a:rPr lang="en-US" altLang="zh-CN" dirty="0"/>
              <a:t>PL</a:t>
            </a:r>
            <a:r>
              <a:rPr lang="zh-CN" altLang="en-US" dirty="0"/>
              <a:t>信号的内容，重点强调一下。</a:t>
            </a:r>
            <a:r>
              <a:rPr lang="zh-CN" altLang="en-US" dirty="0">
                <a:solidFill>
                  <a:srgbClr val="FF0000"/>
                </a:solidFill>
              </a:rPr>
              <a:t>（完成）</a:t>
            </a:r>
            <a:endParaRPr lang="en-US" altLang="zh-CN" dirty="0"/>
          </a:p>
          <a:p>
            <a:r>
              <a:rPr lang="en-US" altLang="zh-CN" dirty="0"/>
              <a:t>7.</a:t>
            </a:r>
            <a:r>
              <a:rPr lang="zh-CN" altLang="en-US" dirty="0"/>
              <a:t>查看一下 </a:t>
            </a:r>
            <a:r>
              <a:rPr lang="en-US" altLang="zh-CN" dirty="0"/>
              <a:t>UDA</a:t>
            </a:r>
            <a:r>
              <a:rPr lang="zh-CN" altLang="en-US" dirty="0"/>
              <a:t>算法的可行性，查找一下 论文，写进了 </a:t>
            </a:r>
            <a:r>
              <a:rPr lang="en-US" altLang="zh-CN" dirty="0"/>
              <a:t>overleaf project</a:t>
            </a:r>
            <a:r>
              <a:rPr lang="zh-CN" altLang="en-US" dirty="0"/>
              <a:t>。</a:t>
            </a:r>
            <a:r>
              <a:rPr lang="zh-CN" altLang="en-US" dirty="0">
                <a:solidFill>
                  <a:srgbClr val="FF0000"/>
                </a:solidFill>
              </a:rPr>
              <a:t>（完成）</a:t>
            </a:r>
            <a:endParaRPr lang="en-US" altLang="zh-CN" dirty="0">
              <a:solidFill>
                <a:srgbClr val="FF0000"/>
              </a:solidFill>
            </a:endParaRPr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BBDA6A6A-207E-5BDB-4347-74665AC35B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1.Last Week’s Questions</a:t>
            </a:r>
            <a:endParaRPr lang="zh-CN" alt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A6CC0F6-26FF-8C88-2E83-0DAD81C1D6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8776179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1E1A06-6042-6656-A9B8-EE1DCA13D1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F2698C66-E7DE-5638-2485-DEE7E4A35E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3038" y="1684800"/>
            <a:ext cx="11484000" cy="4210162"/>
          </a:xfrm>
        </p:spPr>
        <p:txBody>
          <a:bodyPr/>
          <a:lstStyle/>
          <a:p>
            <a:r>
              <a:rPr lang="zh-CN" altLang="en-US" dirty="0"/>
              <a:t>作者提到了两个方法</a:t>
            </a:r>
            <a:endParaRPr lang="en-US" altLang="zh-CN" dirty="0"/>
          </a:p>
          <a:p>
            <a:r>
              <a:rPr lang="zh-CN" altLang="en-US" dirty="0"/>
              <a:t>方法</a:t>
            </a:r>
            <a:r>
              <a:rPr lang="en-US" altLang="zh-CN" dirty="0"/>
              <a:t>1</a:t>
            </a:r>
            <a:r>
              <a:rPr lang="zh-CN" altLang="en-US" dirty="0"/>
              <a:t>：无监督分类器 </a:t>
            </a:r>
            <a:r>
              <a:rPr lang="en-US" altLang="zh-CN" dirty="0"/>
              <a:t>(CNN-AE + k-means)</a:t>
            </a:r>
          </a:p>
          <a:p>
            <a:pPr lvl="1"/>
            <a:r>
              <a:rPr lang="zh-CN" altLang="en-US" dirty="0"/>
              <a:t>训练阶段 ：</a:t>
            </a:r>
            <a:r>
              <a:rPr lang="en-US" altLang="zh-CN" dirty="0"/>
              <a:t>1.</a:t>
            </a:r>
            <a:r>
              <a:rPr lang="zh-CN" altLang="en-US" dirty="0"/>
              <a:t>编码器和解码器构成  </a:t>
            </a:r>
            <a:r>
              <a:rPr lang="en-US" altLang="zh-CN" dirty="0"/>
              <a:t>2.</a:t>
            </a:r>
            <a:r>
              <a:rPr lang="zh-CN" altLang="en-US" dirty="0"/>
              <a:t>海量没有标签的仿真数据</a:t>
            </a:r>
            <a:r>
              <a:rPr lang="en-US" altLang="zh-CN" dirty="0"/>
              <a:t>x</a:t>
            </a:r>
            <a:r>
              <a:rPr lang="zh-CN" altLang="en-US" dirty="0"/>
              <a:t>喂给它  </a:t>
            </a:r>
            <a:r>
              <a:rPr lang="en-US" altLang="zh-CN" dirty="0"/>
              <a:t>3</a:t>
            </a:r>
            <a:r>
              <a:rPr lang="zh-CN" altLang="en-US" dirty="0"/>
              <a:t>编码器将数据压缩一个非常小的潜在特征 </a:t>
            </a:r>
            <a:r>
              <a:rPr lang="en-US" altLang="zh-CN" dirty="0"/>
              <a:t>4 </a:t>
            </a:r>
            <a:r>
              <a:rPr lang="zh-CN" altLang="en-US" dirty="0"/>
              <a:t>解码器理解为解压器将潜在特征复原。</a:t>
            </a:r>
            <a:r>
              <a:rPr lang="en-US" altLang="zh-CN" dirty="0"/>
              <a:t>5 </a:t>
            </a:r>
            <a:r>
              <a:rPr lang="zh-CN" altLang="en-US" dirty="0"/>
              <a:t>重建效果评估是比较原始输入和输出的相似程度。（ 使用 </a:t>
            </a:r>
            <a:r>
              <a:rPr lang="en-US" altLang="zh-CN" dirty="0" err="1"/>
              <a:t>mse</a:t>
            </a:r>
            <a:r>
              <a:rPr lang="zh-CN" altLang="en-US" dirty="0"/>
              <a:t>均方误差）</a:t>
            </a:r>
            <a:r>
              <a:rPr lang="en-US" altLang="zh-CN" dirty="0"/>
              <a:t>6 </a:t>
            </a:r>
            <a:r>
              <a:rPr lang="zh-CN" altLang="en-US" dirty="0"/>
              <a:t>最终得到编码器学会如何用最少特征</a:t>
            </a:r>
            <a:r>
              <a:rPr lang="en-US" altLang="zh-CN" dirty="0"/>
              <a:t>F</a:t>
            </a:r>
            <a:r>
              <a:rPr lang="zh-CN" altLang="en-US" dirty="0"/>
              <a:t>来概括最关键信息。（</a:t>
            </a:r>
            <a:r>
              <a:rPr lang="zh-CN" altLang="en-US" b="1" dirty="0"/>
              <a:t>问题就是 在我们的</a:t>
            </a:r>
            <a:r>
              <a:rPr lang="en-US" altLang="zh-CN" b="1" dirty="0"/>
              <a:t>Benchmark</a:t>
            </a:r>
            <a:r>
              <a:rPr lang="zh-CN" altLang="en-US" b="1" dirty="0"/>
              <a:t>的文章中已经明确表明了 建议的特征，所以我在想她的这个方法合适么 ？ 要查看一下 </a:t>
            </a:r>
            <a:r>
              <a:rPr lang="en-US" altLang="zh-CN" b="1" dirty="0"/>
              <a:t>benchmark</a:t>
            </a:r>
            <a:r>
              <a:rPr lang="zh-CN" altLang="en-US" b="1" dirty="0"/>
              <a:t>的信号是指</a:t>
            </a:r>
            <a:r>
              <a:rPr lang="en-US" altLang="zh-CN" b="1" dirty="0" err="1"/>
              <a:t>gnss</a:t>
            </a:r>
            <a:r>
              <a:rPr lang="zh-CN" altLang="en-US" b="1" dirty="0"/>
              <a:t>还是也包括</a:t>
            </a:r>
            <a:r>
              <a:rPr lang="en-US" altLang="zh-CN" b="1" dirty="0"/>
              <a:t>pl</a:t>
            </a:r>
            <a:r>
              <a:rPr lang="zh-CN" altLang="en-US" b="1" dirty="0"/>
              <a:t>信号 ）</a:t>
            </a:r>
            <a:r>
              <a:rPr lang="en-US" altLang="zh-CN" dirty="0"/>
              <a:t>7 </a:t>
            </a:r>
            <a:r>
              <a:rPr lang="zh-CN" altLang="en-US" dirty="0"/>
              <a:t>最终分类阶段 就是 留下编码器和分类的模型 （此论文中是 </a:t>
            </a:r>
            <a:r>
              <a:rPr lang="en-US" altLang="zh-CN" dirty="0"/>
              <a:t>K means</a:t>
            </a:r>
            <a:r>
              <a:rPr lang="zh-CN" altLang="en-US" dirty="0"/>
              <a:t>，我们的是</a:t>
            </a:r>
            <a:r>
              <a:rPr lang="en-US" altLang="zh-CN" dirty="0" err="1"/>
              <a:t>svm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zh-CN" altLang="en-US" dirty="0"/>
              <a:t>方法</a:t>
            </a:r>
            <a:r>
              <a:rPr lang="en-US" altLang="zh-CN" dirty="0"/>
              <a:t>2</a:t>
            </a:r>
            <a:r>
              <a:rPr lang="zh-CN" altLang="en-US" dirty="0"/>
              <a:t>：</a:t>
            </a:r>
            <a:r>
              <a:rPr lang="en-US" altLang="zh-CN" dirty="0" err="1"/>
              <a:t>CycleGAN</a:t>
            </a:r>
            <a:r>
              <a:rPr lang="en-US" altLang="zh-CN" dirty="0"/>
              <a:t> </a:t>
            </a:r>
            <a:r>
              <a:rPr lang="zh-CN" altLang="en-US" dirty="0"/>
              <a:t>风格翻译机</a:t>
            </a:r>
            <a:endParaRPr lang="en-US" altLang="zh-CN" dirty="0"/>
          </a:p>
          <a:p>
            <a:pPr lvl="1"/>
            <a:r>
              <a:rPr lang="zh-CN" altLang="en-US" dirty="0"/>
              <a:t>它不改变数据的形状，只改变数据的“风格”（比如噪声的分布、数值的大小范围），以便让它看起来像来自另一个域</a:t>
            </a:r>
            <a:endParaRPr lang="en-US" altLang="zh-CN" dirty="0"/>
          </a:p>
          <a:p>
            <a:pPr lvl="1"/>
            <a:r>
              <a:rPr lang="zh-CN" altLang="en-US" b="1" dirty="0"/>
              <a:t>训练内容</a:t>
            </a:r>
            <a:r>
              <a:rPr lang="zh-CN" altLang="en-US" dirty="0"/>
              <a:t>：它会同时训练两个翻译器：</a:t>
            </a:r>
            <a:r>
              <a:rPr lang="en-US" altLang="zh-CN" dirty="0"/>
              <a:t>G_R</a:t>
            </a:r>
            <a:r>
              <a:rPr lang="zh-CN" altLang="en-US" dirty="0"/>
              <a:t>：真实数据 </a:t>
            </a:r>
            <a:r>
              <a:rPr lang="en-US" altLang="zh-CN" dirty="0"/>
              <a:t>-&gt; </a:t>
            </a:r>
            <a:r>
              <a:rPr lang="zh-CN" altLang="en-US" dirty="0"/>
              <a:t>仿真数据 </a:t>
            </a:r>
            <a:r>
              <a:rPr lang="en-US" altLang="zh-CN" dirty="0"/>
              <a:t>(X_R -&gt; </a:t>
            </a:r>
            <a:r>
              <a:rPr lang="en-US" altLang="zh-CN" dirty="0" err="1"/>
              <a:t>X_S_fake</a:t>
            </a:r>
            <a:r>
              <a:rPr lang="en-US" altLang="zh-CN" dirty="0"/>
              <a:t>)</a:t>
            </a:r>
            <a:r>
              <a:rPr lang="zh-CN" altLang="en-US" dirty="0"/>
              <a:t>     </a:t>
            </a:r>
            <a:r>
              <a:rPr lang="en-US" altLang="zh-CN" dirty="0"/>
              <a:t>2</a:t>
            </a:r>
            <a:r>
              <a:rPr lang="zh-CN" altLang="en-US" dirty="0"/>
              <a:t>  </a:t>
            </a:r>
            <a:r>
              <a:rPr lang="en-US" altLang="zh-CN" dirty="0"/>
              <a:t>G_S</a:t>
            </a:r>
            <a:r>
              <a:rPr lang="zh-CN" altLang="en-US" dirty="0"/>
              <a:t>：仿真数据 </a:t>
            </a:r>
            <a:r>
              <a:rPr lang="en-US" altLang="zh-CN" dirty="0"/>
              <a:t>-&gt; </a:t>
            </a:r>
            <a:r>
              <a:rPr lang="zh-CN" altLang="en-US" dirty="0"/>
              <a:t>真实数据 </a:t>
            </a:r>
            <a:r>
              <a:rPr lang="en-US" altLang="zh-CN" dirty="0"/>
              <a:t>(X_S -&gt; </a:t>
            </a:r>
            <a:r>
              <a:rPr lang="en-US" altLang="zh-CN" dirty="0" err="1"/>
              <a:t>X_R_fake</a:t>
            </a:r>
            <a:r>
              <a:rPr lang="en-US" altLang="zh-CN" dirty="0"/>
              <a:t>)</a:t>
            </a:r>
          </a:p>
          <a:p>
            <a:pPr lvl="1"/>
            <a:r>
              <a:rPr lang="zh-CN" altLang="en-US" dirty="0"/>
              <a:t>闭环：</a:t>
            </a:r>
            <a:r>
              <a:rPr lang="en-US" altLang="zh-CN" dirty="0"/>
              <a:t>X_R -&gt; G_R -&gt; </a:t>
            </a:r>
            <a:r>
              <a:rPr lang="en-US" altLang="zh-CN" dirty="0" err="1"/>
              <a:t>X_S_fake</a:t>
            </a:r>
            <a:r>
              <a:rPr lang="en-US" altLang="zh-CN" dirty="0"/>
              <a:t> -&gt; G_S -&gt; </a:t>
            </a:r>
            <a:r>
              <a:rPr lang="en-US" altLang="zh-CN" dirty="0" err="1"/>
              <a:t>X_R_reconstructed</a:t>
            </a:r>
            <a:r>
              <a:rPr lang="en-US" altLang="zh-CN" dirty="0"/>
              <a:t> </a:t>
            </a:r>
            <a:r>
              <a:rPr lang="zh-CN" altLang="en-US" dirty="0"/>
              <a:t>（重建的真实数据）</a:t>
            </a:r>
            <a:endParaRPr lang="en-US" altLang="zh-CN" dirty="0"/>
          </a:p>
          <a:p>
            <a:pPr marL="431800" lvl="2" indent="0">
              <a:buNone/>
            </a:pPr>
            <a:r>
              <a:rPr lang="en-US" altLang="zh-CN" dirty="0"/>
              <a:t>X_S -&gt; G_S -&gt; </a:t>
            </a:r>
            <a:r>
              <a:rPr lang="en-US" altLang="zh-CN" dirty="0" err="1"/>
              <a:t>X_R_fake</a:t>
            </a:r>
            <a:r>
              <a:rPr lang="en-US" altLang="zh-CN" dirty="0"/>
              <a:t> -&gt; G_R -&gt; </a:t>
            </a:r>
            <a:r>
              <a:rPr lang="en-US" altLang="zh-CN" dirty="0" err="1"/>
              <a:t>X_S_reconstructed</a:t>
            </a:r>
            <a:r>
              <a:rPr lang="en-US" altLang="zh-CN" dirty="0"/>
              <a:t> </a:t>
            </a:r>
            <a:r>
              <a:rPr lang="zh-CN" altLang="en-US" dirty="0"/>
              <a:t>（重建的仿真数据</a:t>
            </a:r>
            <a:endParaRPr lang="en-US" altLang="zh-CN" dirty="0"/>
          </a:p>
          <a:p>
            <a:pPr lvl="1"/>
            <a:r>
              <a:rPr lang="zh-CN" altLang="en-US" dirty="0"/>
              <a:t>训练完成后，我们</a:t>
            </a:r>
            <a:r>
              <a:rPr lang="zh-CN" altLang="en-US" b="1" dirty="0"/>
              <a:t>只保留 </a:t>
            </a:r>
            <a:r>
              <a:rPr lang="en-US" altLang="zh-CN" b="1" dirty="0"/>
              <a:t>G_R</a:t>
            </a:r>
            <a:r>
              <a:rPr lang="zh-CN" altLang="en-US" dirty="0"/>
              <a:t>（真实</a:t>
            </a:r>
            <a:r>
              <a:rPr lang="en-US" altLang="zh-CN" dirty="0"/>
              <a:t>-&gt;</a:t>
            </a:r>
            <a:r>
              <a:rPr lang="zh-CN" altLang="en-US" dirty="0"/>
              <a:t>仿真 翻译器）。当新的真实数据到来时，先通过</a:t>
            </a:r>
            <a:r>
              <a:rPr lang="en-US" altLang="zh-CN" dirty="0"/>
              <a:t>G_R</a:t>
            </a:r>
            <a:r>
              <a:rPr lang="zh-CN" altLang="en-US" dirty="0"/>
              <a:t>翻译器，把它“伪装”成“仿真数据”的风格。</a:t>
            </a:r>
            <a:endParaRPr lang="en-US" altLang="zh-CN" dirty="0"/>
          </a:p>
          <a:p>
            <a:pPr lvl="1"/>
            <a:r>
              <a:rPr lang="zh-CN" altLang="en-US" b="1" dirty="0"/>
              <a:t>为什么有效？</a:t>
            </a:r>
            <a:r>
              <a:rPr lang="zh-CN" altLang="en-US" dirty="0"/>
              <a:t> 因为分类器（</a:t>
            </a:r>
            <a:r>
              <a:rPr lang="en-US" altLang="zh-CN" dirty="0"/>
              <a:t>CNN-AE</a:t>
            </a:r>
            <a:r>
              <a:rPr lang="zh-CN" altLang="en-US" dirty="0"/>
              <a:t>或您的</a:t>
            </a:r>
            <a:r>
              <a:rPr lang="en-US" altLang="zh-CN" dirty="0"/>
              <a:t>LSTM</a:t>
            </a:r>
            <a:r>
              <a:rPr lang="zh-CN" altLang="en-US" dirty="0"/>
              <a:t>）是在仿真数据上训练的，它只“认识”仿真数据的风格。我们通过</a:t>
            </a:r>
            <a:r>
              <a:rPr lang="en-US" altLang="zh-CN" dirty="0" err="1"/>
              <a:t>CycleGAN</a:t>
            </a:r>
            <a:r>
              <a:rPr lang="zh-CN" altLang="en-US" dirty="0"/>
              <a:t>把真实数据“化妆”成它认识的样子，分类器就能正确识别了 。</a:t>
            </a:r>
            <a:endParaRPr lang="en-US" altLang="zh-CN" dirty="0"/>
          </a:p>
          <a:p>
            <a:pPr marL="431800" lvl="2" indent="0">
              <a:buNone/>
            </a:pPr>
            <a:r>
              <a:rPr lang="en-US" altLang="zh-CN" dirty="0"/>
              <a:t>	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F2EDA5BC-BC92-C7AF-C46A-C564381C0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1.Last Week’s Tasks</a:t>
            </a:r>
            <a:endParaRPr lang="zh-CN" alt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84CEEA7-43C3-0197-E259-F73CC075EE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论文理解后的一些想法。</a:t>
            </a:r>
          </a:p>
        </p:txBody>
      </p:sp>
    </p:spTree>
    <p:extLst>
      <p:ext uri="{BB962C8B-B14F-4D97-AF65-F5344CB8AC3E}">
        <p14:creationId xmlns:p14="http://schemas.microsoft.com/office/powerpoint/2010/main" val="3532952401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037ED3-7FDA-23C6-4A2F-D0C55FDFD1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E78CFFEA-4F5F-248B-225B-D6F4705C063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3038" y="1684800"/>
            <a:ext cx="11484000" cy="4210162"/>
          </a:xfrm>
        </p:spPr>
        <p:txBody>
          <a:bodyPr/>
          <a:lstStyle/>
          <a:p>
            <a:pPr marL="431800" lvl="2" indent="0">
              <a:buNone/>
            </a:pPr>
            <a:r>
              <a:rPr lang="zh-CN" altLang="en-US" dirty="0"/>
              <a:t>新特征： 除了 </a:t>
            </a:r>
            <a:r>
              <a:rPr lang="en-US" altLang="zh-CN" dirty="0"/>
              <a:t>CN0</a:t>
            </a:r>
            <a:r>
              <a:rPr lang="zh-CN" altLang="en-US" dirty="0"/>
              <a:t>和</a:t>
            </a:r>
            <a:r>
              <a:rPr lang="en-US" altLang="zh-CN" dirty="0"/>
              <a:t>elevation      CMC </a:t>
            </a:r>
            <a:r>
              <a:rPr lang="zh-CN" altLang="en-US" dirty="0"/>
              <a:t>和</a:t>
            </a:r>
            <a:r>
              <a:rPr lang="en-US" altLang="zh-CN" dirty="0"/>
              <a:t>DRC</a:t>
            </a:r>
            <a:r>
              <a:rPr lang="zh-CN" altLang="en-US" dirty="0"/>
              <a:t>是检测</a:t>
            </a:r>
            <a:r>
              <a:rPr lang="en-US" altLang="zh-CN" dirty="0"/>
              <a:t>ML</a:t>
            </a:r>
            <a:r>
              <a:rPr lang="zh-CN" altLang="en-US" dirty="0"/>
              <a:t>的特征</a:t>
            </a:r>
            <a:endParaRPr lang="en-US" altLang="zh-CN" dirty="0"/>
          </a:p>
          <a:p>
            <a:pPr marL="431800" lvl="2" indent="0">
              <a:buNone/>
            </a:pPr>
            <a:r>
              <a:rPr lang="en-US" altLang="zh-CN" b="1" dirty="0"/>
              <a:t>CMC (</a:t>
            </a:r>
            <a:r>
              <a:rPr lang="zh-CN" altLang="en-US" b="1" dirty="0"/>
              <a:t>码减载波</a:t>
            </a:r>
            <a:r>
              <a:rPr lang="en-US" altLang="zh-CN" b="1" dirty="0"/>
              <a:t>)</a:t>
            </a:r>
            <a:r>
              <a:rPr lang="en-US" altLang="zh-CN" dirty="0"/>
              <a:t>: C1C</a:t>
            </a:r>
            <a:r>
              <a:rPr lang="zh-CN" altLang="en-US" dirty="0"/>
              <a:t>（伪距）和</a:t>
            </a:r>
            <a:r>
              <a:rPr lang="en-US" altLang="zh-CN" dirty="0"/>
              <a:t>L1C</a:t>
            </a:r>
            <a:r>
              <a:rPr lang="zh-CN" altLang="en-US" dirty="0"/>
              <a:t>（载波相位）的差值 。这是检测多路径的经典物理特征。</a:t>
            </a:r>
            <a:endParaRPr lang="en-US" altLang="zh-CN" dirty="0"/>
          </a:p>
          <a:p>
            <a:pPr marL="431800" lvl="2" indent="0">
              <a:buNone/>
            </a:pPr>
            <a:r>
              <a:rPr lang="en-US" altLang="zh-CN" dirty="0"/>
              <a:t>DRC (</a:t>
            </a:r>
            <a:r>
              <a:rPr lang="zh-CN" altLang="en-US" dirty="0"/>
              <a:t>多普勒速率一致性</a:t>
            </a:r>
            <a:r>
              <a:rPr lang="en-US" altLang="zh-CN" dirty="0"/>
              <a:t>): </a:t>
            </a:r>
            <a:r>
              <a:rPr lang="zh-CN" altLang="en-US" dirty="0"/>
              <a:t>伪距的实际变化率与多普勒预测速度之间的差异 。</a:t>
            </a:r>
            <a:endParaRPr lang="en-US" altLang="zh-CN" dirty="0"/>
          </a:p>
          <a:p>
            <a:pPr marL="431800" lvl="2" indent="0">
              <a:buNone/>
            </a:pPr>
            <a:r>
              <a:rPr lang="en-US" altLang="zh-CN" dirty="0"/>
              <a:t>CSS (</a:t>
            </a:r>
            <a:r>
              <a:rPr lang="zh-CN" altLang="en-US" dirty="0"/>
              <a:t>居中信号强度</a:t>
            </a:r>
            <a:r>
              <a:rPr lang="en-US" altLang="zh-CN" dirty="0"/>
              <a:t>): C/N0</a:t>
            </a:r>
            <a:r>
              <a:rPr lang="zh-CN" altLang="en-US" dirty="0"/>
              <a:t>在一个窗口内减去均值 。这让模型专注于波动形态，而不是受偏差（</a:t>
            </a:r>
            <a:r>
              <a:rPr lang="en-US" altLang="zh-CN" dirty="0"/>
              <a:t>Domain Shift</a:t>
            </a:r>
            <a:r>
              <a:rPr lang="zh-CN" altLang="en-US" dirty="0"/>
              <a:t>）影响的绝对值。</a:t>
            </a:r>
            <a:endParaRPr lang="en-US" altLang="zh-CN" dirty="0"/>
          </a:p>
          <a:p>
            <a:pPr marL="431800" lvl="2" indent="0">
              <a:buNone/>
            </a:pPr>
            <a:endParaRPr lang="en-US" altLang="zh-CN" dirty="0"/>
          </a:p>
          <a:p>
            <a:pPr marL="431800" lvl="2" indent="0">
              <a:buNone/>
            </a:pPr>
            <a:r>
              <a:rPr lang="en-US" altLang="zh-CN" dirty="0"/>
              <a:t>CMC (</a:t>
            </a:r>
            <a:r>
              <a:rPr lang="zh-CN" altLang="en-US" dirty="0"/>
              <a:t>码减载波</a:t>
            </a:r>
            <a:r>
              <a:rPr lang="en-US" altLang="zh-CN" dirty="0"/>
              <a:t>)</a:t>
            </a:r>
            <a:r>
              <a:rPr lang="zh-CN" altLang="en-US" dirty="0"/>
              <a:t>：</a:t>
            </a:r>
            <a:r>
              <a:rPr lang="en-US" altLang="zh-CN" dirty="0"/>
              <a:t>C1C</a:t>
            </a:r>
            <a:r>
              <a:rPr lang="zh-CN" altLang="en-US" dirty="0"/>
              <a:t>（伪距）和</a:t>
            </a:r>
            <a:r>
              <a:rPr lang="en-US" altLang="zh-CN" dirty="0"/>
              <a:t>L1C</a:t>
            </a:r>
            <a:r>
              <a:rPr lang="zh-CN" altLang="en-US" dirty="0"/>
              <a:t>（载波相位）都是测量距离的，但多路径对它们的影响不同。将两者相减，可以放大这种不一致性，从而暴露多路径 。</a:t>
            </a:r>
            <a:r>
              <a:rPr lang="en-US" altLang="zh-CN" dirty="0"/>
              <a:t>DRC (</a:t>
            </a:r>
            <a:r>
              <a:rPr lang="zh-CN" altLang="en-US" dirty="0"/>
              <a:t>多普勒速率一致性</a:t>
            </a:r>
            <a:r>
              <a:rPr lang="en-US" altLang="zh-CN" dirty="0"/>
              <a:t>)</a:t>
            </a:r>
            <a:r>
              <a:rPr lang="zh-CN" altLang="en-US" dirty="0"/>
              <a:t>：</a:t>
            </a:r>
            <a:r>
              <a:rPr lang="en-US" altLang="zh-CN" dirty="0"/>
              <a:t>D1C</a:t>
            </a:r>
            <a:r>
              <a:rPr lang="zh-CN" altLang="en-US" dirty="0"/>
              <a:t>（多普勒）可以预测车辆的速度，</a:t>
            </a:r>
            <a:r>
              <a:rPr lang="en-US" altLang="zh-CN" dirty="0"/>
              <a:t>C1C</a:t>
            </a:r>
            <a:r>
              <a:rPr lang="zh-CN" altLang="en-US" dirty="0"/>
              <a:t>（伪距）随时间的变化率也可以预测速度。正常情况下两者应该一致。多路径会使伪距产生“跳变”，导致两者不一致，这个差异就是</a:t>
            </a:r>
            <a:r>
              <a:rPr lang="en-US" altLang="zh-CN" dirty="0"/>
              <a:t>DRC </a:t>
            </a:r>
            <a:r>
              <a:rPr lang="zh-CN" altLang="en-US" dirty="0"/>
              <a:t>。</a:t>
            </a:r>
            <a:endParaRPr lang="en-US" altLang="zh-CN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ECAB9F9F-83CC-B9D9-B373-F0D5B1D98E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1.Last Week’s Tasks</a:t>
            </a:r>
            <a:endParaRPr lang="zh-CN" alt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21F0F48-2685-2468-99A3-84D13EB370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论文理解后的一些想法。</a:t>
            </a:r>
          </a:p>
        </p:txBody>
      </p:sp>
    </p:spTree>
    <p:extLst>
      <p:ext uri="{BB962C8B-B14F-4D97-AF65-F5344CB8AC3E}">
        <p14:creationId xmlns:p14="http://schemas.microsoft.com/office/powerpoint/2010/main" val="87852217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E71E05A6-7AD4-D044-4BFE-8C7C650328C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/>
              <a:t>对于 模型评估的问题 </a:t>
            </a:r>
            <a:endParaRPr lang="en-US" altLang="zh-CN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67CC2BCC-8415-D0FE-0866-FA2B1B54F7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2.Progress Overview</a:t>
            </a:r>
            <a:endParaRPr lang="zh-CN" alt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AF14CB5-223F-2993-005C-2EFAEE1E7F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2552169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82A56887-C91A-1F54-CBEB-E1EAC29592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A3B1BFA4-B7AB-E140-1DD3-C999F875F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3.Challenges &amp; Solutions</a:t>
            </a:r>
            <a:endParaRPr lang="zh-CN" alt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9F900E7-18ED-6CC1-3F80-7C04B3116A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772586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7E2AB971-AD86-413C-F120-B9511FB43C1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1A7E890C-2E17-3EFD-8B75-E0C9EC5A8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4.Next Week Goal</a:t>
            </a:r>
            <a:endParaRPr lang="zh-CN" alt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1CFFCC9-4B03-D9F1-FE38-6481C06875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801049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theme/theme1.xml><?xml version="1.0" encoding="utf-8"?>
<a:theme xmlns:a="http://schemas.openxmlformats.org/drawingml/2006/main" name="Präsentation_Master_RWTH_Institute_16zu9">
  <a:themeElements>
    <a:clrScheme name="RWTH Farben">
      <a:dk1>
        <a:sysClr val="windowText" lastClr="000000"/>
      </a:dk1>
      <a:lt1>
        <a:sysClr val="window" lastClr="FFFFFF"/>
      </a:lt1>
      <a:dk2>
        <a:srgbClr val="00549F"/>
      </a:dk2>
      <a:lt2>
        <a:srgbClr val="8EBAE5"/>
      </a:lt2>
      <a:accent1>
        <a:srgbClr val="006165"/>
      </a:accent1>
      <a:accent2>
        <a:srgbClr val="0098A1"/>
      </a:accent2>
      <a:accent3>
        <a:srgbClr val="57AB27"/>
      </a:accent3>
      <a:accent4>
        <a:srgbClr val="BDCD00"/>
      </a:accent4>
      <a:accent5>
        <a:srgbClr val="F6A800"/>
      </a:accent5>
      <a:accent6>
        <a:srgbClr val="CC071E"/>
      </a:accent6>
      <a:hlink>
        <a:srgbClr val="612158"/>
      </a:hlink>
      <a:folHlink>
        <a:srgbClr val="7A6FAC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äsentation_Master_RWTH_Verwaltung_ohne_addin_16zu9.pot [Kompatibilitätsmodus]" id="{12157BE7-C41B-4251-A630-7876F5189DEC}" vid="{D5CAF79C-9B5F-40C2-AC3C-45C714C4923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Präsentationsvorlage_IRT</Template>
  <TotalTime>1260</TotalTime>
  <Words>882</Words>
  <Application>Microsoft Office PowerPoint</Application>
  <PresentationFormat>宽屏</PresentationFormat>
  <Paragraphs>41</Paragraphs>
  <Slides>7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3" baseType="lpstr">
      <vt:lpstr>PMingLiU</vt:lpstr>
      <vt:lpstr>Arial</vt:lpstr>
      <vt:lpstr>Calibri</vt:lpstr>
      <vt:lpstr>Symbol</vt:lpstr>
      <vt:lpstr>Wingdings</vt:lpstr>
      <vt:lpstr>Präsentation_Master_RWTH_Institute_16zu9</vt:lpstr>
      <vt:lpstr>Vorname Name, Betreut durch: Vorname Name des/r Betreuers/in, Datum </vt:lpstr>
      <vt:lpstr>1.Last Week’s Questions</vt:lpstr>
      <vt:lpstr>1.Last Week’s Tasks</vt:lpstr>
      <vt:lpstr>1.Last Week’s Tasks</vt:lpstr>
      <vt:lpstr>2.Progress Overview</vt:lpstr>
      <vt:lpstr>3.Challenges &amp; Solutions</vt:lpstr>
      <vt:lpstr>4.Next Week Goal</vt:lpstr>
    </vt:vector>
  </TitlesOfParts>
  <Company>Institut für Regelungstechnik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Florian Baader</dc:creator>
  <cp:lastModifiedBy>jiayu yang</cp:lastModifiedBy>
  <cp:revision>1532</cp:revision>
  <cp:lastPrinted>2020-01-08T09:35:20Z</cp:lastPrinted>
  <dcterms:created xsi:type="dcterms:W3CDTF">2018-05-24T07:56:59Z</dcterms:created>
  <dcterms:modified xsi:type="dcterms:W3CDTF">2025-11-10T09:03:40Z</dcterms:modified>
</cp:coreProperties>
</file>