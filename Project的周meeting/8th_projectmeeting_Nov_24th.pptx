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omments/modernComment_5D3_9A3E1C86.xml" ContentType="application/vnd.ms-powerpoint.comments+xml"/>
  <Override PartName="/ppt/comments/modernComment_5D9_471727C4.xml" ContentType="application/vnd.ms-powerpoint.comments+xml"/>
  <Override PartName="/ppt/comments/modernComment_5D4_69A6FFE9.xml" ContentType="application/vnd.ms-powerpoint.comments+xml"/>
  <Override PartName="/ppt/comments/modernComment_5D5_2D29FAA8.xml" ContentType="application/vnd.ms-powerpoint.comments+xml"/>
  <Override PartName="/ppt/comments/modernComment_5D8_BF9BF251.xml" ContentType="application/vnd.ms-powerpoint.comments+xml"/>
  <Override PartName="/ppt/comments/modernComment_5D7_F6965CCA.xml" ContentType="application/vnd.ms-powerpoint.comments+xml"/>
  <Override PartName="/ppt/comments/modernComment_5DA_7EFAC9F3.xml" ContentType="application/vnd.ms-powerpoint.comments+xml"/>
  <Override PartName="/ppt/comments/modernComment_5D6_800809FF.xml" ContentType="application/vnd.ms-powerpoint.comments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38" r:id="rId1"/>
  </p:sldMasterIdLst>
  <p:notesMasterIdLst>
    <p:notesMasterId r:id="rId10"/>
  </p:notesMasterIdLst>
  <p:handoutMasterIdLst>
    <p:handoutMasterId r:id="rId11"/>
  </p:handoutMasterIdLst>
  <p:sldIdLst>
    <p:sldId id="1491" r:id="rId2"/>
    <p:sldId id="1497" r:id="rId3"/>
    <p:sldId id="1492" r:id="rId4"/>
    <p:sldId id="1493" r:id="rId5"/>
    <p:sldId id="1496" r:id="rId6"/>
    <p:sldId id="1495" r:id="rId7"/>
    <p:sldId id="1498" r:id="rId8"/>
    <p:sldId id="1494" r:id="rId9"/>
  </p:sldIdLst>
  <p:sldSz cx="12192000" cy="6858000"/>
  <p:notesSz cx="6797675" cy="9926638"/>
  <p:defaultTextStyle>
    <a:defPPr>
      <a:defRPr lang="de-DE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ＭＳ Ｐゴシック" panose="020B0600070205080204" pitchFamily="34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C7D497B-7AD7-723A-043A-6745C347B782}" name="jiayu yang" initials="jy" userId="8067bb61bfadfd73" providerId="Windows Live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8EBAE5"/>
    <a:srgbClr val="00549F"/>
    <a:srgbClr val="E9F1FA"/>
    <a:srgbClr val="272727"/>
    <a:srgbClr val="962F2F"/>
    <a:srgbClr val="57AB27"/>
    <a:srgbClr val="438CD4"/>
    <a:srgbClr val="A6A6A6"/>
    <a:srgbClr val="D5DDE6"/>
    <a:srgbClr val="2980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ittlere Formatvorlage 2 - Akz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ittlere Formatvorlag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Keine Formatvorlage, kein Raster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Keine Formatvorlage, Tabellenraster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91EBBBCC-DAD2-459C-BE2E-F6DE35CF9A28}" styleName="Dunkle Formatvorlage 2 - Akzent 3/Akzent 4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495" autoAdjust="0"/>
    <p:restoredTop sz="96265" autoAdjust="0"/>
  </p:normalViewPr>
  <p:slideViewPr>
    <p:cSldViewPr snapToGrid="0" showGuides="1">
      <p:cViewPr varScale="1">
        <p:scale>
          <a:sx n="98" d="100"/>
          <a:sy n="98" d="100"/>
        </p:scale>
        <p:origin x="102" y="306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-5844"/>
    </p:cViewPr>
  </p:outlineViewPr>
  <p:notesTextViewPr>
    <p:cViewPr>
      <p:scale>
        <a:sx n="100" d="100"/>
        <a:sy n="100" d="100"/>
      </p:scale>
      <p:origin x="0" y="0"/>
    </p:cViewPr>
  </p:notesTextViewPr>
  <p:notesViewPr>
    <p:cSldViewPr snapToGrid="0" showGuides="1">
      <p:cViewPr varScale="1">
        <p:scale>
          <a:sx n="61" d="100"/>
          <a:sy n="61" d="100"/>
        </p:scale>
        <p:origin x="2691" y="5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microsoft.com/office/2018/10/relationships/authors" Target="author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omments/modernComment_5D3_9A3E1C86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A5371CBC-7ABD-4994-A10C-BE3C8476038E}" authorId="{DC7D497B-7AD7-723A-043A-6745C347B782}" created="2025-10-14T07:41:27.242">
    <pc:sldMkLst xmlns:pc="http://schemas.microsoft.com/office/powerpoint/2013/main/command">
      <pc:docMk/>
      <pc:sldMk cId="2587761798" sldId="1491"/>
    </pc:sldMkLst>
    <p188:txBody>
      <a:bodyPr/>
      <a:lstStyle/>
      <a:p>
        <a:r>
          <a:rPr lang="zh-CN" altLang="en-US"/>
          <a:t>这个 主要是记录上一次meeting 遗留的一些问题任务 是否解决 或还存在的问题</a:t>
        </a:r>
      </a:p>
    </p188:txBody>
  </p188:cm>
</p188:cmLst>
</file>

<file path=ppt/comments/modernComment_5D4_69A6FFE9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1695E649-A45E-454C-B06F-0127E9B0A459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5_2D29FAA8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B7D1A12F-609A-460D-B722-D37CBAB442E3}" authorId="{DC7D497B-7AD7-723A-043A-6745C347B782}" created="2025-10-14T07:42:17.012">
    <pc:sldMkLst xmlns:pc="http://schemas.microsoft.com/office/powerpoint/2013/main/command">
      <pc:docMk/>
      <pc:sldMk cId="757725864" sldId="1493"/>
    </pc:sldMkLst>
    <p188:txBody>
      <a:bodyPr/>
      <a:lstStyle/>
      <a:p>
        <a:r>
          <a:rPr lang="zh-CN" altLang="en-US"/>
          <a:t>主要记录所存在的问题</a:t>
        </a:r>
      </a:p>
    </p188:txBody>
  </p188:cm>
</p188:cmLst>
</file>

<file path=ppt/comments/modernComment_5D6_800809FF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DAA3AF4D-00DF-4525-B0E1-C123AE132E22}" authorId="{DC7D497B-7AD7-723A-043A-6745C347B782}" created="2025-10-14T07:42:54.872">
    <ac:deMkLst xmlns:ac="http://schemas.microsoft.com/office/drawing/2013/main/command">
      <pc:docMk xmlns:pc="http://schemas.microsoft.com/office/powerpoint/2013/main/command"/>
      <pc:sldMk xmlns:pc="http://schemas.microsoft.com/office/powerpoint/2013/main/command" cId="2148010495" sldId="1494"/>
      <ac:spMk id="2" creationId="{7E2AB971-AD86-413C-F120-B9511FB43C1F}"/>
    </ac:deMkLst>
    <p188:txBody>
      <a:bodyPr/>
      <a:lstStyle/>
      <a:p>
        <a:r>
          <a:rPr lang="zh-CN" altLang="en-US"/>
          <a:t>明确下周目标
时间规划（例如每日任务）</a:t>
        </a:r>
      </a:p>
    </p188:txBody>
  </p188:cm>
</p188:cmLst>
</file>

<file path=ppt/comments/modernComment_5D7_F6965CCA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44A36936-B2A3-423A-9EC4-01A6C81A2C67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8_BF9BF251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913767E1-F536-411C-B7FC-C96607B8F9D7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9_471727C4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626438EB-6DDD-49AF-B831-F431587CECFD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comments/modernComment_5DA_7EFAC9F3.xml><?xml version="1.0" encoding="utf-8"?>
<p188:cmLst xmlns:a="http://schemas.openxmlformats.org/drawingml/2006/main" xmlns:r="http://schemas.openxmlformats.org/officeDocument/2006/relationships" xmlns:p188="http://schemas.microsoft.com/office/powerpoint/2018/8/main">
  <p188:cm id="{E0446D01-C2F3-4117-86BB-6A4168AE2152}" authorId="{DC7D497B-7AD7-723A-043A-6745C347B782}" created="2025-10-14T07:40:35.649">
    <pc:sldMkLst xmlns:pc="http://schemas.microsoft.com/office/powerpoint/2013/main/command">
      <pc:docMk/>
      <pc:sldMk cId="1772552169" sldId="1492"/>
    </pc:sldMkLst>
    <p188:txBody>
      <a:bodyPr/>
      <a:lstStyle/>
      <a:p>
        <a:r>
          <a:rPr lang="zh-CN" altLang="en-US"/>
          <a:t>一般来写一下 上周都做了些什么 完成了些什么 ？</a:t>
        </a:r>
      </a:p>
    </p188:txBody>
  </p188:cm>
</p188:cmLst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517FCCCD-D206-47CF-B944-0B3BF2D9079C}" type="datetimeFigureOut">
              <a:rPr lang="de-DE" altLang="de-DE"/>
              <a:pPr>
                <a:defRPr/>
              </a:pPr>
              <a:t>23.11.2025</a:t>
            </a:fld>
            <a:endParaRPr lang="de-DE" altLang="de-DE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D59670E0-7F84-4741-B550-65997F2A51FF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17553552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3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50295" y="3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 smtClean="0"/>
            </a:lvl1pPr>
          </a:lstStyle>
          <a:p>
            <a:pPr>
              <a:defRPr/>
            </a:pPr>
            <a:fld id="{8F27E609-FD42-4B8F-BE3E-F1EA95C6459B}" type="datetimeFigureOut">
              <a:rPr lang="de-DE" altLang="de-DE"/>
              <a:pPr>
                <a:defRPr/>
              </a:pPr>
              <a:t>23.11.2025</a:t>
            </a:fld>
            <a:endParaRPr lang="de-DE" altLang="de-DE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425450" y="1243013"/>
            <a:ext cx="5946775" cy="3346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8212" tIns="44107" rIns="88212" bIns="44107" rtlCol="0" anchor="ctr"/>
          <a:lstStyle/>
          <a:p>
            <a:pPr lvl="0"/>
            <a:endParaRPr lang="de-DE" noProof="0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79464" y="4777783"/>
            <a:ext cx="5438748" cy="3907835"/>
          </a:xfrm>
          <a:prstGeom prst="rect">
            <a:avLst/>
          </a:prstGeom>
        </p:spPr>
        <p:txBody>
          <a:bodyPr vert="horz" wrap="square" lIns="88212" tIns="44107" rIns="88212" bIns="44107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de-DE" altLang="de-DE" noProof="0"/>
              <a:t>Textmasterformat bearbeiten</a:t>
            </a:r>
          </a:p>
          <a:p>
            <a:pPr lvl="1"/>
            <a:r>
              <a:rPr lang="de-DE" altLang="de-DE" noProof="0"/>
              <a:t>Zweite Ebene</a:t>
            </a:r>
          </a:p>
          <a:p>
            <a:pPr lvl="2"/>
            <a:r>
              <a:rPr lang="de-DE" altLang="de-DE" noProof="0"/>
              <a:t>Dritte Ebene</a:t>
            </a:r>
          </a:p>
          <a:p>
            <a:pPr lvl="3"/>
            <a:r>
              <a:rPr lang="de-DE" altLang="de-DE" noProof="0"/>
              <a:t>Vierte Ebene</a:t>
            </a:r>
          </a:p>
          <a:p>
            <a:pPr lvl="4"/>
            <a:r>
              <a:rPr lang="de-DE" altLang="de-DE" noProof="0"/>
              <a:t>Fünfte Ebene</a:t>
            </a:r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9429307"/>
            <a:ext cx="2945862" cy="497333"/>
          </a:xfrm>
          <a:prstGeom prst="rect">
            <a:avLst/>
          </a:prstGeom>
        </p:spPr>
        <p:txBody>
          <a:bodyPr vert="horz" lIns="88212" tIns="44107" rIns="88212" bIns="44107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000">
                <a:latin typeface="Arial" pitchFamily="34" charset="0"/>
                <a:ea typeface="+mn-ea"/>
                <a:cs typeface="Arial" pitchFamily="34" charset="0"/>
              </a:defRPr>
            </a:lvl1pPr>
          </a:lstStyle>
          <a:p>
            <a:pPr>
              <a:defRPr/>
            </a:pPr>
            <a:endParaRPr lang="de-DE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50295" y="9429307"/>
            <a:ext cx="2945862" cy="497333"/>
          </a:xfrm>
          <a:prstGeom prst="rect">
            <a:avLst/>
          </a:prstGeom>
        </p:spPr>
        <p:txBody>
          <a:bodyPr vert="horz" wrap="square" lIns="88212" tIns="44107" rIns="88212" bIns="44107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fld id="{26920C50-29F7-474C-BAE4-5B8F6564B22A}" type="slidenum">
              <a:rPr lang="de-DE" altLang="de-DE"/>
              <a:pPr/>
              <a:t>‹#›</a:t>
            </a:fld>
            <a:endParaRPr lang="de-DE" altLang="de-DE"/>
          </a:p>
        </p:txBody>
      </p:sp>
    </p:spTree>
    <p:extLst>
      <p:ext uri="{BB962C8B-B14F-4D97-AF65-F5344CB8AC3E}">
        <p14:creationId xmlns:p14="http://schemas.microsoft.com/office/powerpoint/2010/main" val="839034579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ＭＳ Ｐゴシック" charset="0"/>
        <a:cs typeface="Arial" pitchFamily="34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000" kern="1200">
        <a:solidFill>
          <a:schemeClr val="tx1"/>
        </a:solidFill>
        <a:latin typeface="Arial" pitchFamily="34" charset="0"/>
        <a:ea typeface="Arial" charset="0"/>
        <a:cs typeface="Arial" pitchFamily="34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arb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hteck 3"/>
          <p:cNvSpPr/>
          <p:nvPr/>
        </p:nvSpPr>
        <p:spPr>
          <a:xfrm>
            <a:off x="0" y="0"/>
            <a:ext cx="12192000" cy="2312988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288000" tIns="0" rIns="288000" bIns="0"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de-DE">
              <a:solidFill>
                <a:schemeClr val="bg1"/>
              </a:solidFill>
            </a:endParaRPr>
          </a:p>
        </p:txBody>
      </p:sp>
      <p:sp>
        <p:nvSpPr>
          <p:cNvPr id="7" name="Textfeld 6"/>
          <p:cNvSpPr txBox="1"/>
          <p:nvPr/>
        </p:nvSpPr>
        <p:spPr>
          <a:xfrm>
            <a:off x="-1776413" y="479425"/>
            <a:ext cx="1576388" cy="1323975"/>
          </a:xfrm>
          <a:prstGeom prst="rect">
            <a:avLst/>
          </a:prstGeom>
          <a:noFill/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Institutslogo: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Dateiformat: PNG in RGB</a:t>
            </a:r>
          </a:p>
          <a:p>
            <a:pPr eaLnBrk="1" hangingPunct="1">
              <a:buFontTx/>
              <a:buChar char="-"/>
              <a:defRPr/>
            </a:pPr>
            <a:r>
              <a:rPr lang="de-DE" altLang="de-DE" sz="1000"/>
              <a:t>Skalieren auf</a:t>
            </a:r>
          </a:p>
          <a:p>
            <a:pPr eaLnBrk="1" hangingPunct="1">
              <a:defRPr/>
            </a:pPr>
            <a:r>
              <a:rPr lang="de-DE" altLang="de-DE" sz="1000"/>
              <a:t>     Höhe: 2,26 cm</a:t>
            </a:r>
          </a:p>
          <a:p>
            <a:pPr eaLnBrk="1" hangingPunct="1">
              <a:defRPr/>
            </a:pPr>
            <a:r>
              <a:rPr lang="de-DE" altLang="de-DE" sz="1000"/>
              <a:t>     (Breite variiert je nach   </a:t>
            </a:r>
          </a:p>
          <a:p>
            <a:pPr eaLnBrk="1" hangingPunct="1">
              <a:defRPr/>
            </a:pPr>
            <a:r>
              <a:rPr lang="de-DE" altLang="de-DE" sz="1000"/>
              <a:t>     Schutzraum)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52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07642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1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1588"/>
            <a:ext cx="12192000" cy="2298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Textfeld 7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9" name="Grafik 8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8842392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2/3 Fo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feld 3"/>
          <p:cNvSpPr txBox="1"/>
          <p:nvPr/>
        </p:nvSpPr>
        <p:spPr>
          <a:xfrm>
            <a:off x="-1703388" y="495300"/>
            <a:ext cx="1439863" cy="1477963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r>
              <a:rPr lang="de-DE" sz="1000" b="1" dirty="0">
                <a:latin typeface="+mn-lt"/>
                <a:ea typeface="+mn-ea"/>
              </a:rPr>
              <a:t>Bild zuschneiden unter: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Format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>
                <a:latin typeface="+mn-lt"/>
                <a:ea typeface="+mn-ea"/>
              </a:rPr>
              <a:t>Zuschneiden</a:t>
            </a:r>
          </a:p>
          <a:p>
            <a:pPr marL="171450" indent="-171450" eaLnBrk="1" fontAlgn="auto" hangingPunct="1">
              <a:spcBef>
                <a:spcPts val="0"/>
              </a:spcBef>
              <a:spcAft>
                <a:spcPts val="0"/>
              </a:spcAft>
              <a:buFontTx/>
              <a:buChar char="-"/>
              <a:defRPr/>
            </a:pPr>
            <a:r>
              <a:rPr lang="de-DE" sz="1000" dirty="0" err="1">
                <a:latin typeface="+mn-lt"/>
                <a:ea typeface="+mn-ea"/>
              </a:rPr>
              <a:t>Zuschneidewerkzeug</a:t>
            </a:r>
            <a:r>
              <a:rPr lang="de-DE" sz="1000" dirty="0">
                <a:latin typeface="+mn-lt"/>
                <a:ea typeface="+mn-ea"/>
              </a:rPr>
              <a:t> horizontal bis zur ersten oder zweiten Linie ziehen</a:t>
            </a:r>
          </a:p>
        </p:txBody>
      </p:sp>
      <p:pic>
        <p:nvPicPr>
          <p:cNvPr id="5" name="Grafik 9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1999" cy="45338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itle 1"/>
          <p:cNvSpPr>
            <a:spLocks noGrp="1"/>
          </p:cNvSpPr>
          <p:nvPr>
            <p:ph type="ctrTitle"/>
          </p:nvPr>
        </p:nvSpPr>
        <p:spPr>
          <a:xfrm>
            <a:off x="384000" y="473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Subtitle 2"/>
          <p:cNvSpPr>
            <a:spLocks noGrp="1"/>
          </p:cNvSpPr>
          <p:nvPr>
            <p:ph type="subTitle" idx="1"/>
          </p:nvPr>
        </p:nvSpPr>
        <p:spPr>
          <a:xfrm>
            <a:off x="384000" y="5230801"/>
            <a:ext cx="11484000" cy="812813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12" name="Grafik 11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55200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Gerader Verbinder 3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2" name="Subtitle 2"/>
          <p:cNvSpPr>
            <a:spLocks noGrp="1"/>
          </p:cNvSpPr>
          <p:nvPr>
            <p:ph type="subTitle" idx="1"/>
          </p:nvPr>
        </p:nvSpPr>
        <p:spPr>
          <a:xfrm>
            <a:off x="384000" y="2980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96271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el_mittig, horizontale Lin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Gerader Verbinder 7"/>
          <p:cNvCxnSpPr/>
          <p:nvPr/>
        </p:nvCxnSpPr>
        <p:spPr>
          <a:xfrm>
            <a:off x="392113" y="30368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384000" y="2487600"/>
            <a:ext cx="11484000" cy="540000"/>
          </a:xfrm>
          <a:prstGeom prst="rect">
            <a:avLst/>
          </a:prstGeom>
        </p:spPr>
        <p:txBody>
          <a:bodyPr lIns="0" tIns="0" rIns="0" bIns="0" anchor="t" anchorCtr="0">
            <a:noAutofit/>
          </a:bodyPr>
          <a:lstStyle>
            <a:lvl1pPr algn="l">
              <a:defRPr sz="3200" b="1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384000" y="3196800"/>
            <a:ext cx="11484000" cy="1655762"/>
          </a:xfrm>
          <a:prstGeom prst="rect">
            <a:avLst/>
          </a:prstGeom>
        </p:spPr>
        <p:txBody>
          <a:bodyPr lIns="0" tIns="0" rIns="0" bIns="0"/>
          <a:lstStyle>
            <a:lvl1pPr marL="0" indent="0" algn="l">
              <a:lnSpc>
                <a:spcPct val="100000"/>
              </a:lnSpc>
              <a:buNone/>
              <a:defRPr sz="2000">
                <a:solidFill>
                  <a:schemeClr val="tx1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de-DE"/>
              <a:t>Master-Untertitelformat bearbeiten</a:t>
            </a:r>
            <a:endParaRPr lang="en-US" dirty="0"/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118416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Aufzähl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11"/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11484000" cy="3193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9757999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7" name="Textplatzhalter 6"/>
          <p:cNvSpPr>
            <a:spLocks noGrp="1"/>
          </p:cNvSpPr>
          <p:nvPr>
            <p:ph type="body" sz="quarter" idx="12"/>
          </p:nvPr>
        </p:nvSpPr>
        <p:spPr>
          <a:xfrm>
            <a:off x="383117" y="1684801"/>
            <a:ext cx="11484000" cy="3751263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FontTx/>
              <a:buNone/>
              <a:defRPr/>
            </a:lvl1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7675938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2/3_1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3840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8149199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11" name="Content Placeholder 2"/>
          <p:cNvSpPr>
            <a:spLocks noGrp="1"/>
          </p:cNvSpPr>
          <p:nvPr>
            <p:ph idx="16"/>
          </p:nvPr>
        </p:nvSpPr>
        <p:spPr>
          <a:xfrm>
            <a:off x="8149199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28135988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halt_1/3_2/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Inhaltsplatzhalter 7"/>
          <p:cNvSpPr>
            <a:spLocks noGrp="1"/>
          </p:cNvSpPr>
          <p:nvPr>
            <p:ph sz="quarter" idx="14"/>
          </p:nvPr>
        </p:nvSpPr>
        <p:spPr>
          <a:xfrm>
            <a:off x="4426800" y="1684801"/>
            <a:ext cx="74412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 dirty="0"/>
          </a:p>
        </p:txBody>
      </p:sp>
      <p:sp>
        <p:nvSpPr>
          <p:cNvPr id="9" name="Inhaltsplatzhalter 7"/>
          <p:cNvSpPr>
            <a:spLocks noGrp="1"/>
          </p:cNvSpPr>
          <p:nvPr>
            <p:ph sz="quarter" idx="15"/>
          </p:nvPr>
        </p:nvSpPr>
        <p:spPr>
          <a:xfrm>
            <a:off x="384000" y="1684801"/>
            <a:ext cx="3718800" cy="37512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  <a:p>
            <a:pPr lvl="4"/>
            <a:r>
              <a:rPr lang="de-DE"/>
              <a:t>Fünfte Ebene</a:t>
            </a:r>
            <a:endParaRPr lang="en-US"/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4426800" y="1152000"/>
            <a:ext cx="74412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10" name="Content Placeholder 2"/>
          <p:cNvSpPr>
            <a:spLocks noGrp="1"/>
          </p:cNvSpPr>
          <p:nvPr>
            <p:ph idx="16"/>
          </p:nvPr>
        </p:nvSpPr>
        <p:spPr>
          <a:xfrm>
            <a:off x="384000" y="1152000"/>
            <a:ext cx="37188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40432707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Tex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375" y="1684338"/>
            <a:ext cx="3635375" cy="39893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" name="Textplatzhalter 11"/>
          <p:cNvSpPr>
            <a:spLocks noGrp="1"/>
          </p:cNvSpPr>
          <p:nvPr>
            <p:ph type="body" sz="quarter" idx="14"/>
          </p:nvPr>
        </p:nvSpPr>
        <p:spPr>
          <a:xfrm>
            <a:off x="383117" y="1684800"/>
            <a:ext cx="7560000" cy="3985955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/>
              <a:t>Mastertextformat bearbeiten</a:t>
            </a:r>
          </a:p>
          <a:p>
            <a:pPr lvl="1"/>
            <a:r>
              <a:rPr lang="de-DE"/>
              <a:t>Zweite Ebene</a:t>
            </a:r>
          </a:p>
          <a:p>
            <a:pPr lvl="2"/>
            <a:r>
              <a:rPr lang="de-DE"/>
              <a:t>Dritte Ebene</a:t>
            </a:r>
          </a:p>
          <a:p>
            <a:pPr lvl="3"/>
            <a:r>
              <a:rPr lang="de-DE"/>
              <a:t>Vierte Ebene</a:t>
            </a:r>
          </a:p>
        </p:txBody>
      </p:sp>
      <p:sp>
        <p:nvSpPr>
          <p:cNvPr id="6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7" name="Content Placeholder 2"/>
          <p:cNvSpPr>
            <a:spLocks noGrp="1"/>
          </p:cNvSpPr>
          <p:nvPr>
            <p:ph idx="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  <a:noFill/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2000" b="1" i="0"/>
            </a:lvl1pPr>
            <a:lvl2pPr marL="216000" indent="180000">
              <a:buClr>
                <a:schemeClr val="tx2"/>
              </a:buClr>
              <a:defRPr sz="1800"/>
            </a:lvl2pPr>
            <a:lvl3pPr marL="432000" indent="180000">
              <a:buClr>
                <a:schemeClr val="tx2"/>
              </a:buClr>
              <a:buFont typeface="Symbol" panose="05050102010706020507" pitchFamily="18" charset="2"/>
              <a:buChar char="-"/>
              <a:defRPr sz="1600"/>
            </a:lvl3pPr>
            <a:lvl4pPr marL="648000" indent="180000">
              <a:buClr>
                <a:schemeClr val="tx2"/>
              </a:buClr>
              <a:buFont typeface="Wingdings" panose="05000000000000000000" pitchFamily="2" charset="2"/>
              <a:buChar char="§"/>
              <a:defRPr sz="1600"/>
            </a:lvl4pPr>
            <a:lvl5pPr marL="864000" indent="180000">
              <a:buClr>
                <a:schemeClr val="tx2"/>
              </a:buClr>
              <a:buFont typeface="Arial" panose="020B0604020202020204" pitchFamily="34" charset="0"/>
              <a:buChar char="-"/>
              <a:defRPr sz="16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</p:spTree>
    <p:extLst>
      <p:ext uri="{BB962C8B-B14F-4D97-AF65-F5344CB8AC3E}">
        <p14:creationId xmlns:p14="http://schemas.microsoft.com/office/powerpoint/2010/main" val="38204551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Bil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Grafik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5763" y="1152525"/>
            <a:ext cx="11480800" cy="3987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" name="Textplatzhalter 9"/>
          <p:cNvSpPr>
            <a:spLocks noGrp="1"/>
          </p:cNvSpPr>
          <p:nvPr>
            <p:ph type="body" sz="quarter" idx="13"/>
          </p:nvPr>
        </p:nvSpPr>
        <p:spPr>
          <a:xfrm>
            <a:off x="383117" y="5359401"/>
            <a:ext cx="11484000" cy="49953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r">
              <a:buNone/>
              <a:defRPr sz="900" baseline="0"/>
            </a:lvl1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9259694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halt_Diagram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1152000"/>
            <a:ext cx="11484000" cy="252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buFontTx/>
              <a:buNone/>
              <a:defRPr sz="2000" b="1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sp>
        <p:nvSpPr>
          <p:cNvPr id="9" name="Diagrammplatzhalter 8"/>
          <p:cNvSpPr>
            <a:spLocks noGrp="1"/>
          </p:cNvSpPr>
          <p:nvPr>
            <p:ph type="chart" sz="quarter" idx="13"/>
          </p:nvPr>
        </p:nvSpPr>
        <p:spPr>
          <a:xfrm>
            <a:off x="383117" y="1684800"/>
            <a:ext cx="11484000" cy="3632200"/>
          </a:xfrm>
          <a:prstGeom prst="rect">
            <a:avLst/>
          </a:prstGeom>
        </p:spPr>
        <p:txBody>
          <a:bodyPr lIns="0" tIns="0" rIns="0" bIns="0"/>
          <a:lstStyle/>
          <a:p>
            <a:pPr lvl="0"/>
            <a:r>
              <a:rPr lang="de-DE" noProof="0"/>
              <a:t>Diagramm durch Klicken auf Symbol hinzufügen</a:t>
            </a:r>
          </a:p>
        </p:txBody>
      </p:sp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384000" y="201600"/>
            <a:ext cx="11484000" cy="543600"/>
          </a:xfrm>
          <a:prstGeom prst="rect">
            <a:avLst/>
          </a:prstGeom>
        </p:spPr>
        <p:txBody>
          <a:bodyPr lIns="0" tIns="0" rIns="0" bIns="0" anchor="b" anchorCtr="0"/>
          <a:lstStyle>
            <a:lvl1pPr algn="l">
              <a:defRPr sz="2000" b="1">
                <a:solidFill>
                  <a:schemeClr val="tx2"/>
                </a:solidFill>
              </a:defRPr>
            </a:lvl1pPr>
          </a:lstStyle>
          <a:p>
            <a:r>
              <a:rPr lang="de-DE"/>
              <a:t>Mastertitelformat bearbeiten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387943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bschluss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/>
          <p:cNvSpPr txBox="1">
            <a:spLocks/>
          </p:cNvSpPr>
          <p:nvPr/>
        </p:nvSpPr>
        <p:spPr>
          <a:xfrm>
            <a:off x="382588" y="2487613"/>
            <a:ext cx="11483975" cy="1079500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lnSpc>
                <a:spcPct val="90000"/>
              </a:lnSpc>
              <a:defRPr/>
            </a:pPr>
            <a:r>
              <a:rPr lang="de-DE" altLang="de-DE" sz="3200" b="1">
                <a:solidFill>
                  <a:schemeClr val="tx2"/>
                </a:solidFill>
              </a:rPr>
              <a:t>Vielen Dank</a:t>
            </a:r>
            <a:br>
              <a:rPr lang="de-DE" altLang="de-DE" sz="3200" b="1">
                <a:solidFill>
                  <a:schemeClr val="tx2"/>
                </a:solidFill>
              </a:rPr>
            </a:br>
            <a:r>
              <a:rPr lang="de-DE" altLang="de-DE" sz="3200" b="1">
                <a:solidFill>
                  <a:schemeClr val="tx2"/>
                </a:solidFill>
              </a:rPr>
              <a:t>für Ihre Aufmerksamkeit</a:t>
            </a:r>
            <a:endParaRPr lang="en-US" altLang="de-DE" sz="3200" b="1">
              <a:solidFill>
                <a:schemeClr val="tx2"/>
              </a:solidFill>
            </a:endParaRPr>
          </a:p>
        </p:txBody>
      </p:sp>
      <p:cxnSp>
        <p:nvCxnSpPr>
          <p:cNvPr id="5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platzhalter 24"/>
          <p:cNvSpPr>
            <a:spLocks noGrp="1"/>
          </p:cNvSpPr>
          <p:nvPr>
            <p:ph type="body" sz="quarter" idx="11"/>
          </p:nvPr>
        </p:nvSpPr>
        <p:spPr>
          <a:xfrm>
            <a:off x="384000" y="3988800"/>
            <a:ext cx="11484000" cy="1656000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lnSpc>
                <a:spcPct val="100000"/>
              </a:lnSpc>
              <a:spcBef>
                <a:spcPts val="0"/>
              </a:spcBef>
              <a:buFontTx/>
              <a:buNone/>
              <a:defRPr sz="1600" b="0"/>
            </a:lvl1pPr>
            <a:lvl2pPr marL="457200" indent="0">
              <a:buFontTx/>
              <a:buNone/>
              <a:defRPr sz="1800"/>
            </a:lvl2pPr>
            <a:lvl3pPr marL="914400" indent="0">
              <a:buFontTx/>
              <a:buNone/>
              <a:defRPr sz="1800"/>
            </a:lvl3pPr>
            <a:lvl4pPr marL="1371600" indent="0">
              <a:buFontTx/>
              <a:buNone/>
              <a:defRPr sz="1800"/>
            </a:lvl4pPr>
            <a:lvl5pPr marL="1828800" indent="0">
              <a:buFontTx/>
              <a:buNone/>
              <a:defRPr sz="1800"/>
            </a:lvl5pPr>
          </a:lstStyle>
          <a:p>
            <a:pPr lvl="0"/>
            <a:r>
              <a:rPr lang="de-DE"/>
              <a:t>Mastertextformat bearbeiten</a:t>
            </a:r>
          </a:p>
        </p:txBody>
      </p:sp>
      <p:pic>
        <p:nvPicPr>
          <p:cNvPr id="6" name="Grafik 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787697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5"/>
          <p:cNvSpPr txBox="1">
            <a:spLocks/>
          </p:cNvSpPr>
          <p:nvPr/>
        </p:nvSpPr>
        <p:spPr>
          <a:xfrm>
            <a:off x="1195388" y="6227764"/>
            <a:ext cx="7002462" cy="395286"/>
          </a:xfrm>
          <a:prstGeom prst="rect">
            <a:avLst/>
          </a:prstGeom>
        </p:spPr>
        <p:txBody>
          <a:bodyPr lIns="0" tIns="0" rIns="0" bIns="0"/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Teaser-Folie I Projekt/Bachelor/Masterarbeit von Vorname Name</a:t>
            </a:r>
          </a:p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de-DE" sz="1050" kern="1200" baseline="0" dirty="0">
                <a:solidFill>
                  <a:schemeClr val="tx2"/>
                </a:solidFill>
                <a:latin typeface="Arial" pitchFamily="34" charset="0"/>
                <a:ea typeface="ＭＳ Ｐゴシック" pitchFamily="34" charset="-128"/>
                <a:cs typeface="+mn-cs"/>
              </a:rPr>
              <a:t> Titel der Arbeit I Datum</a:t>
            </a:r>
            <a:endParaRPr lang="de-DE" altLang="de-DE" sz="1050" kern="1200" baseline="0" dirty="0">
              <a:solidFill>
                <a:schemeClr val="tx2"/>
              </a:solidFill>
              <a:latin typeface="Arial" pitchFamily="34" charset="0"/>
              <a:ea typeface="ＭＳ Ｐゴシック" pitchFamily="34" charset="-128"/>
              <a:cs typeface="+mn-cs"/>
            </a:endParaRPr>
          </a:p>
        </p:txBody>
      </p:sp>
      <p:cxnSp>
        <p:nvCxnSpPr>
          <p:cNvPr id="11" name="Gerader Verbinder 10"/>
          <p:cNvCxnSpPr/>
          <p:nvPr/>
        </p:nvCxnSpPr>
        <p:spPr>
          <a:xfrm>
            <a:off x="360363" y="81438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Gerader Verbinder 11"/>
          <p:cNvCxnSpPr/>
          <p:nvPr/>
        </p:nvCxnSpPr>
        <p:spPr>
          <a:xfrm>
            <a:off x="360363" y="6040438"/>
            <a:ext cx="11483975" cy="0"/>
          </a:xfrm>
          <a:prstGeom prst="lin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30" name="Textfeld 6"/>
          <p:cNvSpPr txBox="1">
            <a:spLocks noChangeArrowheads="1"/>
          </p:cNvSpPr>
          <p:nvPr/>
        </p:nvSpPr>
        <p:spPr bwMode="auto">
          <a:xfrm>
            <a:off x="-1784350" y="5073650"/>
            <a:ext cx="1668462" cy="1784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pitchFamily="34" charset="0"/>
                <a:ea typeface="ＭＳ Ｐゴシック" pitchFamily="34" charset="-128"/>
              </a:defRPr>
            </a:lvl9pPr>
          </a:lstStyle>
          <a:p>
            <a:pPr eaLnBrk="1" hangingPunct="1">
              <a:defRPr/>
            </a:pPr>
            <a:r>
              <a:rPr lang="de-DE" altLang="de-DE" sz="1000" b="1"/>
              <a:t>Fußzeile anpassen:</a:t>
            </a:r>
            <a:endParaRPr lang="de-DE" altLang="de-DE" sz="1000"/>
          </a:p>
          <a:p>
            <a:pPr eaLnBrk="1" hangingPunct="1">
              <a:defRPr/>
            </a:pPr>
            <a:r>
              <a:rPr lang="de-DE" altLang="de-DE" sz="1000"/>
              <a:t>Zum Anpassen der Fußzeile unter Karteireiter Ansicht &gt; auf Folienmaster klicken. Links in der Übersicht auf die oberste Folie scrollen und dort in die Fußzeile klicken. So wird der Text automatisch auf allen Seiten angepasst.</a:t>
            </a:r>
            <a:endParaRPr lang="de-DE" altLang="de-DE" sz="1000" b="1"/>
          </a:p>
        </p:txBody>
      </p:sp>
      <p:sp>
        <p:nvSpPr>
          <p:cNvPr id="1031" name="Textfeld 13"/>
          <p:cNvSpPr txBox="1">
            <a:spLocks noChangeArrowheads="1"/>
          </p:cNvSpPr>
          <p:nvPr/>
        </p:nvSpPr>
        <p:spPr bwMode="auto">
          <a:xfrm>
            <a:off x="360363" y="6227763"/>
            <a:ext cx="730250" cy="395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0" tIns="0" rIns="0" bIns="0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ＭＳ Ｐゴシック" panose="020B0600070205080204" pitchFamily="34" charset="-128"/>
              </a:defRPr>
            </a:lvl9pPr>
          </a:lstStyle>
          <a:p>
            <a:pPr eaLnBrk="1" hangingPunct="1"/>
            <a:fld id="{C2220154-828B-4C84-BC39-BAE48C2A1705}" type="slidenum">
              <a:rPr lang="de-DE" altLang="de-DE" sz="1050">
                <a:solidFill>
                  <a:schemeClr val="tx2"/>
                </a:solidFill>
              </a:rPr>
              <a:pPr eaLnBrk="1" hangingPunct="1"/>
              <a:t>‹#›</a:t>
            </a:fld>
            <a:endParaRPr lang="de-DE" altLang="de-DE" sz="1050" dirty="0">
              <a:solidFill>
                <a:schemeClr val="tx2"/>
              </a:solidFill>
            </a:endParaRPr>
          </a:p>
        </p:txBody>
      </p:sp>
      <p:pic>
        <p:nvPicPr>
          <p:cNvPr id="10" name="Grafik 9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609777" y="6044400"/>
            <a:ext cx="3366324" cy="813600"/>
          </a:xfrm>
          <a:prstGeom prst="rect">
            <a:avLst/>
          </a:prstGeom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60" r:id="rId1"/>
    <p:sldLayoutId id="2147483861" r:id="rId2"/>
    <p:sldLayoutId id="2147483862" r:id="rId3"/>
    <p:sldLayoutId id="2147483863" r:id="rId4"/>
    <p:sldLayoutId id="2147483864" r:id="rId5"/>
    <p:sldLayoutId id="2147483857" r:id="rId6"/>
    <p:sldLayoutId id="2147483858" r:id="rId7"/>
    <p:sldLayoutId id="2147483868" r:id="rId8"/>
    <p:sldLayoutId id="2147483869" r:id="rId9"/>
    <p:sldLayoutId id="2147483865" r:id="rId10"/>
    <p:sldLayoutId id="2147483866" r:id="rId11"/>
    <p:sldLayoutId id="2147483859" r:id="rId12"/>
    <p:sldLayoutId id="2147483867" r:id="rId13"/>
  </p:sldLayoutIdLst>
  <p:hf hdr="0" ftr="0" dt="0"/>
  <p:txStyles>
    <p:titleStyle>
      <a:lvl1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2pPr>
      <a:lvl3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3pPr>
      <a:lvl4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4pPr>
      <a:lvl5pPr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5pPr>
      <a:lvl6pPr marL="4572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6pPr>
      <a:lvl7pPr marL="9144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7pPr>
      <a:lvl8pPr marL="13716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8pPr>
      <a:lvl9pPr marL="18288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Arial" panose="020B0604020202020204" pitchFamily="34" charset="0"/>
          <a:cs typeface="Arial" panose="020B0604020202020204" pitchFamily="34" charset="0"/>
        </a:defRPr>
      </a:lvl9pPr>
    </p:titleStyle>
    <p:bodyStyle>
      <a:lvl1pPr marL="2159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•"/>
        <a:tabLst>
          <a:tab pos="215900" algn="l"/>
        </a:tabLst>
        <a:defRPr kern="1200">
          <a:solidFill>
            <a:schemeClr val="tx1"/>
          </a:solidFill>
          <a:latin typeface="Arial" panose="020B0604020202020204" pitchFamily="34" charset="0"/>
          <a:ea typeface="ＭＳ Ｐゴシック" charset="0"/>
          <a:cs typeface="Arial" panose="020B0604020202020204" pitchFamily="34" charset="0"/>
        </a:defRPr>
      </a:lvl1pPr>
      <a:lvl2pPr marL="431800" indent="-215900" algn="l" rtl="0" eaLnBrk="1" fontAlgn="base" hangingPunct="1">
        <a:spcBef>
          <a:spcPct val="0"/>
        </a:spcBef>
        <a:spcAft>
          <a:spcPct val="0"/>
        </a:spcAft>
        <a:buClr>
          <a:schemeClr val="tx2"/>
        </a:buClr>
        <a:buFont typeface="Symbol" panose="05050102010706020507" pitchFamily="18" charset="2"/>
        <a:buChar char="-"/>
        <a:tabLst>
          <a:tab pos="4318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2pPr>
      <a:lvl3pPr marL="6477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80000"/>
        <a:buFont typeface="Wingdings" panose="05000000000000000000" pitchFamily="2" charset="2"/>
        <a:buChar char="§"/>
        <a:tabLst>
          <a:tab pos="6477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3pPr>
      <a:lvl4pPr marL="863600" indent="-215900" algn="l" defTabSz="215900" rtl="0" eaLnBrk="1" fontAlgn="base" hangingPunct="1">
        <a:spcBef>
          <a:spcPct val="0"/>
        </a:spcBef>
        <a:spcAft>
          <a:spcPct val="0"/>
        </a:spcAft>
        <a:buClr>
          <a:schemeClr val="tx2"/>
        </a:buClr>
        <a:buSzPct val="100000"/>
        <a:buFont typeface="Arial" panose="020B0604020202020204" pitchFamily="34" charset="0"/>
        <a:buChar char="-"/>
        <a:tabLst>
          <a:tab pos="86360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4pPr>
      <a:lvl5pPr marL="863600" indent="-215900" algn="l" rtl="0" eaLnBrk="1" fontAlgn="base" hangingPunct="1">
        <a:lnSpc>
          <a:spcPct val="90000"/>
        </a:lnSpc>
        <a:spcBef>
          <a:spcPct val="0"/>
        </a:spcBef>
        <a:spcAft>
          <a:spcPct val="0"/>
        </a:spcAft>
        <a:buClr>
          <a:schemeClr val="tx2"/>
        </a:buClr>
        <a:buFont typeface="Arial" panose="020B0604020202020204" pitchFamily="34" charset="0"/>
        <a:buChar char="-"/>
        <a:tabLst>
          <a:tab pos="895350" algn="l"/>
        </a:tabLst>
        <a:defRPr sz="1600" kern="1200">
          <a:solidFill>
            <a:schemeClr val="tx1"/>
          </a:solidFill>
          <a:latin typeface="Arial" panose="020B0604020202020204" pitchFamily="34" charset="0"/>
          <a:ea typeface="Arial" charset="0"/>
          <a:cs typeface="Arial" panose="020B0604020202020204" pitchFamily="34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microsoft.com/office/2018/10/relationships/comments" Target="../comments/modernComment_5D3_9A3E1C86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microsoft.com/office/2018/10/relationships/comments" Target="../comments/modernComment_5D9_471727C4.xml"/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microsoft.com/office/2018/10/relationships/comments" Target="../comments/modernComment_5D4_69A6FFE9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microsoft.com/office/2018/10/relationships/comments" Target="../comments/modernComment_5D5_2D29FAA8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microsoft.com/office/2018/10/relationships/comments" Target="../comments/modernComment_5D8_BF9BF251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15.png"/></Relationships>
</file>

<file path=ppt/slides/_rels/slide6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7_F6965CCA.xml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A_7EFAC9F3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2" Type="http://schemas.microsoft.com/office/2018/10/relationships/comments" Target="../comments/modernComment_5D6_800809FF.xm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515A0200-94A9-1893-FE11-5F49FC2C390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en-US" altLang="zh-CN" dirty="0"/>
              <a:t>1.LSTM</a:t>
            </a:r>
            <a:r>
              <a:rPr lang="zh-CN" altLang="en-US" dirty="0"/>
              <a:t>特征提取器</a:t>
            </a:r>
            <a:endParaRPr lang="en-US" altLang="zh-CN" dirty="0"/>
          </a:p>
          <a:p>
            <a:r>
              <a:rPr lang="en-US" altLang="zh-CN" dirty="0"/>
              <a:t>2 </a:t>
            </a:r>
            <a:r>
              <a:rPr lang="zh-CN" altLang="en-US" dirty="0"/>
              <a:t>这个算法的</a:t>
            </a:r>
            <a:r>
              <a:rPr lang="en-US" altLang="zh-CN" dirty="0" err="1"/>
              <a:t>lstm+svm</a:t>
            </a:r>
            <a:r>
              <a:rPr lang="en-US" altLang="zh-CN" dirty="0"/>
              <a:t> </a:t>
            </a:r>
            <a:r>
              <a:rPr lang="zh-CN" altLang="en-US" dirty="0"/>
              <a:t>全部执行了，但是结果不理想</a:t>
            </a:r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BBDA6A6A-207E-5BDB-4347-74665AC35B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1.Last Week’s Tasks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A6CC0F6-26FF-8C88-2E83-0DAD81C1D6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A047C0EC-A814-DD36-E956-E990F8799509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27396" b="40105"/>
          <a:stretch>
            <a:fillRect/>
          </a:stretch>
        </p:blipFill>
        <p:spPr>
          <a:xfrm>
            <a:off x="3823806" y="927111"/>
            <a:ext cx="7995156" cy="9537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761798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81440A-D901-5632-46BD-21777C7087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ACED5D67-1DC3-6794-1344-D17E14B9815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8E054DF4-A090-46F7-8316-03CD8208BA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7D5DF2B-2860-7C2E-B0B1-386314AA70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A7DAC318-7B2F-3E1B-FBC7-C0A4BE4239A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7524" y="1404000"/>
            <a:ext cx="4990476" cy="1485714"/>
          </a:xfrm>
          <a:prstGeom prst="rect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B69EFA9-0F11-CF60-799C-D10A3B2188E5}"/>
              </a:ext>
            </a:extLst>
          </p:cNvPr>
          <p:cNvSpPr txBox="1"/>
          <p:nvPr/>
        </p:nvSpPr>
        <p:spPr>
          <a:xfrm>
            <a:off x="373038" y="1684800"/>
            <a:ext cx="56094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/>
              <a:t>特征提取器</a:t>
            </a:r>
            <a:r>
              <a:rPr lang="en-US" altLang="zh-CN" dirty="0" err="1"/>
              <a:t>dann</a:t>
            </a:r>
            <a:r>
              <a:rPr lang="zh-CN" altLang="en-US" dirty="0"/>
              <a:t>收敛良好 </a:t>
            </a:r>
            <a:r>
              <a:rPr lang="en-US" altLang="zh-CN" dirty="0"/>
              <a:t>loss</a:t>
            </a:r>
            <a:r>
              <a:rPr lang="zh-CN" altLang="en-US" dirty="0"/>
              <a:t>正常</a:t>
            </a:r>
          </a:p>
        </p:txBody>
      </p:sp>
    </p:spTree>
    <p:extLst>
      <p:ext uri="{BB962C8B-B14F-4D97-AF65-F5344CB8AC3E}">
        <p14:creationId xmlns:p14="http://schemas.microsoft.com/office/powerpoint/2010/main" val="119269984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E71E05A6-7AD4-D044-4BFE-8C7C650328C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r>
              <a:rPr lang="zh-CN" altLang="en-US" dirty="0"/>
              <a:t>这个是预测完的结果</a:t>
            </a:r>
            <a:br>
              <a:rPr lang="en-US" altLang="zh-CN" dirty="0"/>
            </a:br>
            <a:r>
              <a:rPr lang="zh-CN" altLang="en-US" dirty="0"/>
              <a:t>结果发现 好信号</a:t>
            </a:r>
            <a:r>
              <a:rPr lang="en-US" altLang="zh-CN" dirty="0"/>
              <a:t>76% </a:t>
            </a:r>
            <a:r>
              <a:rPr lang="zh-CN" altLang="en-US" dirty="0"/>
              <a:t>坏信号 </a:t>
            </a:r>
            <a:r>
              <a:rPr lang="en-US" altLang="zh-CN" dirty="0"/>
              <a:t>10%</a:t>
            </a:r>
          </a:p>
          <a:p>
            <a:r>
              <a:rPr lang="zh-CN" altLang="en-US" dirty="0"/>
              <a:t>由于</a:t>
            </a:r>
            <a:r>
              <a:rPr lang="en-US" altLang="zh-CN" dirty="0" err="1"/>
              <a:t>lstm</a:t>
            </a:r>
            <a:r>
              <a:rPr lang="en-US" altLang="zh-CN" dirty="0"/>
              <a:t> </a:t>
            </a:r>
            <a:r>
              <a:rPr lang="zh-CN" altLang="en-US" dirty="0"/>
              <a:t>序列的制作，导致的</a:t>
            </a:r>
            <a:r>
              <a:rPr lang="en-US" altLang="zh-CN" dirty="0"/>
              <a:t>nan</a:t>
            </a:r>
            <a:r>
              <a:rPr lang="zh-CN" altLang="en-US" dirty="0"/>
              <a:t>数据 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主要工作流程 </a:t>
            </a:r>
            <a:br>
              <a:rPr lang="en-US" altLang="zh-CN" dirty="0"/>
            </a:br>
            <a:r>
              <a:rPr lang="zh-CN" altLang="en-US" dirty="0"/>
              <a:t>数据输入</a:t>
            </a:r>
            <a:r>
              <a:rPr lang="en-US" altLang="zh-CN" dirty="0">
                <a:sym typeface="Wingdings" panose="05000000000000000000" pitchFamily="2" charset="2"/>
              </a:rPr>
              <a:t>LSTM</a:t>
            </a:r>
            <a:r>
              <a:rPr lang="zh-CN" altLang="en-US" dirty="0">
                <a:sym typeface="Wingdings" panose="05000000000000000000" pitchFamily="2" charset="2"/>
              </a:rPr>
              <a:t>特征提取器的损失函数 （</a:t>
            </a:r>
            <a:r>
              <a:rPr lang="en-US" altLang="zh-CN" dirty="0">
                <a:sym typeface="Wingdings" panose="05000000000000000000" pitchFamily="2" charset="2"/>
              </a:rPr>
              <a:t>4</a:t>
            </a:r>
            <a:r>
              <a:rPr lang="zh-CN" altLang="en-US" dirty="0">
                <a:sym typeface="Wingdings" panose="05000000000000000000" pitchFamily="2" charset="2"/>
              </a:rPr>
              <a:t>：</a:t>
            </a:r>
            <a:r>
              <a:rPr lang="en-US" altLang="zh-CN" dirty="0">
                <a:sym typeface="Wingdings" panose="05000000000000000000" pitchFamily="2" charset="2"/>
              </a:rPr>
              <a:t>1</a:t>
            </a:r>
            <a:r>
              <a:rPr lang="zh-CN" altLang="en-US" dirty="0">
                <a:sym typeface="Wingdings" panose="05000000000000000000" pitchFamily="2" charset="2"/>
              </a:rPr>
              <a:t>）直接输入</a:t>
            </a:r>
            <a:r>
              <a:rPr lang="en-US" altLang="zh-CN" dirty="0">
                <a:sym typeface="Wingdings" panose="05000000000000000000" pitchFamily="2" charset="2"/>
              </a:rPr>
              <a:t>(</a:t>
            </a:r>
            <a:r>
              <a:rPr lang="zh-CN" altLang="en-US" dirty="0">
                <a:sym typeface="Wingdings" panose="05000000000000000000" pitchFamily="2" charset="2"/>
              </a:rPr>
              <a:t>特征提取</a:t>
            </a:r>
            <a:r>
              <a:rPr lang="en-US" altLang="zh-CN" dirty="0">
                <a:sym typeface="Wingdings" panose="05000000000000000000" pitchFamily="2" charset="2"/>
              </a:rPr>
              <a:t>)   sat type 4</a:t>
            </a:r>
            <a:r>
              <a:rPr lang="zh-CN" altLang="en-US" dirty="0">
                <a:sym typeface="Wingdings" panose="05000000000000000000" pitchFamily="2" charset="2"/>
              </a:rPr>
              <a:t>个类</a:t>
            </a:r>
            <a:r>
              <a:rPr lang="en-US" altLang="zh-CN" dirty="0" err="1">
                <a:sym typeface="Wingdings" panose="05000000000000000000" pitchFamily="2" charset="2"/>
              </a:rPr>
              <a:t>los</a:t>
            </a:r>
            <a:r>
              <a:rPr lang="en-US" altLang="zh-CN" dirty="0">
                <a:sym typeface="Wingdings" panose="05000000000000000000" pitchFamily="2" charset="2"/>
              </a:rPr>
              <a:t> </a:t>
            </a:r>
            <a:r>
              <a:rPr lang="en-US" altLang="zh-CN" dirty="0" err="1">
                <a:sym typeface="Wingdings" panose="05000000000000000000" pitchFamily="2" charset="2"/>
              </a:rPr>
              <a:t>nlos</a:t>
            </a:r>
            <a:r>
              <a:rPr lang="zh-CN" altLang="en-US" dirty="0">
                <a:sym typeface="Wingdings" panose="05000000000000000000" pitchFamily="2" charset="2"/>
              </a:rPr>
              <a:t>，</a:t>
            </a:r>
            <a:r>
              <a:rPr lang="en-US" altLang="zh-CN" dirty="0">
                <a:sym typeface="Wingdings" panose="05000000000000000000" pitchFamily="2" charset="2"/>
              </a:rPr>
              <a:t> pl </a:t>
            </a:r>
            <a:r>
              <a:rPr lang="en-US" altLang="zh-CN" dirty="0" err="1">
                <a:sym typeface="Wingdings" panose="05000000000000000000" pitchFamily="2" charset="2"/>
              </a:rPr>
              <a:t>gnss</a:t>
            </a:r>
            <a:r>
              <a:rPr lang="en-US" altLang="zh-CN" dirty="0">
                <a:sym typeface="Wingdings" panose="05000000000000000000" pitchFamily="2" charset="2"/>
              </a:rPr>
              <a:t>   </a:t>
            </a:r>
            <a:r>
              <a:rPr lang="zh-CN" altLang="en-US" dirty="0">
                <a:sym typeface="Wingdings" panose="05000000000000000000" pitchFamily="2" charset="2"/>
              </a:rPr>
              <a:t>特征平衡     归一化 将特征  输入</a:t>
            </a:r>
            <a:r>
              <a:rPr lang="en-US" altLang="zh-CN" dirty="0" err="1">
                <a:sym typeface="Wingdings" panose="05000000000000000000" pitchFamily="2" charset="2"/>
              </a:rPr>
              <a:t>svm</a:t>
            </a:r>
            <a:r>
              <a:rPr lang="zh-CN" altLang="en-US" dirty="0">
                <a:sym typeface="Wingdings" panose="05000000000000000000" pitchFamily="2" charset="2"/>
              </a:rPr>
              <a:t>  将预测的结果输出  </a:t>
            </a:r>
            <a:br>
              <a:rPr lang="en-US" altLang="zh-CN" dirty="0">
                <a:sym typeface="Wingdings" panose="05000000000000000000" pitchFamily="2" charset="2"/>
              </a:rPr>
            </a:br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67CC2BCC-8415-D0FE-0866-FA2B1B54F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AF14CB5-223F-2993-005C-2EFAEE1E7FA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74CF500E-7E30-A379-3CE9-F19F9A61EB0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20381" y="170514"/>
            <a:ext cx="4447619" cy="3028571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EE7FF0E1-FB2F-0BAB-CDED-4345F8EB2AD8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27396" b="40105"/>
          <a:stretch>
            <a:fillRect/>
          </a:stretch>
        </p:blipFill>
        <p:spPr>
          <a:xfrm>
            <a:off x="302536" y="4331322"/>
            <a:ext cx="11554502" cy="13783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725521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A56887-C91A-1F54-CBEB-E1EAC2959289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5930485" cy="3193200"/>
          </a:xfrm>
        </p:spPr>
        <p:txBody>
          <a:bodyPr/>
          <a:lstStyle/>
          <a:p>
            <a:r>
              <a:rPr lang="zh-CN" altLang="en-US" dirty="0"/>
              <a:t>这个是输出       没有 </a:t>
            </a:r>
            <a:r>
              <a:rPr lang="en-US" altLang="zh-CN" dirty="0"/>
              <a:t>exclusion </a:t>
            </a:r>
            <a:r>
              <a:rPr lang="en-US" altLang="zh-CN" dirty="0" err="1"/>
              <a:t>nlos</a:t>
            </a:r>
            <a:r>
              <a:rPr lang="zh-CN" altLang="en-US" dirty="0"/>
              <a:t>，都不够 只算 </a:t>
            </a:r>
            <a:r>
              <a:rPr lang="en-US" altLang="zh-CN" dirty="0" err="1"/>
              <a:t>los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 如果 以</a:t>
            </a:r>
            <a:r>
              <a:rPr lang="en-US" altLang="zh-CN" dirty="0"/>
              <a:t>0.1</a:t>
            </a:r>
            <a:r>
              <a:rPr lang="zh-CN" altLang="en-US" dirty="0"/>
              <a:t>秒为准的话 </a:t>
            </a:r>
            <a:r>
              <a:rPr lang="en-US" altLang="zh-CN" dirty="0"/>
              <a:t>0.1</a:t>
            </a:r>
            <a:r>
              <a:rPr lang="zh-CN" altLang="en-US" dirty="0"/>
              <a:t>秒里面的好信号的数量不到</a:t>
            </a:r>
            <a:r>
              <a:rPr lang="en-US" altLang="zh-CN" dirty="0"/>
              <a:t>4</a:t>
            </a:r>
            <a:r>
              <a:rPr lang="zh-CN" altLang="en-US" dirty="0"/>
              <a:t>个以上</a:t>
            </a:r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A3B1BFA4-B7AB-E140-1DD3-C999F875F0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9F900E7-18ED-6CC1-3F80-7C04B3116A2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B7D0117C-7C69-4251-E167-FAD13013D7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096000" y="2409279"/>
            <a:ext cx="5879437" cy="2607704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6E75E305-610A-5AE3-3203-F364D64B5B0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7467" y="4301925"/>
            <a:ext cx="2904762" cy="952381"/>
          </a:xfrm>
          <a:prstGeom prst="rect">
            <a:avLst/>
          </a:prstGeom>
        </p:spPr>
      </p:pic>
      <p:pic>
        <p:nvPicPr>
          <p:cNvPr id="10" name="图片 9">
            <a:extLst>
              <a:ext uri="{FF2B5EF4-FFF2-40B4-BE49-F238E27FC236}">
                <a16:creationId xmlns:a16="http://schemas.microsoft.com/office/drawing/2014/main" id="{00F041E0-51EF-6B41-1642-83BC471E38F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467" y="5254306"/>
            <a:ext cx="3543082" cy="748352"/>
          </a:xfrm>
          <a:prstGeom prst="rect">
            <a:avLst/>
          </a:prstGeom>
        </p:spPr>
      </p:pic>
      <p:pic>
        <p:nvPicPr>
          <p:cNvPr id="14" name="图片 13">
            <a:extLst>
              <a:ext uri="{FF2B5EF4-FFF2-40B4-BE49-F238E27FC236}">
                <a16:creationId xmlns:a16="http://schemas.microsoft.com/office/drawing/2014/main" id="{AFC0E554-043C-1001-F481-D664DF369137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84268" y="359593"/>
            <a:ext cx="8714286" cy="1161905"/>
          </a:xfrm>
          <a:prstGeom prst="rect">
            <a:avLst/>
          </a:prstGeom>
        </p:spPr>
      </p:pic>
      <p:pic>
        <p:nvPicPr>
          <p:cNvPr id="16" name="图片 15">
            <a:extLst>
              <a:ext uri="{FF2B5EF4-FFF2-40B4-BE49-F238E27FC236}">
                <a16:creationId xmlns:a16="http://schemas.microsoft.com/office/drawing/2014/main" id="{E4449521-91A1-BFC2-3BD3-F0D7C249DB8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87467" y="3349544"/>
            <a:ext cx="5533333" cy="9523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725864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F68A01-02B4-EE00-685D-5B720C08CD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1C3BFEF-BBE9-B84B-6507-10901ABB0D9C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73038" y="1684800"/>
            <a:ext cx="6037490" cy="3193200"/>
          </a:xfrm>
        </p:spPr>
        <p:txBody>
          <a:bodyPr/>
          <a:lstStyle/>
          <a:p>
            <a:r>
              <a:rPr lang="en-US" altLang="zh-CN" b="1" dirty="0" err="1"/>
              <a:t>Svm</a:t>
            </a:r>
            <a:r>
              <a:rPr lang="zh-CN" altLang="en-US" b="1" dirty="0"/>
              <a:t>的决策分数分布图</a:t>
            </a:r>
            <a:endParaRPr lang="en-US" altLang="zh-CN" b="1" dirty="0"/>
          </a:p>
          <a:p>
            <a:r>
              <a:rPr lang="zh-CN" altLang="en-US" dirty="0"/>
              <a:t>红色的线是超平面</a:t>
            </a:r>
            <a:endParaRPr lang="en-US" altLang="zh-CN" dirty="0"/>
          </a:p>
          <a:p>
            <a:r>
              <a:rPr lang="zh-CN" altLang="en-US" dirty="0"/>
              <a:t>预测结果是 </a:t>
            </a:r>
            <a:r>
              <a:rPr lang="en-US" altLang="zh-CN" dirty="0"/>
              <a:t>80%</a:t>
            </a:r>
            <a:r>
              <a:rPr lang="zh-CN" altLang="en-US" dirty="0"/>
              <a:t>左右都是好信号。</a:t>
            </a:r>
            <a:endParaRPr lang="en-US" altLang="zh-CN" dirty="0"/>
          </a:p>
          <a:p>
            <a:r>
              <a:rPr lang="en-US" altLang="zh-CN" dirty="0" err="1"/>
              <a:t>Svm</a:t>
            </a:r>
            <a:r>
              <a:rPr lang="zh-CN" altLang="en-US" dirty="0"/>
              <a:t>把信号目标域样本几乎都预测为好信号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b="1" dirty="0"/>
              <a:t>CN0</a:t>
            </a:r>
            <a:r>
              <a:rPr lang="zh-CN" altLang="en-US" b="1" dirty="0"/>
              <a:t>物理信号强度分布图</a:t>
            </a:r>
            <a:endParaRPr lang="en-US" altLang="zh-CN" b="1" dirty="0"/>
          </a:p>
          <a:p>
            <a:r>
              <a:rPr lang="zh-CN" altLang="en-US" dirty="0"/>
              <a:t>图中的绿色曲线 </a:t>
            </a:r>
            <a:r>
              <a:rPr lang="en-US" altLang="zh-CN" dirty="0"/>
              <a:t>(</a:t>
            </a:r>
            <a:r>
              <a:rPr lang="zh-CN" altLang="en-US" dirty="0"/>
              <a:t>预测为好信号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  <a:p>
            <a:r>
              <a:rPr lang="zh-CN" altLang="en-US" dirty="0"/>
              <a:t>图中的红色曲线 </a:t>
            </a:r>
            <a:r>
              <a:rPr lang="en-US" altLang="zh-CN" dirty="0"/>
              <a:t>(</a:t>
            </a:r>
            <a:r>
              <a:rPr lang="zh-CN" altLang="en-US" dirty="0"/>
              <a:t>预测为坏信号</a:t>
            </a:r>
            <a:r>
              <a:rPr lang="en-US" altLang="zh-CN" dirty="0"/>
              <a:t>)</a:t>
            </a:r>
            <a:r>
              <a:rPr lang="zh-CN" altLang="en-US" dirty="0"/>
              <a:t>：</a:t>
            </a:r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42803B5B-A5D9-6422-2321-0C19072309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7F1E83D5-4E5F-8836-8159-3AB221CD070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 dirty="0"/>
          </a:p>
        </p:txBody>
      </p:sp>
      <p:pic>
        <p:nvPicPr>
          <p:cNvPr id="6" name="图片 5">
            <a:extLst>
              <a:ext uri="{FF2B5EF4-FFF2-40B4-BE49-F238E27FC236}">
                <a16:creationId xmlns:a16="http://schemas.microsoft.com/office/drawing/2014/main" id="{E8239BA6-2C49-A91A-56AF-585765D71B3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0178" y="78251"/>
            <a:ext cx="5159812" cy="2738476"/>
          </a:xfrm>
          <a:prstGeom prst="rect">
            <a:avLst/>
          </a:prstGeom>
        </p:spPr>
      </p:pic>
      <p:pic>
        <p:nvPicPr>
          <p:cNvPr id="8" name="图片 7">
            <a:extLst>
              <a:ext uri="{FF2B5EF4-FFF2-40B4-BE49-F238E27FC236}">
                <a16:creationId xmlns:a16="http://schemas.microsoft.com/office/drawing/2014/main" id="{D49DA157-70B4-3D8B-F40A-79D4BC4694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59272" y="2816727"/>
            <a:ext cx="4159690" cy="26514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4668369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2D8C76-D022-CB13-0E70-35D9ED4CF4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8202E7D6-8CF2-952D-491D-1106A2DC3620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348F2F72-7F67-3B31-DB3F-6B316BE676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6272586-3962-3039-0C57-9689D1CF2E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把</a:t>
            </a:r>
            <a:r>
              <a:rPr lang="en-US" altLang="zh-CN" dirty="0"/>
              <a:t>LSTM </a:t>
            </a:r>
            <a:r>
              <a:rPr lang="zh-CN" altLang="en-US" dirty="0"/>
              <a:t>的模型完成一下吧</a:t>
            </a:r>
            <a:endParaRPr lang="en-US" altLang="zh-CN" dirty="0"/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11</a:t>
            </a:r>
            <a:r>
              <a:rPr lang="zh-CN" altLang="en-US" dirty="0"/>
              <a:t>月 </a:t>
            </a:r>
            <a:r>
              <a:rPr lang="en-US" altLang="zh-CN" dirty="0"/>
              <a:t>3 </a:t>
            </a:r>
            <a:r>
              <a:rPr lang="zh-CN" altLang="en-US" dirty="0"/>
              <a:t>日的相关其他数据 也都加入进来。再测试？（影响应该不大吧）</a:t>
            </a:r>
          </a:p>
        </p:txBody>
      </p:sp>
    </p:spTree>
    <p:extLst>
      <p:ext uri="{BB962C8B-B14F-4D97-AF65-F5344CB8AC3E}">
        <p14:creationId xmlns:p14="http://schemas.microsoft.com/office/powerpoint/2010/main" val="4137049290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0405AD8-501D-6BA7-9396-0FCF4137E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D160DEF9-FC68-E00F-D364-5813F853246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en-US" altLang="zh-CN" dirty="0"/>
          </a:p>
          <a:p>
            <a:endParaRPr lang="en-US" altLang="zh-CN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2CD8BF73-834E-11A8-9B83-68448AD968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2.Progress Overview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935DF3B-DC46-E4D7-F197-544523AC8D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1</a:t>
            </a:r>
            <a:r>
              <a:rPr lang="zh-CN" altLang="en-US" dirty="0"/>
              <a:t> 目前 模型的结果预测感觉是指向了数据的质量 太好了 </a:t>
            </a:r>
          </a:p>
        </p:txBody>
      </p:sp>
    </p:spTree>
    <p:extLst>
      <p:ext uri="{BB962C8B-B14F-4D97-AF65-F5344CB8AC3E}">
        <p14:creationId xmlns:p14="http://schemas.microsoft.com/office/powerpoint/2010/main" val="213036491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占位符 1">
            <a:extLst>
              <a:ext uri="{FF2B5EF4-FFF2-40B4-BE49-F238E27FC236}">
                <a16:creationId xmlns:a16="http://schemas.microsoft.com/office/drawing/2014/main" id="{7E2AB971-AD86-413C-F120-B9511FB43C1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3" name="标题 2">
            <a:extLst>
              <a:ext uri="{FF2B5EF4-FFF2-40B4-BE49-F238E27FC236}">
                <a16:creationId xmlns:a16="http://schemas.microsoft.com/office/drawing/2014/main" id="{1A7E890C-2E17-3EFD-8B75-E0C9EC5A85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4.Next Week Goal</a:t>
            </a:r>
            <a:endParaRPr lang="zh-CN" altLang="en-US" dirty="0"/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A1CFFCC9-4B03-D9F1-FE38-6481C06875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48010495"/>
      </p:ext>
    </p:extLst>
  </p:cSld>
  <p:clrMapOvr>
    <a:masterClrMapping/>
  </p:clrMapOvr>
  <p:extLst>
    <p:ext uri="{6950BFC3-D8DA-4A85-94F7-54DA5524770B}">
      <p188:commentRel xmlns:p188="http://schemas.microsoft.com/office/powerpoint/2018/8/main" r:id="rId2"/>
    </p:ext>
  </p:extLst>
</p:sld>
</file>

<file path=ppt/theme/theme1.xml><?xml version="1.0" encoding="utf-8"?>
<a:theme xmlns:a="http://schemas.openxmlformats.org/drawingml/2006/main" name="Präsentation_Master_RWTH_Institute_16zu9">
  <a:themeElements>
    <a:clrScheme name="RWTH Farben">
      <a:dk1>
        <a:sysClr val="windowText" lastClr="000000"/>
      </a:dk1>
      <a:lt1>
        <a:sysClr val="window" lastClr="FFFFFF"/>
      </a:lt1>
      <a:dk2>
        <a:srgbClr val="00549F"/>
      </a:dk2>
      <a:lt2>
        <a:srgbClr val="8EBAE5"/>
      </a:lt2>
      <a:accent1>
        <a:srgbClr val="006165"/>
      </a:accent1>
      <a:accent2>
        <a:srgbClr val="0098A1"/>
      </a:accent2>
      <a:accent3>
        <a:srgbClr val="57AB27"/>
      </a:accent3>
      <a:accent4>
        <a:srgbClr val="BDCD00"/>
      </a:accent4>
      <a:accent5>
        <a:srgbClr val="F6A800"/>
      </a:accent5>
      <a:accent6>
        <a:srgbClr val="CC071E"/>
      </a:accent6>
      <a:hlink>
        <a:srgbClr val="612158"/>
      </a:hlink>
      <a:folHlink>
        <a:srgbClr val="7A6FAC"/>
      </a:folHlink>
    </a:clrScheme>
    <a:fontScheme name="Arial">
      <a:maj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äsentation_Master_RWTH_Verwaltung_ohne_addin_16zu9.pot [Kompatibilitätsmodus]" id="{12157BE7-C41B-4251-A630-7876F5189DEC}" vid="{D5CAF79C-9B5F-40C2-AC3C-45C714C4923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Präsentationsvorlage_IRT</Template>
  <TotalTime>1587</TotalTime>
  <Words>272</Words>
  <Application>Microsoft Office PowerPoint</Application>
  <PresentationFormat>宽屏</PresentationFormat>
  <Paragraphs>31</Paragraphs>
  <Slides>8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13" baseType="lpstr">
      <vt:lpstr>Arial</vt:lpstr>
      <vt:lpstr>Calibri</vt:lpstr>
      <vt:lpstr>Symbol</vt:lpstr>
      <vt:lpstr>Wingdings</vt:lpstr>
      <vt:lpstr>Präsentation_Master_RWTH_Institute_16zu9</vt:lpstr>
      <vt:lpstr>1.Last Week’s Tasks</vt:lpstr>
      <vt:lpstr>2.Progress Overview</vt:lpstr>
      <vt:lpstr>2.Progress Overview</vt:lpstr>
      <vt:lpstr>2.Progress Overview</vt:lpstr>
      <vt:lpstr>2.Progress Overview</vt:lpstr>
      <vt:lpstr>2.Progress Overview</vt:lpstr>
      <vt:lpstr>2.Progress Overview</vt:lpstr>
      <vt:lpstr>4.Next Week Goal</vt:lpstr>
    </vt:vector>
  </TitlesOfParts>
  <Company>Institut für Regelungstechnik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PowerPoint-Präsentation</dc:title>
  <dc:creator>Florian Baader</dc:creator>
  <cp:lastModifiedBy>jiayu yang</cp:lastModifiedBy>
  <cp:revision>1539</cp:revision>
  <cp:lastPrinted>2020-01-08T09:35:20Z</cp:lastPrinted>
  <dcterms:created xsi:type="dcterms:W3CDTF">2018-05-24T07:56:59Z</dcterms:created>
  <dcterms:modified xsi:type="dcterms:W3CDTF">2025-11-24T12:49:37Z</dcterms:modified>
</cp:coreProperties>
</file>